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6"/>
  </p:notesMasterIdLst>
  <p:sldIdLst>
    <p:sldId id="282" r:id="rId2"/>
    <p:sldId id="336" r:id="rId3"/>
    <p:sldId id="342" r:id="rId4"/>
    <p:sldId id="346" r:id="rId5"/>
    <p:sldId id="302" r:id="rId6"/>
    <p:sldId id="303" r:id="rId7"/>
    <p:sldId id="337" r:id="rId8"/>
    <p:sldId id="311" r:id="rId9"/>
    <p:sldId id="256" r:id="rId10"/>
    <p:sldId id="260" r:id="rId11"/>
    <p:sldId id="353" r:id="rId12"/>
    <p:sldId id="262" r:id="rId13"/>
    <p:sldId id="354" r:id="rId14"/>
    <p:sldId id="261" r:id="rId15"/>
    <p:sldId id="355" r:id="rId16"/>
    <p:sldId id="263" r:id="rId17"/>
    <p:sldId id="356" r:id="rId18"/>
    <p:sldId id="264" r:id="rId19"/>
    <p:sldId id="357" r:id="rId20"/>
    <p:sldId id="265" r:id="rId21"/>
    <p:sldId id="358" r:id="rId22"/>
    <p:sldId id="359" r:id="rId23"/>
    <p:sldId id="257" r:id="rId24"/>
    <p:sldId id="266" r:id="rId25"/>
    <p:sldId id="268" r:id="rId26"/>
    <p:sldId id="267" r:id="rId27"/>
    <p:sldId id="347" r:id="rId28"/>
    <p:sldId id="269" r:id="rId29"/>
    <p:sldId id="270" r:id="rId30"/>
    <p:sldId id="271" r:id="rId31"/>
    <p:sldId id="272" r:id="rId32"/>
    <p:sldId id="348" r:id="rId33"/>
    <p:sldId id="273" r:id="rId34"/>
    <p:sldId id="274" r:id="rId35"/>
    <p:sldId id="275" r:id="rId36"/>
    <p:sldId id="276" r:id="rId37"/>
    <p:sldId id="277" r:id="rId38"/>
    <p:sldId id="349" r:id="rId39"/>
    <p:sldId id="278" r:id="rId40"/>
    <p:sldId id="279" r:id="rId41"/>
    <p:sldId id="280" r:id="rId42"/>
    <p:sldId id="350" r:id="rId43"/>
    <p:sldId id="285" r:id="rId44"/>
    <p:sldId id="258" r:id="rId45"/>
    <p:sldId id="281" r:id="rId46"/>
    <p:sldId id="351" r:id="rId47"/>
    <p:sldId id="360" r:id="rId48"/>
    <p:sldId id="326" r:id="rId49"/>
    <p:sldId id="327" r:id="rId50"/>
    <p:sldId id="328" r:id="rId51"/>
    <p:sldId id="329" r:id="rId52"/>
    <p:sldId id="330" r:id="rId53"/>
    <p:sldId id="331" r:id="rId54"/>
    <p:sldId id="332" r:id="rId5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Oluseye Amusa" initials="OA" lastIdx="2" clrIdx="0">
    <p:extLst>
      <p:ext uri="{19B8F6BF-5375-455C-9EA6-DF929625EA0E}">
        <p15:presenceInfo xmlns:p15="http://schemas.microsoft.com/office/powerpoint/2012/main" userId="f26c202c1023ceba"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449" autoAdjust="0"/>
    <p:restoredTop sz="94660"/>
  </p:normalViewPr>
  <p:slideViewPr>
    <p:cSldViewPr snapToGrid="0">
      <p:cViewPr varScale="1">
        <p:scale>
          <a:sx n="71" d="100"/>
          <a:sy n="71" d="100"/>
        </p:scale>
        <p:origin x="88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commentAuthors" Target="commentAuthor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1-05-25T00:31:21.613" idx="2">
    <p:pos x="10" y="10"/>
    <p:text/>
    <p:extLst>
      <p:ext uri="{C676402C-5697-4E1C-873F-D02D1690AC5C}">
        <p15:threadingInfo xmlns:p15="http://schemas.microsoft.com/office/powerpoint/2012/main" timeZoneBias="30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ADF55D-D563-479B-BA8B-8CD1E9D1976E}" type="datetimeFigureOut">
              <a:rPr lang="en-US" smtClean="0"/>
              <a:t>5/4/2026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6391D8-2032-47E2-A78C-AD69534EC2EE}" type="slidenum">
              <a:rPr lang="en-US" smtClean="0"/>
              <a:t>‹#›</a:t>
            </a:fld>
            <a:endParaRPr lang="en-US"/>
          </a:p>
        </p:txBody>
      </p:sp>
    </p:spTree>
    <p:extLst>
      <p:ext uri="{BB962C8B-B14F-4D97-AF65-F5344CB8AC3E}">
        <p14:creationId xmlns:p14="http://schemas.microsoft.com/office/powerpoint/2010/main" val="26021572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86391D8-2032-47E2-A78C-AD69534EC2EE}" type="slidenum">
              <a:rPr lang="en-US" smtClean="0"/>
              <a:t>26</a:t>
            </a:fld>
            <a:endParaRPr lang="en-US"/>
          </a:p>
        </p:txBody>
      </p:sp>
    </p:spTree>
    <p:extLst>
      <p:ext uri="{BB962C8B-B14F-4D97-AF65-F5344CB8AC3E}">
        <p14:creationId xmlns:p14="http://schemas.microsoft.com/office/powerpoint/2010/main" val="37909823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72C394-D260-44C9-9AB0-B47058A8408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D369103-5120-4E67-A7A5-1046C2605D5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5662E34-83F7-40E9-B400-60F2A5324CC0}"/>
              </a:ext>
            </a:extLst>
          </p:cNvPr>
          <p:cNvSpPr>
            <a:spLocks noGrp="1"/>
          </p:cNvSpPr>
          <p:nvPr>
            <p:ph type="dt" sz="half" idx="10"/>
          </p:nvPr>
        </p:nvSpPr>
        <p:spPr/>
        <p:txBody>
          <a:bodyPr/>
          <a:lstStyle/>
          <a:p>
            <a:fld id="{C6423BF5-C489-409C-8C04-67CBD9F05F67}" type="datetimeFigureOut">
              <a:rPr lang="en-US" smtClean="0"/>
              <a:t>5/4/2026</a:t>
            </a:fld>
            <a:endParaRPr lang="en-US"/>
          </a:p>
        </p:txBody>
      </p:sp>
      <p:sp>
        <p:nvSpPr>
          <p:cNvPr id="5" name="Footer Placeholder 4">
            <a:extLst>
              <a:ext uri="{FF2B5EF4-FFF2-40B4-BE49-F238E27FC236}">
                <a16:creationId xmlns:a16="http://schemas.microsoft.com/office/drawing/2014/main" id="{0B9FF008-4ABF-41CA-A37E-57427C236E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B1347E-C890-4946-BB64-ADE4D8D2D28B}"/>
              </a:ext>
            </a:extLst>
          </p:cNvPr>
          <p:cNvSpPr>
            <a:spLocks noGrp="1"/>
          </p:cNvSpPr>
          <p:nvPr>
            <p:ph type="sldNum" sz="quarter" idx="12"/>
          </p:nvPr>
        </p:nvSpPr>
        <p:spPr/>
        <p:txBody>
          <a:bodyPr/>
          <a:lstStyle/>
          <a:p>
            <a:fld id="{62743050-701D-46D0-ABBD-9FF4C5F3F2D2}" type="slidenum">
              <a:rPr lang="en-US" smtClean="0"/>
              <a:t>‹#›</a:t>
            </a:fld>
            <a:endParaRPr lang="en-US"/>
          </a:p>
        </p:txBody>
      </p:sp>
    </p:spTree>
    <p:extLst>
      <p:ext uri="{BB962C8B-B14F-4D97-AF65-F5344CB8AC3E}">
        <p14:creationId xmlns:p14="http://schemas.microsoft.com/office/powerpoint/2010/main" val="35190920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654C8-D7EB-4663-9839-27516D538EA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98783C1-418A-42C5-BC79-DAA337CB8FC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92F213-5D03-46F7-B9A6-755DFCD39724}"/>
              </a:ext>
            </a:extLst>
          </p:cNvPr>
          <p:cNvSpPr>
            <a:spLocks noGrp="1"/>
          </p:cNvSpPr>
          <p:nvPr>
            <p:ph type="dt" sz="half" idx="10"/>
          </p:nvPr>
        </p:nvSpPr>
        <p:spPr/>
        <p:txBody>
          <a:bodyPr/>
          <a:lstStyle/>
          <a:p>
            <a:fld id="{C6423BF5-C489-409C-8C04-67CBD9F05F67}" type="datetimeFigureOut">
              <a:rPr lang="en-US" smtClean="0"/>
              <a:t>5/4/2026</a:t>
            </a:fld>
            <a:endParaRPr lang="en-US"/>
          </a:p>
        </p:txBody>
      </p:sp>
      <p:sp>
        <p:nvSpPr>
          <p:cNvPr id="5" name="Footer Placeholder 4">
            <a:extLst>
              <a:ext uri="{FF2B5EF4-FFF2-40B4-BE49-F238E27FC236}">
                <a16:creationId xmlns:a16="http://schemas.microsoft.com/office/drawing/2014/main" id="{1DFE3B50-495C-4DBA-9038-E7633590C8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0D4E80-B7BE-4B19-AFD4-106B5BDCDCB9}"/>
              </a:ext>
            </a:extLst>
          </p:cNvPr>
          <p:cNvSpPr>
            <a:spLocks noGrp="1"/>
          </p:cNvSpPr>
          <p:nvPr>
            <p:ph type="sldNum" sz="quarter" idx="12"/>
          </p:nvPr>
        </p:nvSpPr>
        <p:spPr/>
        <p:txBody>
          <a:bodyPr/>
          <a:lstStyle/>
          <a:p>
            <a:fld id="{62743050-701D-46D0-ABBD-9FF4C5F3F2D2}" type="slidenum">
              <a:rPr lang="en-US" smtClean="0"/>
              <a:t>‹#›</a:t>
            </a:fld>
            <a:endParaRPr lang="en-US"/>
          </a:p>
        </p:txBody>
      </p:sp>
    </p:spTree>
    <p:extLst>
      <p:ext uri="{BB962C8B-B14F-4D97-AF65-F5344CB8AC3E}">
        <p14:creationId xmlns:p14="http://schemas.microsoft.com/office/powerpoint/2010/main" val="2489045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77C92-8435-4980-9364-C091918B221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10A5D26-819A-4C48-B280-DDD5553C07B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FB4E8CF-50E2-437C-81DC-3AB2E7AFCECF}"/>
              </a:ext>
            </a:extLst>
          </p:cNvPr>
          <p:cNvSpPr>
            <a:spLocks noGrp="1"/>
          </p:cNvSpPr>
          <p:nvPr>
            <p:ph type="dt" sz="half" idx="10"/>
          </p:nvPr>
        </p:nvSpPr>
        <p:spPr/>
        <p:txBody>
          <a:bodyPr/>
          <a:lstStyle/>
          <a:p>
            <a:fld id="{C6423BF5-C489-409C-8C04-67CBD9F05F67}" type="datetimeFigureOut">
              <a:rPr lang="en-US" smtClean="0"/>
              <a:t>5/4/2026</a:t>
            </a:fld>
            <a:endParaRPr lang="en-US"/>
          </a:p>
        </p:txBody>
      </p:sp>
      <p:sp>
        <p:nvSpPr>
          <p:cNvPr id="5" name="Footer Placeholder 4">
            <a:extLst>
              <a:ext uri="{FF2B5EF4-FFF2-40B4-BE49-F238E27FC236}">
                <a16:creationId xmlns:a16="http://schemas.microsoft.com/office/drawing/2014/main" id="{1DBAC4B7-1186-4F6B-A470-453BA4BEA8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4739D6-FD4B-4551-AE98-13D79DCBC7D2}"/>
              </a:ext>
            </a:extLst>
          </p:cNvPr>
          <p:cNvSpPr>
            <a:spLocks noGrp="1"/>
          </p:cNvSpPr>
          <p:nvPr>
            <p:ph type="sldNum" sz="quarter" idx="12"/>
          </p:nvPr>
        </p:nvSpPr>
        <p:spPr/>
        <p:txBody>
          <a:bodyPr/>
          <a:lstStyle/>
          <a:p>
            <a:fld id="{62743050-701D-46D0-ABBD-9FF4C5F3F2D2}" type="slidenum">
              <a:rPr lang="en-US" smtClean="0"/>
              <a:t>‹#›</a:t>
            </a:fld>
            <a:endParaRPr lang="en-US"/>
          </a:p>
        </p:txBody>
      </p:sp>
    </p:spTree>
    <p:extLst>
      <p:ext uri="{BB962C8B-B14F-4D97-AF65-F5344CB8AC3E}">
        <p14:creationId xmlns:p14="http://schemas.microsoft.com/office/powerpoint/2010/main" val="23218446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5FB49-3C9C-46BA-BE5B-CC6426788BE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6BEF1DD-C21A-430E-ACFF-AD6BC07B8B4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111C350-B337-44CA-93F9-C8C726FE35D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4BEA48E-7B39-4C19-B0A2-C83DE3AB0477}"/>
              </a:ext>
            </a:extLst>
          </p:cNvPr>
          <p:cNvSpPr>
            <a:spLocks noGrp="1"/>
          </p:cNvSpPr>
          <p:nvPr>
            <p:ph type="dt" sz="half" idx="10"/>
          </p:nvPr>
        </p:nvSpPr>
        <p:spPr/>
        <p:txBody>
          <a:bodyPr/>
          <a:lstStyle/>
          <a:p>
            <a:fld id="{C6423BF5-C489-409C-8C04-67CBD9F05F67}" type="datetimeFigureOut">
              <a:rPr lang="en-US" smtClean="0"/>
              <a:t>5/4/2026</a:t>
            </a:fld>
            <a:endParaRPr lang="en-US"/>
          </a:p>
        </p:txBody>
      </p:sp>
      <p:sp>
        <p:nvSpPr>
          <p:cNvPr id="6" name="Footer Placeholder 5">
            <a:extLst>
              <a:ext uri="{FF2B5EF4-FFF2-40B4-BE49-F238E27FC236}">
                <a16:creationId xmlns:a16="http://schemas.microsoft.com/office/drawing/2014/main" id="{FA6FA2C8-D92A-4CE7-AA9F-9E5F4FC4FF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64C0EB5-1347-41A8-856A-3B64C8EB57F5}"/>
              </a:ext>
            </a:extLst>
          </p:cNvPr>
          <p:cNvSpPr>
            <a:spLocks noGrp="1"/>
          </p:cNvSpPr>
          <p:nvPr>
            <p:ph type="sldNum" sz="quarter" idx="12"/>
          </p:nvPr>
        </p:nvSpPr>
        <p:spPr/>
        <p:txBody>
          <a:bodyPr/>
          <a:lstStyle/>
          <a:p>
            <a:fld id="{62743050-701D-46D0-ABBD-9FF4C5F3F2D2}" type="slidenum">
              <a:rPr lang="en-US" smtClean="0"/>
              <a:t>‹#›</a:t>
            </a:fld>
            <a:endParaRPr lang="en-US"/>
          </a:p>
        </p:txBody>
      </p:sp>
    </p:spTree>
    <p:extLst>
      <p:ext uri="{BB962C8B-B14F-4D97-AF65-F5344CB8AC3E}">
        <p14:creationId xmlns:p14="http://schemas.microsoft.com/office/powerpoint/2010/main" val="26938633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E81DE2-E272-4B60-81BD-057F233000A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CF9FBFB-3CCA-4C56-83C4-DA7F916BC13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A37856-6424-4A15-B294-FC64BB87F58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1D6B3FB-06D0-47DB-BF58-3E266652064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9937C35-442D-4FD9-B776-0498AD29D16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1A6136-E056-4BD6-B6F4-9638F821931C}"/>
              </a:ext>
            </a:extLst>
          </p:cNvPr>
          <p:cNvSpPr>
            <a:spLocks noGrp="1"/>
          </p:cNvSpPr>
          <p:nvPr>
            <p:ph type="dt" sz="half" idx="10"/>
          </p:nvPr>
        </p:nvSpPr>
        <p:spPr/>
        <p:txBody>
          <a:bodyPr/>
          <a:lstStyle/>
          <a:p>
            <a:fld id="{C6423BF5-C489-409C-8C04-67CBD9F05F67}" type="datetimeFigureOut">
              <a:rPr lang="en-US" smtClean="0"/>
              <a:t>5/4/2026</a:t>
            </a:fld>
            <a:endParaRPr lang="en-US"/>
          </a:p>
        </p:txBody>
      </p:sp>
      <p:sp>
        <p:nvSpPr>
          <p:cNvPr id="8" name="Footer Placeholder 7">
            <a:extLst>
              <a:ext uri="{FF2B5EF4-FFF2-40B4-BE49-F238E27FC236}">
                <a16:creationId xmlns:a16="http://schemas.microsoft.com/office/drawing/2014/main" id="{4C1B166A-2621-4011-B814-7BEF5874C5A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EA2DAB0-76F1-42D2-9637-67DF4DFB6788}"/>
              </a:ext>
            </a:extLst>
          </p:cNvPr>
          <p:cNvSpPr>
            <a:spLocks noGrp="1"/>
          </p:cNvSpPr>
          <p:nvPr>
            <p:ph type="sldNum" sz="quarter" idx="12"/>
          </p:nvPr>
        </p:nvSpPr>
        <p:spPr/>
        <p:txBody>
          <a:bodyPr/>
          <a:lstStyle/>
          <a:p>
            <a:fld id="{62743050-701D-46D0-ABBD-9FF4C5F3F2D2}" type="slidenum">
              <a:rPr lang="en-US" smtClean="0"/>
              <a:t>‹#›</a:t>
            </a:fld>
            <a:endParaRPr lang="en-US"/>
          </a:p>
        </p:txBody>
      </p:sp>
    </p:spTree>
    <p:extLst>
      <p:ext uri="{BB962C8B-B14F-4D97-AF65-F5344CB8AC3E}">
        <p14:creationId xmlns:p14="http://schemas.microsoft.com/office/powerpoint/2010/main" val="29987433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23BCA-8068-49EB-96AE-A040042029E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C9C2465-BB60-447F-954C-9D2C2F476F93}"/>
              </a:ext>
            </a:extLst>
          </p:cNvPr>
          <p:cNvSpPr>
            <a:spLocks noGrp="1"/>
          </p:cNvSpPr>
          <p:nvPr>
            <p:ph type="dt" sz="half" idx="10"/>
          </p:nvPr>
        </p:nvSpPr>
        <p:spPr/>
        <p:txBody>
          <a:bodyPr/>
          <a:lstStyle/>
          <a:p>
            <a:fld id="{C6423BF5-C489-409C-8C04-67CBD9F05F67}" type="datetimeFigureOut">
              <a:rPr lang="en-US" smtClean="0"/>
              <a:t>5/4/2026</a:t>
            </a:fld>
            <a:endParaRPr lang="en-US"/>
          </a:p>
        </p:txBody>
      </p:sp>
      <p:sp>
        <p:nvSpPr>
          <p:cNvPr id="4" name="Footer Placeholder 3">
            <a:extLst>
              <a:ext uri="{FF2B5EF4-FFF2-40B4-BE49-F238E27FC236}">
                <a16:creationId xmlns:a16="http://schemas.microsoft.com/office/drawing/2014/main" id="{8B9DDB3E-2DA0-4B82-9E0C-BAF66541FDC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8017A63-54BC-4B5B-BF5E-9D0200A532C4}"/>
              </a:ext>
            </a:extLst>
          </p:cNvPr>
          <p:cNvSpPr>
            <a:spLocks noGrp="1"/>
          </p:cNvSpPr>
          <p:nvPr>
            <p:ph type="sldNum" sz="quarter" idx="12"/>
          </p:nvPr>
        </p:nvSpPr>
        <p:spPr/>
        <p:txBody>
          <a:bodyPr/>
          <a:lstStyle/>
          <a:p>
            <a:fld id="{62743050-701D-46D0-ABBD-9FF4C5F3F2D2}" type="slidenum">
              <a:rPr lang="en-US" smtClean="0"/>
              <a:t>‹#›</a:t>
            </a:fld>
            <a:endParaRPr lang="en-US"/>
          </a:p>
        </p:txBody>
      </p:sp>
    </p:spTree>
    <p:extLst>
      <p:ext uri="{BB962C8B-B14F-4D97-AF65-F5344CB8AC3E}">
        <p14:creationId xmlns:p14="http://schemas.microsoft.com/office/powerpoint/2010/main" val="27250704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011FF3-8A6B-4140-BB4F-39D4D387C336}"/>
              </a:ext>
            </a:extLst>
          </p:cNvPr>
          <p:cNvSpPr>
            <a:spLocks noGrp="1"/>
          </p:cNvSpPr>
          <p:nvPr>
            <p:ph type="dt" sz="half" idx="10"/>
          </p:nvPr>
        </p:nvSpPr>
        <p:spPr/>
        <p:txBody>
          <a:bodyPr/>
          <a:lstStyle/>
          <a:p>
            <a:fld id="{C6423BF5-C489-409C-8C04-67CBD9F05F67}" type="datetimeFigureOut">
              <a:rPr lang="en-US" smtClean="0"/>
              <a:t>5/4/2026</a:t>
            </a:fld>
            <a:endParaRPr lang="en-US"/>
          </a:p>
        </p:txBody>
      </p:sp>
      <p:sp>
        <p:nvSpPr>
          <p:cNvPr id="3" name="Footer Placeholder 2">
            <a:extLst>
              <a:ext uri="{FF2B5EF4-FFF2-40B4-BE49-F238E27FC236}">
                <a16:creationId xmlns:a16="http://schemas.microsoft.com/office/drawing/2014/main" id="{F22AD7DB-8F85-476E-BB8E-4E4B275D33E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F91175B-E877-47DE-8EEC-C0CE7B9EDAC9}"/>
              </a:ext>
            </a:extLst>
          </p:cNvPr>
          <p:cNvSpPr>
            <a:spLocks noGrp="1"/>
          </p:cNvSpPr>
          <p:nvPr>
            <p:ph type="sldNum" sz="quarter" idx="12"/>
          </p:nvPr>
        </p:nvSpPr>
        <p:spPr/>
        <p:txBody>
          <a:bodyPr/>
          <a:lstStyle/>
          <a:p>
            <a:fld id="{62743050-701D-46D0-ABBD-9FF4C5F3F2D2}" type="slidenum">
              <a:rPr lang="en-US" smtClean="0"/>
              <a:t>‹#›</a:t>
            </a:fld>
            <a:endParaRPr lang="en-US"/>
          </a:p>
        </p:txBody>
      </p:sp>
    </p:spTree>
    <p:extLst>
      <p:ext uri="{BB962C8B-B14F-4D97-AF65-F5344CB8AC3E}">
        <p14:creationId xmlns:p14="http://schemas.microsoft.com/office/powerpoint/2010/main" val="37188469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FD7DC-AB32-453B-9852-7889C9CEB6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C1DECE6-0F38-437A-9DF4-A3E6BC8FD14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9D1B470-CFBE-4B69-A629-170425AFF3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564BCFD-97D7-411F-ADB2-F5CB908EEBA2}"/>
              </a:ext>
            </a:extLst>
          </p:cNvPr>
          <p:cNvSpPr>
            <a:spLocks noGrp="1"/>
          </p:cNvSpPr>
          <p:nvPr>
            <p:ph type="dt" sz="half" idx="10"/>
          </p:nvPr>
        </p:nvSpPr>
        <p:spPr/>
        <p:txBody>
          <a:bodyPr/>
          <a:lstStyle/>
          <a:p>
            <a:fld id="{C6423BF5-C489-409C-8C04-67CBD9F05F67}" type="datetimeFigureOut">
              <a:rPr lang="en-US" smtClean="0"/>
              <a:t>5/4/2026</a:t>
            </a:fld>
            <a:endParaRPr lang="en-US"/>
          </a:p>
        </p:txBody>
      </p:sp>
      <p:sp>
        <p:nvSpPr>
          <p:cNvPr id="6" name="Footer Placeholder 5">
            <a:extLst>
              <a:ext uri="{FF2B5EF4-FFF2-40B4-BE49-F238E27FC236}">
                <a16:creationId xmlns:a16="http://schemas.microsoft.com/office/drawing/2014/main" id="{4C85A399-E61A-4857-8736-C1EE58A9C81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1AD4A39-B8AE-4EEA-BE45-4855FC418466}"/>
              </a:ext>
            </a:extLst>
          </p:cNvPr>
          <p:cNvSpPr>
            <a:spLocks noGrp="1"/>
          </p:cNvSpPr>
          <p:nvPr>
            <p:ph type="sldNum" sz="quarter" idx="12"/>
          </p:nvPr>
        </p:nvSpPr>
        <p:spPr/>
        <p:txBody>
          <a:bodyPr/>
          <a:lstStyle/>
          <a:p>
            <a:fld id="{62743050-701D-46D0-ABBD-9FF4C5F3F2D2}" type="slidenum">
              <a:rPr lang="en-US" smtClean="0"/>
              <a:t>‹#›</a:t>
            </a:fld>
            <a:endParaRPr lang="en-US"/>
          </a:p>
        </p:txBody>
      </p:sp>
    </p:spTree>
    <p:extLst>
      <p:ext uri="{BB962C8B-B14F-4D97-AF65-F5344CB8AC3E}">
        <p14:creationId xmlns:p14="http://schemas.microsoft.com/office/powerpoint/2010/main" val="10003843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125A-7604-4703-A343-1E1BA1AE12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18CBE69-3A54-45B0-8C48-F18B365E74A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C093571-E1CB-46AE-88F3-C8C10DCA72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1161920-1A85-486A-99DF-551FEB16C0D7}"/>
              </a:ext>
            </a:extLst>
          </p:cNvPr>
          <p:cNvSpPr>
            <a:spLocks noGrp="1"/>
          </p:cNvSpPr>
          <p:nvPr>
            <p:ph type="dt" sz="half" idx="10"/>
          </p:nvPr>
        </p:nvSpPr>
        <p:spPr/>
        <p:txBody>
          <a:bodyPr/>
          <a:lstStyle/>
          <a:p>
            <a:fld id="{C6423BF5-C489-409C-8C04-67CBD9F05F67}" type="datetimeFigureOut">
              <a:rPr lang="en-US" smtClean="0"/>
              <a:t>5/4/2026</a:t>
            </a:fld>
            <a:endParaRPr lang="en-US"/>
          </a:p>
        </p:txBody>
      </p:sp>
      <p:sp>
        <p:nvSpPr>
          <p:cNvPr id="6" name="Footer Placeholder 5">
            <a:extLst>
              <a:ext uri="{FF2B5EF4-FFF2-40B4-BE49-F238E27FC236}">
                <a16:creationId xmlns:a16="http://schemas.microsoft.com/office/drawing/2014/main" id="{A96E6736-7A8D-40AA-B02B-F523AC4163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4F05177-B011-4E42-9EE7-947C635B43EC}"/>
              </a:ext>
            </a:extLst>
          </p:cNvPr>
          <p:cNvSpPr>
            <a:spLocks noGrp="1"/>
          </p:cNvSpPr>
          <p:nvPr>
            <p:ph type="sldNum" sz="quarter" idx="12"/>
          </p:nvPr>
        </p:nvSpPr>
        <p:spPr/>
        <p:txBody>
          <a:bodyPr/>
          <a:lstStyle/>
          <a:p>
            <a:fld id="{62743050-701D-46D0-ABBD-9FF4C5F3F2D2}" type="slidenum">
              <a:rPr lang="en-US" smtClean="0"/>
              <a:t>‹#›</a:t>
            </a:fld>
            <a:endParaRPr lang="en-US"/>
          </a:p>
        </p:txBody>
      </p:sp>
    </p:spTree>
    <p:extLst>
      <p:ext uri="{BB962C8B-B14F-4D97-AF65-F5344CB8AC3E}">
        <p14:creationId xmlns:p14="http://schemas.microsoft.com/office/powerpoint/2010/main" val="38556291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66413-392B-4B09-86DD-260B58113AF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C1162ED-4D44-41DC-A325-C47AA3F94E3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1C2DA7-9FEC-498D-88FD-F6CA7D6BFA94}"/>
              </a:ext>
            </a:extLst>
          </p:cNvPr>
          <p:cNvSpPr>
            <a:spLocks noGrp="1"/>
          </p:cNvSpPr>
          <p:nvPr>
            <p:ph type="dt" sz="half" idx="10"/>
          </p:nvPr>
        </p:nvSpPr>
        <p:spPr/>
        <p:txBody>
          <a:bodyPr/>
          <a:lstStyle/>
          <a:p>
            <a:fld id="{C6423BF5-C489-409C-8C04-67CBD9F05F67}" type="datetimeFigureOut">
              <a:rPr lang="en-US" smtClean="0"/>
              <a:t>5/4/2026</a:t>
            </a:fld>
            <a:endParaRPr lang="en-US"/>
          </a:p>
        </p:txBody>
      </p:sp>
      <p:sp>
        <p:nvSpPr>
          <p:cNvPr id="5" name="Footer Placeholder 4">
            <a:extLst>
              <a:ext uri="{FF2B5EF4-FFF2-40B4-BE49-F238E27FC236}">
                <a16:creationId xmlns:a16="http://schemas.microsoft.com/office/drawing/2014/main" id="{D45A4656-F63D-459C-8F89-A3D7E4B4DB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0EE9F2-D735-443A-AE0C-22D6272614B8}"/>
              </a:ext>
            </a:extLst>
          </p:cNvPr>
          <p:cNvSpPr>
            <a:spLocks noGrp="1"/>
          </p:cNvSpPr>
          <p:nvPr>
            <p:ph type="sldNum" sz="quarter" idx="12"/>
          </p:nvPr>
        </p:nvSpPr>
        <p:spPr/>
        <p:txBody>
          <a:bodyPr/>
          <a:lstStyle/>
          <a:p>
            <a:fld id="{62743050-701D-46D0-ABBD-9FF4C5F3F2D2}" type="slidenum">
              <a:rPr lang="en-US" smtClean="0"/>
              <a:t>‹#›</a:t>
            </a:fld>
            <a:endParaRPr lang="en-US"/>
          </a:p>
        </p:txBody>
      </p:sp>
    </p:spTree>
    <p:extLst>
      <p:ext uri="{BB962C8B-B14F-4D97-AF65-F5344CB8AC3E}">
        <p14:creationId xmlns:p14="http://schemas.microsoft.com/office/powerpoint/2010/main" val="35804462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474D626-B976-49D2-83D6-5DE49F2DCC2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634567B-83F5-4EBD-AED7-BAF4D58E140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D9F12A-D7F8-434E-B8B5-66D2CD3B2692}"/>
              </a:ext>
            </a:extLst>
          </p:cNvPr>
          <p:cNvSpPr>
            <a:spLocks noGrp="1"/>
          </p:cNvSpPr>
          <p:nvPr>
            <p:ph type="dt" sz="half" idx="10"/>
          </p:nvPr>
        </p:nvSpPr>
        <p:spPr/>
        <p:txBody>
          <a:bodyPr/>
          <a:lstStyle/>
          <a:p>
            <a:fld id="{C6423BF5-C489-409C-8C04-67CBD9F05F67}" type="datetimeFigureOut">
              <a:rPr lang="en-US" smtClean="0"/>
              <a:t>5/4/2026</a:t>
            </a:fld>
            <a:endParaRPr lang="en-US"/>
          </a:p>
        </p:txBody>
      </p:sp>
      <p:sp>
        <p:nvSpPr>
          <p:cNvPr id="5" name="Footer Placeholder 4">
            <a:extLst>
              <a:ext uri="{FF2B5EF4-FFF2-40B4-BE49-F238E27FC236}">
                <a16:creationId xmlns:a16="http://schemas.microsoft.com/office/drawing/2014/main" id="{00B2C1E1-9A4E-4E9A-8CA6-D0C0AB2903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24BF37-4DDB-4F20-9007-799BBB3437E4}"/>
              </a:ext>
            </a:extLst>
          </p:cNvPr>
          <p:cNvSpPr>
            <a:spLocks noGrp="1"/>
          </p:cNvSpPr>
          <p:nvPr>
            <p:ph type="sldNum" sz="quarter" idx="12"/>
          </p:nvPr>
        </p:nvSpPr>
        <p:spPr/>
        <p:txBody>
          <a:bodyPr/>
          <a:lstStyle/>
          <a:p>
            <a:fld id="{62743050-701D-46D0-ABBD-9FF4C5F3F2D2}" type="slidenum">
              <a:rPr lang="en-US" smtClean="0"/>
              <a:t>‹#›</a:t>
            </a:fld>
            <a:endParaRPr lang="en-US"/>
          </a:p>
        </p:txBody>
      </p:sp>
    </p:spTree>
    <p:extLst>
      <p:ext uri="{BB962C8B-B14F-4D97-AF65-F5344CB8AC3E}">
        <p14:creationId xmlns:p14="http://schemas.microsoft.com/office/powerpoint/2010/main" val="34620634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96A3B6-D69C-4BB5-A966-9723185BE8D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2380CFB-074D-434A-BD46-F5091EE4668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CCE2D7-70F5-4B47-80AC-87B2DC395C9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423BF5-C489-409C-8C04-67CBD9F05F67}" type="datetimeFigureOut">
              <a:rPr lang="en-US" smtClean="0"/>
              <a:t>5/4/2026</a:t>
            </a:fld>
            <a:endParaRPr lang="en-US"/>
          </a:p>
        </p:txBody>
      </p:sp>
      <p:sp>
        <p:nvSpPr>
          <p:cNvPr id="5" name="Footer Placeholder 4">
            <a:extLst>
              <a:ext uri="{FF2B5EF4-FFF2-40B4-BE49-F238E27FC236}">
                <a16:creationId xmlns:a16="http://schemas.microsoft.com/office/drawing/2014/main" id="{E48E4976-66F2-45D3-96BA-115FA9CAA80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24BAF2F-DC2E-4251-8619-E5970D0CB29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743050-701D-46D0-ABBD-9FF4C5F3F2D2}" type="slidenum">
              <a:rPr lang="en-US" smtClean="0"/>
              <a:t>‹#›</a:t>
            </a:fld>
            <a:endParaRPr lang="en-US"/>
          </a:p>
        </p:txBody>
      </p:sp>
      <p:pic>
        <p:nvPicPr>
          <p:cNvPr id="7" name="Picture 2">
            <a:extLst>
              <a:ext uri="{FF2B5EF4-FFF2-40B4-BE49-F238E27FC236}">
                <a16:creationId xmlns:a16="http://schemas.microsoft.com/office/drawing/2014/main" id="{3AF754F6-147D-4382-9F67-E00CF99B12F0}"/>
              </a:ext>
            </a:extLst>
          </p:cNvPr>
          <p:cNvPicPr>
            <a:picLocks noChangeAspect="1" noChangeArrowheads="1"/>
          </p:cNvPicPr>
          <p:nvPr userDrawn="1"/>
        </p:nvPicPr>
        <p:blipFill>
          <a:blip r:embed="rId13" cstate="print"/>
          <a:srcRect/>
          <a:stretch>
            <a:fillRect/>
          </a:stretch>
        </p:blipFill>
        <p:spPr bwMode="auto">
          <a:xfrm>
            <a:off x="10999748" y="8309"/>
            <a:ext cx="1188261" cy="3392486"/>
          </a:xfrm>
          <a:prstGeom prst="rect">
            <a:avLst/>
          </a:prstGeom>
          <a:noFill/>
          <a:ln w="9525">
            <a:noFill/>
            <a:miter lim="800000"/>
            <a:headEnd/>
            <a:tailEnd/>
          </a:ln>
        </p:spPr>
      </p:pic>
      <p:sp>
        <p:nvSpPr>
          <p:cNvPr id="8" name="Rectangle 7">
            <a:extLst>
              <a:ext uri="{FF2B5EF4-FFF2-40B4-BE49-F238E27FC236}">
                <a16:creationId xmlns:a16="http://schemas.microsoft.com/office/drawing/2014/main" id="{390BEF39-1F52-4D64-84FE-9CA9D747DC23}"/>
              </a:ext>
            </a:extLst>
          </p:cNvPr>
          <p:cNvSpPr/>
          <p:nvPr userDrawn="1"/>
        </p:nvSpPr>
        <p:spPr>
          <a:xfrm>
            <a:off x="12028516" y="3258589"/>
            <a:ext cx="159493" cy="3588924"/>
          </a:xfrm>
          <a:prstGeom prst="rect">
            <a:avLst/>
          </a:prstGeom>
          <a:solidFill>
            <a:srgbClr val="F6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266513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image" Target="../media/image6.png"/><Relationship Id="rId21" Type="http://schemas.openxmlformats.org/officeDocument/2006/relationships/image" Target="../media/image24.png"/><Relationship Id="rId7" Type="http://schemas.openxmlformats.org/officeDocument/2006/relationships/image" Target="../media/image10.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image" Target="../media/image5.png"/><Relationship Id="rId16" Type="http://schemas.openxmlformats.org/officeDocument/2006/relationships/image" Target="../media/image19.png"/><Relationship Id="rId20" Type="http://schemas.openxmlformats.org/officeDocument/2006/relationships/image" Target="../media/image23.png"/><Relationship Id="rId1" Type="http://schemas.openxmlformats.org/officeDocument/2006/relationships/slideLayout" Target="../slideLayouts/slideLayout4.xml"/><Relationship Id="rId6" Type="http://schemas.openxmlformats.org/officeDocument/2006/relationships/image" Target="../media/image9.png"/><Relationship Id="rId11" Type="http://schemas.openxmlformats.org/officeDocument/2006/relationships/image" Target="../media/image14.png"/><Relationship Id="rId24" Type="http://schemas.openxmlformats.org/officeDocument/2006/relationships/image" Target="../media/image27.png"/><Relationship Id="rId5" Type="http://schemas.openxmlformats.org/officeDocument/2006/relationships/image" Target="../media/image8.png"/><Relationship Id="rId15" Type="http://schemas.openxmlformats.org/officeDocument/2006/relationships/image" Target="../media/image18.png"/><Relationship Id="rId23" Type="http://schemas.openxmlformats.org/officeDocument/2006/relationships/image" Target="../media/image26.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image" Target="../media/image7.png"/><Relationship Id="rId9" Type="http://schemas.openxmlformats.org/officeDocument/2006/relationships/image" Target="../media/image12.png"/><Relationship Id="rId14" Type="http://schemas.openxmlformats.org/officeDocument/2006/relationships/image" Target="../media/image17.png"/><Relationship Id="rId22" Type="http://schemas.openxmlformats.org/officeDocument/2006/relationships/image" Target="../media/image2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8" Type="http://schemas.openxmlformats.org/officeDocument/2006/relationships/image" Target="../media/image34.png"/><Relationship Id="rId13" Type="http://schemas.openxmlformats.org/officeDocument/2006/relationships/image" Target="../media/image39.png"/><Relationship Id="rId18" Type="http://schemas.openxmlformats.org/officeDocument/2006/relationships/image" Target="../media/image44.png"/><Relationship Id="rId3" Type="http://schemas.openxmlformats.org/officeDocument/2006/relationships/image" Target="../media/image29.png"/><Relationship Id="rId7" Type="http://schemas.openxmlformats.org/officeDocument/2006/relationships/image" Target="../media/image33.png"/><Relationship Id="rId12" Type="http://schemas.openxmlformats.org/officeDocument/2006/relationships/image" Target="../media/image38.png"/><Relationship Id="rId17" Type="http://schemas.openxmlformats.org/officeDocument/2006/relationships/image" Target="../media/image43.png"/><Relationship Id="rId2" Type="http://schemas.openxmlformats.org/officeDocument/2006/relationships/image" Target="../media/image28.png"/><Relationship Id="rId16" Type="http://schemas.openxmlformats.org/officeDocument/2006/relationships/image" Target="../media/image42.png"/><Relationship Id="rId1" Type="http://schemas.openxmlformats.org/officeDocument/2006/relationships/slideLayout" Target="../slideLayouts/slideLayout6.xml"/><Relationship Id="rId6" Type="http://schemas.openxmlformats.org/officeDocument/2006/relationships/image" Target="../media/image32.png"/><Relationship Id="rId11" Type="http://schemas.openxmlformats.org/officeDocument/2006/relationships/image" Target="../media/image37.png"/><Relationship Id="rId5" Type="http://schemas.openxmlformats.org/officeDocument/2006/relationships/image" Target="../media/image31.png"/><Relationship Id="rId15" Type="http://schemas.openxmlformats.org/officeDocument/2006/relationships/image" Target="../media/image41.png"/><Relationship Id="rId10" Type="http://schemas.openxmlformats.org/officeDocument/2006/relationships/image" Target="../media/image36.png"/><Relationship Id="rId19" Type="http://schemas.openxmlformats.org/officeDocument/2006/relationships/image" Target="../media/image45.png"/><Relationship Id="rId4" Type="http://schemas.openxmlformats.org/officeDocument/2006/relationships/image" Target="../media/image30.png"/><Relationship Id="rId9" Type="http://schemas.openxmlformats.org/officeDocument/2006/relationships/image" Target="../media/image35.png"/><Relationship Id="rId14" Type="http://schemas.openxmlformats.org/officeDocument/2006/relationships/image" Target="../media/image40.png"/></Relationships>
</file>

<file path=ppt/slides/_rels/slide6.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29.png"/><Relationship Id="rId7" Type="http://schemas.openxmlformats.org/officeDocument/2006/relationships/image" Target="../media/image36.png"/><Relationship Id="rId2" Type="http://schemas.openxmlformats.org/officeDocument/2006/relationships/image" Target="../media/image28.png"/><Relationship Id="rId1" Type="http://schemas.openxmlformats.org/officeDocument/2006/relationships/slideLayout" Target="../slideLayouts/slideLayout6.xml"/><Relationship Id="rId6" Type="http://schemas.openxmlformats.org/officeDocument/2006/relationships/image" Target="../media/image33.png"/><Relationship Id="rId11" Type="http://schemas.openxmlformats.org/officeDocument/2006/relationships/image" Target="../media/image44.png"/><Relationship Id="rId5" Type="http://schemas.openxmlformats.org/officeDocument/2006/relationships/image" Target="../media/image32.png"/><Relationship Id="rId10" Type="http://schemas.openxmlformats.org/officeDocument/2006/relationships/image" Target="../media/image40.png"/><Relationship Id="rId4" Type="http://schemas.openxmlformats.org/officeDocument/2006/relationships/image" Target="../media/image30.png"/><Relationship Id="rId9" Type="http://schemas.openxmlformats.org/officeDocument/2006/relationships/image" Target="../media/image3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6.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55.png"/><Relationship Id="rId7" Type="http://schemas.openxmlformats.org/officeDocument/2006/relationships/image" Target="../media/image59.png"/><Relationship Id="rId2" Type="http://schemas.openxmlformats.org/officeDocument/2006/relationships/image" Target="../media/image54.png"/><Relationship Id="rId1" Type="http://schemas.openxmlformats.org/officeDocument/2006/relationships/slideLayout" Target="../slideLayouts/slideLayout3.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48.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55.png"/><Relationship Id="rId7" Type="http://schemas.openxmlformats.org/officeDocument/2006/relationships/image" Target="../media/image59.png"/><Relationship Id="rId2" Type="http://schemas.openxmlformats.org/officeDocument/2006/relationships/image" Target="../media/image54.png"/><Relationship Id="rId1" Type="http://schemas.openxmlformats.org/officeDocument/2006/relationships/slideLayout" Target="../slideLayouts/slideLayout7.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p:cNvPicPr>
            <a:picLocks noChangeAspect="1" noChangeArrowheads="1"/>
          </p:cNvPicPr>
          <p:nvPr/>
        </p:nvPicPr>
        <p:blipFill>
          <a:blip r:embed="rId2" cstate="print"/>
          <a:srcRect/>
          <a:stretch>
            <a:fillRect/>
          </a:stretch>
        </p:blipFill>
        <p:spPr bwMode="auto">
          <a:xfrm>
            <a:off x="265814" y="348479"/>
            <a:ext cx="10175358" cy="2730976"/>
          </a:xfrm>
          <a:prstGeom prst="rect">
            <a:avLst/>
          </a:prstGeom>
          <a:noFill/>
          <a:ln w="9525">
            <a:noFill/>
            <a:miter lim="800000"/>
            <a:headEnd/>
            <a:tailEnd/>
          </a:ln>
        </p:spPr>
      </p:pic>
      <p:sp>
        <p:nvSpPr>
          <p:cNvPr id="8" name="Subtitle 7"/>
          <p:cNvSpPr>
            <a:spLocks noGrp="1"/>
          </p:cNvSpPr>
          <p:nvPr>
            <p:ph type="subTitle" idx="1"/>
          </p:nvPr>
        </p:nvSpPr>
        <p:spPr>
          <a:xfrm>
            <a:off x="1524000" y="3079455"/>
            <a:ext cx="7774379" cy="1111545"/>
          </a:xfrm>
        </p:spPr>
        <p:txBody>
          <a:bodyPr>
            <a:normAutofit/>
          </a:bodyPr>
          <a:lstStyle/>
          <a:p>
            <a:r>
              <a:rPr lang="en-US" sz="6000" dirty="0">
                <a:solidFill>
                  <a:srgbClr val="FF0000"/>
                </a:solidFill>
                <a:latin typeface="Aharoni" panose="020B0604020202020204" pitchFamily="2" charset="-79"/>
                <a:cs typeface="Aharoni" panose="020B0604020202020204" pitchFamily="2" charset="-79"/>
              </a:rPr>
              <a:t>MANAGERS CODEC</a:t>
            </a:r>
          </a:p>
        </p:txBody>
      </p:sp>
      <p:sp>
        <p:nvSpPr>
          <p:cNvPr id="9" name="TextBox 8"/>
          <p:cNvSpPr txBox="1"/>
          <p:nvPr/>
        </p:nvSpPr>
        <p:spPr>
          <a:xfrm>
            <a:off x="1569522" y="4191000"/>
            <a:ext cx="7683334" cy="1107996"/>
          </a:xfrm>
          <a:prstGeom prst="rect">
            <a:avLst/>
          </a:prstGeom>
          <a:noFill/>
        </p:spPr>
        <p:txBody>
          <a:bodyPr wrap="square" rtlCol="0">
            <a:spAutoFit/>
          </a:bodyPr>
          <a:lstStyle/>
          <a:p>
            <a:pPr algn="ctr"/>
            <a:r>
              <a:rPr lang="en-US" sz="2400" b="1" dirty="0"/>
              <a:t>UNLOCK YOUR ENTERPRISE</a:t>
            </a:r>
          </a:p>
          <a:p>
            <a:pPr algn="ctr"/>
            <a:endParaRPr lang="en-US" sz="2400" b="1" dirty="0"/>
          </a:p>
          <a:p>
            <a:pPr algn="ctr"/>
            <a:r>
              <a:rPr lang="en-US" b="1" dirty="0"/>
              <a:t>CREATED BY: OLUSEYE AMUSA 2021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213761" y="5997036"/>
            <a:ext cx="5462650" cy="261610"/>
          </a:xfrm>
          <a:prstGeom prst="rect">
            <a:avLst/>
          </a:prstGeom>
          <a:noFill/>
        </p:spPr>
        <p:txBody>
          <a:bodyPr wrap="square" rtlCol="0">
            <a:spAutoFit/>
          </a:bodyPr>
          <a:lstStyle/>
          <a:p>
            <a:pPr algn="ctr"/>
            <a:r>
              <a:rPr lang="en-US" sz="1050" b="1" cap="small" dirty="0">
                <a:solidFill>
                  <a:srgbClr val="FF0000"/>
                </a:solidFill>
              </a:rPr>
              <a:t>JungleNomics is a registered Trademark and Patent Pending of IF . Idea Factory Ltd Nigeria 2016 </a:t>
            </a:r>
          </a:p>
        </p:txBody>
      </p:sp>
      <p:sp>
        <p:nvSpPr>
          <p:cNvPr id="5122" name="AutoShape 2" descr="Image result for everyone esrb"/>
          <p:cNvSpPr>
            <a:spLocks noChangeAspect="1" noChangeArrowheads="1"/>
          </p:cNvSpPr>
          <p:nvPr/>
        </p:nvSpPr>
        <p:spPr bwMode="auto">
          <a:xfrm>
            <a:off x="63500" y="-136525"/>
            <a:ext cx="2114550" cy="28575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3" name="Title 3"/>
          <p:cNvSpPr txBox="1">
            <a:spLocks/>
          </p:cNvSpPr>
          <p:nvPr/>
        </p:nvSpPr>
        <p:spPr>
          <a:xfrm>
            <a:off x="6390170" y="2014138"/>
            <a:ext cx="4455053" cy="2319323"/>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50000"/>
              </a:lnSpc>
              <a:spcBef>
                <a:spcPct val="0"/>
              </a:spcBef>
              <a:spcAft>
                <a:spcPts val="0"/>
              </a:spcAft>
              <a:buClrTx/>
              <a:buSzTx/>
              <a:buFontTx/>
              <a:buNone/>
              <a:tabLst/>
              <a:defRPr/>
            </a:pPr>
            <a:br>
              <a:rPr kumimoji="0" lang="en-US" sz="1400" b="1" i="0" u="none" strike="noStrike" kern="1200" cap="none" spc="0" normalizeH="0" baseline="0" noProof="0" dirty="0">
                <a:ln>
                  <a:noFill/>
                </a:ln>
                <a:solidFill>
                  <a:srgbClr val="FF0000"/>
                </a:solidFill>
                <a:effectLst/>
                <a:uLnTx/>
                <a:uFillTx/>
                <a:latin typeface="+mj-lt"/>
                <a:ea typeface="+mj-ea"/>
                <a:cs typeface="+mj-cs"/>
              </a:rPr>
            </a:br>
            <a:r>
              <a:rPr kumimoji="0" lang="en-US" sz="1400" b="1" i="0" u="none" strike="noStrike" kern="1200" cap="none" spc="0" normalizeH="0" baseline="0" noProof="0" dirty="0">
                <a:ln>
                  <a:noFill/>
                </a:ln>
                <a:solidFill>
                  <a:srgbClr val="FF0000"/>
                </a:solidFill>
                <a:effectLst/>
                <a:uLnTx/>
                <a:uFillTx/>
                <a:latin typeface="+mj-lt"/>
                <a:ea typeface="+mj-ea"/>
                <a:cs typeface="+mj-cs"/>
              </a:rPr>
              <a:t>UNIQUE ENTERPRISE DESIGN THINKING LANGUAGE</a:t>
            </a:r>
            <a:br>
              <a:rPr kumimoji="0" lang="en-US" sz="1400" b="1" i="0" u="none" strike="noStrike" kern="1200" cap="none" spc="0" normalizeH="0" baseline="0" noProof="0" dirty="0">
                <a:ln>
                  <a:noFill/>
                </a:ln>
                <a:solidFill>
                  <a:srgbClr val="FF0000"/>
                </a:solidFill>
                <a:effectLst/>
                <a:uLnTx/>
                <a:uFillTx/>
                <a:latin typeface="+mj-lt"/>
                <a:ea typeface="+mj-ea"/>
                <a:cs typeface="+mj-cs"/>
              </a:rPr>
            </a:br>
            <a:r>
              <a:rPr kumimoji="0" lang="en-US" sz="1400" b="1" i="0" u="none" strike="noStrike" kern="1200" cap="none" spc="0" normalizeH="0" baseline="0" noProof="0" dirty="0">
                <a:ln>
                  <a:noFill/>
                </a:ln>
                <a:solidFill>
                  <a:srgbClr val="FF0000"/>
                </a:solidFill>
                <a:effectLst/>
                <a:uLnTx/>
                <a:uFillTx/>
                <a:latin typeface="+mj-lt"/>
                <a:ea typeface="+mj-ea"/>
                <a:cs typeface="+mj-cs"/>
              </a:rPr>
              <a:t>QUALITATIVE AND QUANTITATIVE REASONING</a:t>
            </a:r>
            <a:br>
              <a:rPr kumimoji="0" lang="en-US" sz="1400" b="1" i="0" u="none" strike="noStrike" kern="1200" cap="none" spc="0" normalizeH="0" baseline="0" noProof="0" dirty="0">
                <a:ln>
                  <a:noFill/>
                </a:ln>
                <a:solidFill>
                  <a:srgbClr val="FF0000"/>
                </a:solidFill>
                <a:effectLst/>
                <a:uLnTx/>
                <a:uFillTx/>
                <a:latin typeface="+mj-lt"/>
                <a:ea typeface="+mj-ea"/>
                <a:cs typeface="+mj-cs"/>
              </a:rPr>
            </a:br>
            <a:r>
              <a:rPr kumimoji="0" lang="en-US" sz="1400" b="1" i="0" u="none" strike="noStrike" kern="1200" cap="none" spc="0" normalizeH="0" baseline="0" noProof="0" dirty="0">
                <a:ln>
                  <a:noFill/>
                </a:ln>
                <a:solidFill>
                  <a:srgbClr val="FF0000"/>
                </a:solidFill>
                <a:effectLst/>
                <a:uLnTx/>
                <a:uFillTx/>
                <a:latin typeface="+mj-lt"/>
                <a:ea typeface="+mj-ea"/>
                <a:cs typeface="+mj-cs"/>
              </a:rPr>
              <a:t>GROUP INTERACTION AND TEAM BUILDING</a:t>
            </a:r>
          </a:p>
          <a:p>
            <a:pPr lvl="0" algn="ctr">
              <a:lnSpc>
                <a:spcPct val="150000"/>
              </a:lnSpc>
              <a:spcBef>
                <a:spcPct val="0"/>
              </a:spcBef>
              <a:defRPr/>
            </a:pPr>
            <a:r>
              <a:rPr lang="en-US" sz="1400" b="1" dirty="0">
                <a:solidFill>
                  <a:srgbClr val="FF0000"/>
                </a:solidFill>
              </a:rPr>
              <a:t>360 DEGREE ENTERPRISE SIMULATIONS </a:t>
            </a:r>
            <a:br>
              <a:rPr kumimoji="0" lang="en-US" sz="1400" b="1" i="0" u="none" strike="noStrike" kern="1200" cap="none" spc="0" normalizeH="0" baseline="0" noProof="0" dirty="0">
                <a:ln>
                  <a:noFill/>
                </a:ln>
                <a:solidFill>
                  <a:srgbClr val="FF0000"/>
                </a:solidFill>
                <a:effectLst/>
                <a:uLnTx/>
                <a:uFillTx/>
                <a:latin typeface="+mj-lt"/>
                <a:ea typeface="+mj-ea"/>
                <a:cs typeface="+mj-cs"/>
              </a:rPr>
            </a:br>
            <a:r>
              <a:rPr kumimoji="0" lang="en-US" sz="1400" b="1" i="0" u="none" strike="noStrike" kern="1200" cap="none" spc="0" normalizeH="0" baseline="0" noProof="0" dirty="0">
                <a:ln>
                  <a:noFill/>
                </a:ln>
                <a:solidFill>
                  <a:srgbClr val="FF0000"/>
                </a:solidFill>
                <a:effectLst/>
                <a:uLnTx/>
                <a:uFillTx/>
                <a:latin typeface="+mj-lt"/>
                <a:ea typeface="+mj-ea"/>
                <a:cs typeface="+mj-cs"/>
              </a:rPr>
              <a:t> ELEVATOR PITCH DECK MAKING SKILLS </a:t>
            </a:r>
            <a:br>
              <a:rPr kumimoji="0" lang="en-US" sz="1400" b="1" i="0" u="none" strike="noStrike" kern="1200" cap="none" spc="0" normalizeH="0" baseline="0" noProof="0" dirty="0">
                <a:ln>
                  <a:noFill/>
                </a:ln>
                <a:solidFill>
                  <a:srgbClr val="FF0000"/>
                </a:solidFill>
                <a:effectLst/>
                <a:uLnTx/>
                <a:uFillTx/>
                <a:latin typeface="+mj-lt"/>
                <a:ea typeface="+mj-ea"/>
                <a:cs typeface="+mj-cs"/>
              </a:rPr>
            </a:br>
            <a:r>
              <a:rPr kumimoji="0" lang="en-US" sz="1400" b="1" i="0" u="none" strike="noStrike" kern="1200" cap="none" spc="0" normalizeH="0" baseline="0" noProof="0" dirty="0">
                <a:ln>
                  <a:noFill/>
                </a:ln>
                <a:solidFill>
                  <a:srgbClr val="FF0000"/>
                </a:solidFill>
                <a:effectLst/>
                <a:uLnTx/>
                <a:uFillTx/>
                <a:latin typeface="+mj-lt"/>
                <a:ea typeface="+mj-ea"/>
                <a:cs typeface="+mj-cs"/>
              </a:rPr>
              <a:t>UNIQUE SYMBOLIC REPRESENTATION </a:t>
            </a:r>
            <a:br>
              <a:rPr kumimoji="0" lang="en-US" sz="1400" b="1" i="0" u="none" strike="noStrike" kern="1200" cap="none" spc="0" normalizeH="0" baseline="0" noProof="0" dirty="0">
                <a:ln>
                  <a:noFill/>
                </a:ln>
                <a:solidFill>
                  <a:srgbClr val="FF0000"/>
                </a:solidFill>
                <a:effectLst/>
                <a:uLnTx/>
                <a:uFillTx/>
                <a:latin typeface="+mj-lt"/>
                <a:ea typeface="+mj-ea"/>
                <a:cs typeface="+mj-cs"/>
              </a:rPr>
            </a:br>
            <a:r>
              <a:rPr kumimoji="0" lang="en-US" sz="1400" b="1" i="0" u="none" strike="noStrike" kern="1200" cap="none" spc="0" normalizeH="0" baseline="0" noProof="0" dirty="0">
                <a:ln>
                  <a:noFill/>
                </a:ln>
                <a:solidFill>
                  <a:srgbClr val="FF0000"/>
                </a:solidFill>
                <a:effectLst/>
                <a:uLnTx/>
                <a:uFillTx/>
                <a:latin typeface="+mj-lt"/>
                <a:ea typeface="+mj-ea"/>
                <a:cs typeface="+mj-cs"/>
              </a:rPr>
              <a:t>UNIQUE PATTERN RECOGNITION</a:t>
            </a:r>
            <a:br>
              <a:rPr kumimoji="0" lang="en-US" sz="1400" b="1" i="0" u="none" strike="noStrike" kern="1200" cap="none" spc="0" normalizeH="0" baseline="0" noProof="0" dirty="0">
                <a:ln>
                  <a:noFill/>
                </a:ln>
                <a:solidFill>
                  <a:srgbClr val="FF0000"/>
                </a:solidFill>
                <a:effectLst/>
                <a:uLnTx/>
                <a:uFillTx/>
                <a:latin typeface="+mj-lt"/>
                <a:ea typeface="+mj-ea"/>
                <a:cs typeface="+mj-cs"/>
              </a:rPr>
            </a:br>
            <a:r>
              <a:rPr kumimoji="0" lang="en-US" sz="1400" b="1" i="0" u="none" strike="noStrike" kern="1200" cap="none" spc="0" normalizeH="0" baseline="0" noProof="0" dirty="0">
                <a:ln>
                  <a:noFill/>
                </a:ln>
                <a:solidFill>
                  <a:srgbClr val="FF0000"/>
                </a:solidFill>
                <a:effectLst/>
                <a:uLnTx/>
                <a:uFillTx/>
                <a:latin typeface="+mj-lt"/>
                <a:ea typeface="+mj-ea"/>
                <a:cs typeface="+mj-cs"/>
              </a:rPr>
              <a:t> LEARNING THROUGH PLAY</a:t>
            </a:r>
            <a:br>
              <a:rPr kumimoji="0" lang="en-US" sz="1400" b="1" i="0" u="none" strike="noStrike" kern="1200" cap="none" spc="0" normalizeH="0" baseline="0" noProof="0" dirty="0">
                <a:ln>
                  <a:noFill/>
                </a:ln>
                <a:solidFill>
                  <a:srgbClr val="FF0000"/>
                </a:solidFill>
                <a:effectLst/>
                <a:uLnTx/>
                <a:uFillTx/>
                <a:latin typeface="+mj-lt"/>
                <a:ea typeface="+mj-ea"/>
                <a:cs typeface="+mj-cs"/>
              </a:rPr>
            </a:br>
            <a:r>
              <a:rPr kumimoji="0" lang="en-US" sz="1400" b="1" i="0" u="none" strike="noStrike" kern="1200" cap="none" spc="0" normalizeH="0" baseline="0" noProof="0" dirty="0">
                <a:ln>
                  <a:noFill/>
                </a:ln>
                <a:solidFill>
                  <a:srgbClr val="FF0000"/>
                </a:solidFill>
                <a:effectLst/>
                <a:uLnTx/>
                <a:uFillTx/>
                <a:latin typeface="+mj-lt"/>
                <a:ea typeface="+mj-ea"/>
                <a:cs typeface="+mj-cs"/>
              </a:rPr>
              <a:t>GAME ASSISTED LEARNING</a:t>
            </a:r>
            <a:br>
              <a:rPr kumimoji="0" lang="en-US" sz="1400" b="1" i="0" u="none" strike="noStrike" kern="1200" cap="none" spc="0" normalizeH="0" baseline="0" noProof="0" dirty="0">
                <a:ln>
                  <a:noFill/>
                </a:ln>
                <a:solidFill>
                  <a:srgbClr val="FF0000"/>
                </a:solidFill>
                <a:effectLst/>
                <a:uLnTx/>
                <a:uFillTx/>
                <a:latin typeface="+mj-lt"/>
                <a:ea typeface="+mj-ea"/>
                <a:cs typeface="+mj-cs"/>
              </a:rPr>
            </a:br>
            <a:r>
              <a:rPr kumimoji="0" lang="en-US" sz="1400" b="1" i="0" u="none" strike="noStrike" kern="1200" cap="none" spc="0" normalizeH="0" baseline="0" noProof="0" dirty="0">
                <a:ln>
                  <a:noFill/>
                </a:ln>
                <a:solidFill>
                  <a:srgbClr val="FF0000"/>
                </a:solidFill>
                <a:effectLst/>
                <a:uLnTx/>
                <a:uFillTx/>
                <a:latin typeface="+mj-lt"/>
                <a:ea typeface="+mj-ea"/>
                <a:cs typeface="+mj-cs"/>
              </a:rPr>
              <a:t>BUSINESS EDUCATION</a:t>
            </a:r>
          </a:p>
          <a:p>
            <a:pPr lvl="0" algn="ctr">
              <a:lnSpc>
                <a:spcPct val="150000"/>
              </a:lnSpc>
              <a:spcBef>
                <a:spcPct val="0"/>
              </a:spcBef>
              <a:defRPr/>
            </a:pPr>
            <a:r>
              <a:rPr lang="en-US" sz="1400" b="1" dirty="0">
                <a:solidFill>
                  <a:srgbClr val="FF0000"/>
                </a:solidFill>
              </a:rPr>
              <a:t>LEARNING BY DOING</a:t>
            </a:r>
            <a:endParaRPr kumimoji="0" lang="en-US" sz="1400" b="1" i="0" u="none" strike="noStrike" kern="1200" cap="none" spc="0" normalizeH="0" baseline="0" noProof="0" dirty="0">
              <a:ln>
                <a:noFill/>
              </a:ln>
              <a:solidFill>
                <a:srgbClr val="FF0000"/>
              </a:solidFill>
              <a:effectLst/>
              <a:uLnTx/>
              <a:uFillTx/>
              <a:latin typeface="+mj-lt"/>
              <a:ea typeface="+mj-ea"/>
              <a:cs typeface="+mj-cs"/>
            </a:endParaRPr>
          </a:p>
          <a:p>
            <a:pPr lvl="0" algn="ctr">
              <a:lnSpc>
                <a:spcPct val="150000"/>
              </a:lnSpc>
              <a:spcBef>
                <a:spcPct val="0"/>
              </a:spcBef>
              <a:defRPr/>
            </a:pPr>
            <a:r>
              <a:rPr lang="en-US" sz="1400" b="1" dirty="0">
                <a:solidFill>
                  <a:srgbClr val="FF0000"/>
                </a:solidFill>
              </a:rPr>
              <a:t>75% ENGAGEMENT</a:t>
            </a:r>
          </a:p>
          <a:p>
            <a:pPr lvl="0" algn="ctr">
              <a:lnSpc>
                <a:spcPct val="150000"/>
              </a:lnSpc>
              <a:spcBef>
                <a:spcPct val="0"/>
              </a:spcBef>
              <a:defRPr/>
            </a:pPr>
            <a:r>
              <a:rPr lang="en-US" sz="1400" b="1" dirty="0">
                <a:solidFill>
                  <a:srgbClr val="FF0000"/>
                </a:solidFill>
              </a:rPr>
              <a:t>CREATIVE LOGIC</a:t>
            </a:r>
            <a:endParaRPr kumimoji="0" lang="en-US" sz="1400" b="1" i="0" u="none" strike="noStrike" kern="1200" cap="none" spc="0" normalizeH="0" baseline="0" noProof="0" dirty="0">
              <a:ln>
                <a:noFill/>
              </a:ln>
              <a:solidFill>
                <a:srgbClr val="FF0000"/>
              </a:solidFill>
              <a:effectLst/>
              <a:uLnTx/>
              <a:uFillTx/>
              <a:latin typeface="+mj-lt"/>
              <a:ea typeface="+mj-ea"/>
              <a:cs typeface="+mj-cs"/>
            </a:endParaRPr>
          </a:p>
        </p:txBody>
      </p:sp>
      <p:sp>
        <p:nvSpPr>
          <p:cNvPr id="14" name="TextBox 13"/>
          <p:cNvSpPr txBox="1"/>
          <p:nvPr/>
        </p:nvSpPr>
        <p:spPr>
          <a:xfrm>
            <a:off x="6772946" y="598767"/>
            <a:ext cx="3604437" cy="307777"/>
          </a:xfrm>
          <a:prstGeom prst="rect">
            <a:avLst/>
          </a:prstGeom>
          <a:noFill/>
        </p:spPr>
        <p:txBody>
          <a:bodyPr wrap="square" rtlCol="0">
            <a:spAutoFit/>
          </a:bodyPr>
          <a:lstStyle/>
          <a:p>
            <a:pPr algn="ctr"/>
            <a:r>
              <a:rPr lang="en-US" sz="1400" b="1" dirty="0"/>
              <a:t>ENTERPRISE BUILDING BLOCKS IN A BOX </a:t>
            </a:r>
          </a:p>
        </p:txBody>
      </p:sp>
      <p:sp>
        <p:nvSpPr>
          <p:cNvPr id="15" name="TextBox 14"/>
          <p:cNvSpPr txBox="1"/>
          <p:nvPr/>
        </p:nvSpPr>
        <p:spPr>
          <a:xfrm>
            <a:off x="6832307" y="5652090"/>
            <a:ext cx="3700131" cy="692497"/>
          </a:xfrm>
          <a:prstGeom prst="rect">
            <a:avLst/>
          </a:prstGeom>
          <a:noFill/>
        </p:spPr>
        <p:txBody>
          <a:bodyPr wrap="square" rtlCol="0">
            <a:spAutoFit/>
          </a:bodyPr>
          <a:lstStyle/>
          <a:p>
            <a:pPr algn="ctr"/>
            <a:r>
              <a:rPr lang="en-US" sz="1100" b="1" dirty="0">
                <a:solidFill>
                  <a:srgbClr val="FF0000"/>
                </a:solidFill>
              </a:rPr>
              <a:t>For more information on JungleNomics and new games visit</a:t>
            </a:r>
          </a:p>
          <a:p>
            <a:pPr algn="ctr"/>
            <a:endParaRPr lang="en-US" sz="1400" b="1" dirty="0">
              <a:solidFill>
                <a:srgbClr val="FF0000"/>
              </a:solidFill>
            </a:endParaRPr>
          </a:p>
          <a:p>
            <a:pPr algn="ctr"/>
            <a:r>
              <a:rPr lang="en-US" sz="1400" b="1" dirty="0">
                <a:solidFill>
                  <a:srgbClr val="FF0000"/>
                </a:solidFill>
              </a:rPr>
              <a:t>www.whatif.com.ng</a:t>
            </a:r>
          </a:p>
        </p:txBody>
      </p:sp>
      <p:grpSp>
        <p:nvGrpSpPr>
          <p:cNvPr id="18" name="Group 17">
            <a:extLst>
              <a:ext uri="{FF2B5EF4-FFF2-40B4-BE49-F238E27FC236}">
                <a16:creationId xmlns:a16="http://schemas.microsoft.com/office/drawing/2014/main" id="{6338F148-B5C1-45B0-9EEB-B21CFC4F3490}"/>
              </a:ext>
            </a:extLst>
          </p:cNvPr>
          <p:cNvGrpSpPr/>
          <p:nvPr/>
        </p:nvGrpSpPr>
        <p:grpSpPr>
          <a:xfrm>
            <a:off x="699371" y="795075"/>
            <a:ext cx="6067516" cy="3851799"/>
            <a:chOff x="1933749" y="6711154"/>
            <a:chExt cx="2892221" cy="1581510"/>
          </a:xfrm>
        </p:grpSpPr>
        <p:pic>
          <p:nvPicPr>
            <p:cNvPr id="19" name="Picture 18">
              <a:extLst>
                <a:ext uri="{FF2B5EF4-FFF2-40B4-BE49-F238E27FC236}">
                  <a16:creationId xmlns:a16="http://schemas.microsoft.com/office/drawing/2014/main" id="{07947EDC-9FFC-4A49-B860-DDB8A8B9D29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39389" y="7712346"/>
              <a:ext cx="919420" cy="580318"/>
            </a:xfrm>
            <a:prstGeom prst="rect">
              <a:avLst/>
            </a:prstGeom>
            <a:effectLst>
              <a:outerShdw blurRad="50800" dist="38100" dir="8100000" algn="tr" rotWithShape="0">
                <a:prstClr val="black">
                  <a:alpha val="40000"/>
                </a:prstClr>
              </a:outerShdw>
            </a:effectLst>
          </p:spPr>
        </p:pic>
        <p:pic>
          <p:nvPicPr>
            <p:cNvPr id="20" name="Picture 2">
              <a:extLst>
                <a:ext uri="{FF2B5EF4-FFF2-40B4-BE49-F238E27FC236}">
                  <a16:creationId xmlns:a16="http://schemas.microsoft.com/office/drawing/2014/main" id="{EB4ED090-9AF9-4A72-86E0-3CFE21BCCE63}"/>
                </a:ext>
              </a:extLst>
            </p:cNvPr>
            <p:cNvPicPr>
              <a:picLocks noChangeAspect="1" noChangeArrowheads="1"/>
            </p:cNvPicPr>
            <p:nvPr/>
          </p:nvPicPr>
          <p:blipFill>
            <a:blip r:embed="rId3" cstate="print"/>
            <a:srcRect/>
            <a:stretch>
              <a:fillRect/>
            </a:stretch>
          </p:blipFill>
          <p:spPr bwMode="auto">
            <a:xfrm>
              <a:off x="1933749" y="7028805"/>
              <a:ext cx="2892221" cy="720604"/>
            </a:xfrm>
            <a:prstGeom prst="rect">
              <a:avLst/>
            </a:prstGeom>
            <a:noFill/>
            <a:ln w="9525">
              <a:noFill/>
              <a:miter lim="800000"/>
              <a:headEnd/>
              <a:tailEnd/>
            </a:ln>
          </p:spPr>
        </p:pic>
        <p:sp>
          <p:nvSpPr>
            <p:cNvPr id="21" name="TextBox 20">
              <a:extLst>
                <a:ext uri="{FF2B5EF4-FFF2-40B4-BE49-F238E27FC236}">
                  <a16:creationId xmlns:a16="http://schemas.microsoft.com/office/drawing/2014/main" id="{E7F51380-30A5-4FDD-A36E-F0D1AF263D37}"/>
                </a:ext>
              </a:extLst>
            </p:cNvPr>
            <p:cNvSpPr txBox="1"/>
            <p:nvPr/>
          </p:nvSpPr>
          <p:spPr>
            <a:xfrm>
              <a:off x="2417066" y="6711154"/>
              <a:ext cx="1923397" cy="391747"/>
            </a:xfrm>
            <a:prstGeom prst="rect">
              <a:avLst/>
            </a:prstGeom>
            <a:noFill/>
          </p:spPr>
          <p:txBody>
            <a:bodyPr wrap="square" rtlCol="0">
              <a:spAutoFit/>
            </a:bodyPr>
            <a:lstStyle/>
            <a:p>
              <a:pPr algn="ctr"/>
              <a:r>
                <a:rPr lang="en-US" sz="2800" b="1" dirty="0"/>
                <a:t>GAME ASSISTED LEARNING  </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p:cNvPicPr>
            <a:picLocks noChangeAspect="1" noChangeArrowheads="1"/>
          </p:cNvPicPr>
          <p:nvPr/>
        </p:nvPicPr>
        <p:blipFill>
          <a:blip r:embed="rId2" cstate="print"/>
          <a:srcRect/>
          <a:stretch>
            <a:fillRect/>
          </a:stretch>
        </p:blipFill>
        <p:spPr bwMode="auto">
          <a:xfrm>
            <a:off x="1202846" y="1103584"/>
            <a:ext cx="623561" cy="826205"/>
          </a:xfrm>
          <a:prstGeom prst="rect">
            <a:avLst/>
          </a:prstGeom>
          <a:noFill/>
          <a:ln w="9525">
            <a:noFill/>
            <a:miter lim="800000"/>
            <a:headEnd/>
            <a:tailEnd/>
          </a:ln>
          <a:effectLst/>
        </p:spPr>
      </p:pic>
      <p:pic>
        <p:nvPicPr>
          <p:cNvPr id="7" name="Picture 5"/>
          <p:cNvPicPr>
            <a:picLocks noChangeAspect="1" noChangeArrowheads="1"/>
          </p:cNvPicPr>
          <p:nvPr/>
        </p:nvPicPr>
        <p:blipFill>
          <a:blip r:embed="rId3" cstate="print"/>
          <a:srcRect/>
          <a:stretch>
            <a:fillRect/>
          </a:stretch>
        </p:blipFill>
        <p:spPr bwMode="auto">
          <a:xfrm>
            <a:off x="2520118" y="1103584"/>
            <a:ext cx="653180" cy="827971"/>
          </a:xfrm>
          <a:prstGeom prst="rect">
            <a:avLst/>
          </a:prstGeom>
          <a:noFill/>
          <a:ln w="9525">
            <a:noFill/>
            <a:miter lim="800000"/>
            <a:headEnd/>
            <a:tailEnd/>
          </a:ln>
          <a:effectLst/>
        </p:spPr>
      </p:pic>
      <p:pic>
        <p:nvPicPr>
          <p:cNvPr id="8" name="Picture 6"/>
          <p:cNvPicPr>
            <a:picLocks noChangeAspect="1" noChangeArrowheads="1"/>
          </p:cNvPicPr>
          <p:nvPr/>
        </p:nvPicPr>
        <p:blipFill>
          <a:blip r:embed="rId4" cstate="print"/>
          <a:srcRect/>
          <a:stretch>
            <a:fillRect/>
          </a:stretch>
        </p:blipFill>
        <p:spPr bwMode="auto">
          <a:xfrm>
            <a:off x="3173298" y="1103584"/>
            <a:ext cx="648503" cy="826205"/>
          </a:xfrm>
          <a:prstGeom prst="rect">
            <a:avLst/>
          </a:prstGeom>
          <a:noFill/>
          <a:ln w="9525">
            <a:noFill/>
            <a:miter lim="800000"/>
            <a:headEnd/>
            <a:tailEnd/>
          </a:ln>
          <a:effectLst/>
        </p:spPr>
      </p:pic>
      <p:pic>
        <p:nvPicPr>
          <p:cNvPr id="9" name="Picture 7"/>
          <p:cNvPicPr>
            <a:picLocks noChangeAspect="1" noChangeArrowheads="1"/>
          </p:cNvPicPr>
          <p:nvPr/>
        </p:nvPicPr>
        <p:blipFill>
          <a:blip r:embed="rId5" cstate="print"/>
          <a:srcRect/>
          <a:stretch>
            <a:fillRect/>
          </a:stretch>
        </p:blipFill>
        <p:spPr bwMode="auto">
          <a:xfrm>
            <a:off x="4475293" y="1103584"/>
            <a:ext cx="648503" cy="827971"/>
          </a:xfrm>
          <a:prstGeom prst="rect">
            <a:avLst/>
          </a:prstGeom>
          <a:noFill/>
          <a:ln w="9525">
            <a:noFill/>
            <a:miter lim="800000"/>
            <a:headEnd/>
            <a:tailEnd/>
          </a:ln>
          <a:effectLst/>
        </p:spPr>
      </p:pic>
      <p:grpSp>
        <p:nvGrpSpPr>
          <p:cNvPr id="10" name="Group 10"/>
          <p:cNvGrpSpPr/>
          <p:nvPr/>
        </p:nvGrpSpPr>
        <p:grpSpPr>
          <a:xfrm>
            <a:off x="1202847" y="1980259"/>
            <a:ext cx="1960474" cy="827971"/>
            <a:chOff x="1722315" y="1512888"/>
            <a:chExt cx="6202485" cy="3211513"/>
          </a:xfrm>
        </p:grpSpPr>
        <p:pic>
          <p:nvPicPr>
            <p:cNvPr id="35" name="Picture 2"/>
            <p:cNvPicPr>
              <a:picLocks noChangeAspect="1" noChangeArrowheads="1"/>
            </p:cNvPicPr>
            <p:nvPr/>
          </p:nvPicPr>
          <p:blipFill>
            <a:blip r:embed="rId6" cstate="print"/>
            <a:srcRect/>
            <a:stretch>
              <a:fillRect/>
            </a:stretch>
          </p:blipFill>
          <p:spPr bwMode="auto">
            <a:xfrm>
              <a:off x="1722315" y="1524001"/>
              <a:ext cx="1981200" cy="3163161"/>
            </a:xfrm>
            <a:prstGeom prst="rect">
              <a:avLst/>
            </a:prstGeom>
            <a:noFill/>
            <a:ln w="9525">
              <a:noFill/>
              <a:miter lim="800000"/>
              <a:headEnd/>
              <a:tailEnd/>
            </a:ln>
            <a:effectLst/>
          </p:spPr>
        </p:pic>
        <p:pic>
          <p:nvPicPr>
            <p:cNvPr id="36" name="Picture 3"/>
            <p:cNvPicPr>
              <a:picLocks noChangeAspect="1" noChangeArrowheads="1"/>
            </p:cNvPicPr>
            <p:nvPr/>
          </p:nvPicPr>
          <p:blipFill>
            <a:blip r:embed="rId7" cstate="print"/>
            <a:srcRect/>
            <a:stretch>
              <a:fillRect/>
            </a:stretch>
          </p:blipFill>
          <p:spPr bwMode="auto">
            <a:xfrm>
              <a:off x="3779715" y="1512888"/>
              <a:ext cx="2011485" cy="3211513"/>
            </a:xfrm>
            <a:prstGeom prst="rect">
              <a:avLst/>
            </a:prstGeom>
            <a:noFill/>
            <a:ln w="9525">
              <a:noFill/>
              <a:miter lim="800000"/>
              <a:headEnd/>
              <a:tailEnd/>
            </a:ln>
            <a:effectLst/>
          </p:spPr>
        </p:pic>
        <p:pic>
          <p:nvPicPr>
            <p:cNvPr id="37" name="Picture 5"/>
            <p:cNvPicPr>
              <a:picLocks noChangeAspect="1" noChangeArrowheads="1"/>
            </p:cNvPicPr>
            <p:nvPr/>
          </p:nvPicPr>
          <p:blipFill>
            <a:blip r:embed="rId8" cstate="print"/>
            <a:srcRect/>
            <a:stretch>
              <a:fillRect/>
            </a:stretch>
          </p:blipFill>
          <p:spPr bwMode="auto">
            <a:xfrm>
              <a:off x="5844076" y="1524001"/>
              <a:ext cx="2080724" cy="3200400"/>
            </a:xfrm>
            <a:prstGeom prst="rect">
              <a:avLst/>
            </a:prstGeom>
            <a:noFill/>
            <a:ln w="9525">
              <a:noFill/>
              <a:miter lim="800000"/>
              <a:headEnd/>
              <a:tailEnd/>
            </a:ln>
            <a:effectLst/>
          </p:spPr>
        </p:pic>
      </p:grpSp>
      <p:grpSp>
        <p:nvGrpSpPr>
          <p:cNvPr id="11" name="Group 14"/>
          <p:cNvGrpSpPr/>
          <p:nvPr/>
        </p:nvGrpSpPr>
        <p:grpSpPr>
          <a:xfrm>
            <a:off x="1202847" y="2856934"/>
            <a:ext cx="2652407" cy="827970"/>
            <a:chOff x="643222" y="1360488"/>
            <a:chExt cx="8805578" cy="3363913"/>
          </a:xfrm>
        </p:grpSpPr>
        <p:pic>
          <p:nvPicPr>
            <p:cNvPr id="31" name="Picture 2"/>
            <p:cNvPicPr>
              <a:picLocks noChangeAspect="1" noChangeArrowheads="1"/>
            </p:cNvPicPr>
            <p:nvPr/>
          </p:nvPicPr>
          <p:blipFill>
            <a:blip r:embed="rId9" cstate="print"/>
            <a:srcRect/>
            <a:stretch>
              <a:fillRect/>
            </a:stretch>
          </p:blipFill>
          <p:spPr bwMode="auto">
            <a:xfrm>
              <a:off x="643222" y="1371600"/>
              <a:ext cx="2099978" cy="3352800"/>
            </a:xfrm>
            <a:prstGeom prst="rect">
              <a:avLst/>
            </a:prstGeom>
            <a:noFill/>
            <a:ln w="9525">
              <a:noFill/>
              <a:miter lim="800000"/>
              <a:headEnd/>
              <a:tailEnd/>
            </a:ln>
            <a:effectLst/>
          </p:spPr>
        </p:pic>
        <p:pic>
          <p:nvPicPr>
            <p:cNvPr id="32" name="Picture 3"/>
            <p:cNvPicPr>
              <a:picLocks noChangeAspect="1" noChangeArrowheads="1"/>
            </p:cNvPicPr>
            <p:nvPr/>
          </p:nvPicPr>
          <p:blipFill>
            <a:blip r:embed="rId10" cstate="print"/>
            <a:srcRect/>
            <a:stretch>
              <a:fillRect/>
            </a:stretch>
          </p:blipFill>
          <p:spPr bwMode="auto">
            <a:xfrm>
              <a:off x="2769862" y="1360488"/>
              <a:ext cx="2106938" cy="3363913"/>
            </a:xfrm>
            <a:prstGeom prst="rect">
              <a:avLst/>
            </a:prstGeom>
            <a:noFill/>
            <a:ln w="9525">
              <a:noFill/>
              <a:miter lim="800000"/>
              <a:headEnd/>
              <a:tailEnd/>
            </a:ln>
            <a:effectLst/>
          </p:spPr>
        </p:pic>
        <p:pic>
          <p:nvPicPr>
            <p:cNvPr id="33" name="Picture 4"/>
            <p:cNvPicPr>
              <a:picLocks noChangeAspect="1" noChangeArrowheads="1"/>
            </p:cNvPicPr>
            <p:nvPr/>
          </p:nvPicPr>
          <p:blipFill>
            <a:blip r:embed="rId11" cstate="print"/>
            <a:srcRect/>
            <a:stretch>
              <a:fillRect/>
            </a:stretch>
          </p:blipFill>
          <p:spPr bwMode="auto">
            <a:xfrm>
              <a:off x="7315200" y="1360488"/>
              <a:ext cx="2133600" cy="3363913"/>
            </a:xfrm>
            <a:prstGeom prst="rect">
              <a:avLst/>
            </a:prstGeom>
            <a:noFill/>
            <a:ln w="9525">
              <a:noFill/>
              <a:miter lim="800000"/>
              <a:headEnd/>
              <a:tailEnd/>
            </a:ln>
            <a:effectLst/>
          </p:spPr>
        </p:pic>
        <p:pic>
          <p:nvPicPr>
            <p:cNvPr id="34" name="Picture 5"/>
            <p:cNvPicPr>
              <a:picLocks noChangeAspect="1" noChangeArrowheads="1"/>
            </p:cNvPicPr>
            <p:nvPr/>
          </p:nvPicPr>
          <p:blipFill>
            <a:blip r:embed="rId12" cstate="print"/>
            <a:srcRect/>
            <a:stretch>
              <a:fillRect/>
            </a:stretch>
          </p:blipFill>
          <p:spPr bwMode="auto">
            <a:xfrm>
              <a:off x="5055862" y="1360488"/>
              <a:ext cx="2106938" cy="3363913"/>
            </a:xfrm>
            <a:prstGeom prst="rect">
              <a:avLst/>
            </a:prstGeom>
            <a:noFill/>
            <a:ln w="9525">
              <a:noFill/>
              <a:miter lim="800000"/>
              <a:headEnd/>
              <a:tailEnd/>
            </a:ln>
            <a:effectLst/>
          </p:spPr>
        </p:pic>
      </p:grpSp>
      <p:grpSp>
        <p:nvGrpSpPr>
          <p:cNvPr id="12" name="Group 19"/>
          <p:cNvGrpSpPr/>
          <p:nvPr/>
        </p:nvGrpSpPr>
        <p:grpSpPr>
          <a:xfrm>
            <a:off x="1202846" y="3733609"/>
            <a:ext cx="3229017" cy="876675"/>
            <a:chOff x="304800" y="1360487"/>
            <a:chExt cx="10439400" cy="3295934"/>
          </a:xfrm>
        </p:grpSpPr>
        <p:pic>
          <p:nvPicPr>
            <p:cNvPr id="26" name="Picture 2"/>
            <p:cNvPicPr>
              <a:picLocks noChangeAspect="1" noChangeArrowheads="1"/>
            </p:cNvPicPr>
            <p:nvPr/>
          </p:nvPicPr>
          <p:blipFill>
            <a:blip r:embed="rId13" cstate="print"/>
            <a:srcRect/>
            <a:stretch>
              <a:fillRect/>
            </a:stretch>
          </p:blipFill>
          <p:spPr bwMode="auto">
            <a:xfrm>
              <a:off x="304800" y="1371600"/>
              <a:ext cx="2057400" cy="3284821"/>
            </a:xfrm>
            <a:prstGeom prst="rect">
              <a:avLst/>
            </a:prstGeom>
            <a:noFill/>
            <a:ln w="9525">
              <a:noFill/>
              <a:miter lim="800000"/>
              <a:headEnd/>
              <a:tailEnd/>
            </a:ln>
            <a:effectLst/>
          </p:spPr>
        </p:pic>
        <p:pic>
          <p:nvPicPr>
            <p:cNvPr id="27" name="Picture 3"/>
            <p:cNvPicPr>
              <a:picLocks noChangeAspect="1" noChangeArrowheads="1"/>
            </p:cNvPicPr>
            <p:nvPr/>
          </p:nvPicPr>
          <p:blipFill>
            <a:blip r:embed="rId14" cstate="print"/>
            <a:srcRect/>
            <a:stretch>
              <a:fillRect/>
            </a:stretch>
          </p:blipFill>
          <p:spPr bwMode="auto">
            <a:xfrm>
              <a:off x="2438400" y="1360487"/>
              <a:ext cx="2057400" cy="3284821"/>
            </a:xfrm>
            <a:prstGeom prst="rect">
              <a:avLst/>
            </a:prstGeom>
            <a:noFill/>
            <a:ln w="9525">
              <a:noFill/>
              <a:miter lim="800000"/>
              <a:headEnd/>
              <a:tailEnd/>
            </a:ln>
            <a:effectLst/>
          </p:spPr>
        </p:pic>
        <p:pic>
          <p:nvPicPr>
            <p:cNvPr id="28" name="Picture 4"/>
            <p:cNvPicPr>
              <a:picLocks noChangeAspect="1" noChangeArrowheads="1"/>
            </p:cNvPicPr>
            <p:nvPr/>
          </p:nvPicPr>
          <p:blipFill>
            <a:blip r:embed="rId15" cstate="print"/>
            <a:srcRect/>
            <a:stretch>
              <a:fillRect/>
            </a:stretch>
          </p:blipFill>
          <p:spPr bwMode="auto">
            <a:xfrm>
              <a:off x="4572000" y="1360487"/>
              <a:ext cx="2057400" cy="3284821"/>
            </a:xfrm>
            <a:prstGeom prst="rect">
              <a:avLst/>
            </a:prstGeom>
            <a:noFill/>
            <a:ln w="9525">
              <a:noFill/>
              <a:miter lim="800000"/>
              <a:headEnd/>
              <a:tailEnd/>
            </a:ln>
            <a:effectLst/>
          </p:spPr>
        </p:pic>
        <p:pic>
          <p:nvPicPr>
            <p:cNvPr id="29" name="Picture 5"/>
            <p:cNvPicPr>
              <a:picLocks noChangeAspect="1" noChangeArrowheads="1"/>
            </p:cNvPicPr>
            <p:nvPr/>
          </p:nvPicPr>
          <p:blipFill>
            <a:blip r:embed="rId16" cstate="print"/>
            <a:srcRect/>
            <a:stretch>
              <a:fillRect/>
            </a:stretch>
          </p:blipFill>
          <p:spPr bwMode="auto">
            <a:xfrm>
              <a:off x="6629400" y="1360487"/>
              <a:ext cx="2057400" cy="3284821"/>
            </a:xfrm>
            <a:prstGeom prst="rect">
              <a:avLst/>
            </a:prstGeom>
            <a:noFill/>
            <a:ln w="9525">
              <a:noFill/>
              <a:miter lim="800000"/>
              <a:headEnd/>
              <a:tailEnd/>
            </a:ln>
            <a:effectLst/>
          </p:spPr>
        </p:pic>
        <p:pic>
          <p:nvPicPr>
            <p:cNvPr id="30" name="Picture 6"/>
            <p:cNvPicPr>
              <a:picLocks noChangeAspect="1" noChangeArrowheads="1"/>
            </p:cNvPicPr>
            <p:nvPr/>
          </p:nvPicPr>
          <p:blipFill>
            <a:blip r:embed="rId17" cstate="print"/>
            <a:srcRect/>
            <a:stretch>
              <a:fillRect/>
            </a:stretch>
          </p:blipFill>
          <p:spPr bwMode="auto">
            <a:xfrm>
              <a:off x="8686800" y="1360487"/>
              <a:ext cx="2057400" cy="3284821"/>
            </a:xfrm>
            <a:prstGeom prst="rect">
              <a:avLst/>
            </a:prstGeom>
            <a:noFill/>
            <a:ln w="9525">
              <a:noFill/>
              <a:miter lim="800000"/>
              <a:headEnd/>
              <a:tailEnd/>
            </a:ln>
            <a:effectLst/>
          </p:spPr>
        </p:pic>
      </p:grpSp>
      <p:grpSp>
        <p:nvGrpSpPr>
          <p:cNvPr id="13" name="Group 25"/>
          <p:cNvGrpSpPr/>
          <p:nvPr/>
        </p:nvGrpSpPr>
        <p:grpSpPr>
          <a:xfrm>
            <a:off x="1202846" y="4658988"/>
            <a:ext cx="2018136" cy="876675"/>
            <a:chOff x="1600200" y="1360488"/>
            <a:chExt cx="6172200" cy="3174272"/>
          </a:xfrm>
        </p:grpSpPr>
        <p:pic>
          <p:nvPicPr>
            <p:cNvPr id="23" name="Picture 2"/>
            <p:cNvPicPr>
              <a:picLocks noChangeAspect="1" noChangeArrowheads="1"/>
            </p:cNvPicPr>
            <p:nvPr/>
          </p:nvPicPr>
          <p:blipFill>
            <a:blip r:embed="rId18" cstate="print"/>
            <a:srcRect/>
            <a:stretch>
              <a:fillRect/>
            </a:stretch>
          </p:blipFill>
          <p:spPr bwMode="auto">
            <a:xfrm>
              <a:off x="1600200" y="1371600"/>
              <a:ext cx="1981200" cy="3163160"/>
            </a:xfrm>
            <a:prstGeom prst="rect">
              <a:avLst/>
            </a:prstGeom>
            <a:noFill/>
            <a:ln w="9525">
              <a:noFill/>
              <a:miter lim="800000"/>
              <a:headEnd/>
              <a:tailEnd/>
            </a:ln>
            <a:effectLst/>
          </p:spPr>
        </p:pic>
        <p:pic>
          <p:nvPicPr>
            <p:cNvPr id="24" name="Picture 3"/>
            <p:cNvPicPr>
              <a:picLocks noChangeAspect="1" noChangeArrowheads="1"/>
            </p:cNvPicPr>
            <p:nvPr/>
          </p:nvPicPr>
          <p:blipFill>
            <a:blip r:embed="rId19" cstate="print"/>
            <a:srcRect/>
            <a:stretch>
              <a:fillRect/>
            </a:stretch>
          </p:blipFill>
          <p:spPr bwMode="auto">
            <a:xfrm>
              <a:off x="3657600" y="1360488"/>
              <a:ext cx="1981200" cy="3163160"/>
            </a:xfrm>
            <a:prstGeom prst="rect">
              <a:avLst/>
            </a:prstGeom>
            <a:noFill/>
            <a:ln w="9525">
              <a:noFill/>
              <a:miter lim="800000"/>
              <a:headEnd/>
              <a:tailEnd/>
            </a:ln>
            <a:effectLst/>
          </p:spPr>
        </p:pic>
        <p:pic>
          <p:nvPicPr>
            <p:cNvPr id="25" name="Picture 4"/>
            <p:cNvPicPr>
              <a:picLocks noChangeAspect="1" noChangeArrowheads="1"/>
            </p:cNvPicPr>
            <p:nvPr/>
          </p:nvPicPr>
          <p:blipFill>
            <a:blip r:embed="rId20" cstate="print"/>
            <a:srcRect/>
            <a:stretch>
              <a:fillRect/>
            </a:stretch>
          </p:blipFill>
          <p:spPr bwMode="auto">
            <a:xfrm>
              <a:off x="5791200" y="1360488"/>
              <a:ext cx="1981200" cy="3163161"/>
            </a:xfrm>
            <a:prstGeom prst="rect">
              <a:avLst/>
            </a:prstGeom>
            <a:noFill/>
            <a:ln w="9525">
              <a:noFill/>
              <a:miter lim="800000"/>
              <a:headEnd/>
              <a:tailEnd/>
            </a:ln>
            <a:effectLst/>
          </p:spPr>
        </p:pic>
      </p:grpSp>
      <p:pic>
        <p:nvPicPr>
          <p:cNvPr id="16" name="Picture 2"/>
          <p:cNvPicPr>
            <a:picLocks noChangeAspect="1" noChangeArrowheads="1"/>
          </p:cNvPicPr>
          <p:nvPr/>
        </p:nvPicPr>
        <p:blipFill>
          <a:blip r:embed="rId21" cstate="print"/>
          <a:srcRect/>
          <a:stretch>
            <a:fillRect/>
          </a:stretch>
        </p:blipFill>
        <p:spPr bwMode="auto">
          <a:xfrm>
            <a:off x="1202846" y="5633072"/>
            <a:ext cx="691932" cy="925379"/>
          </a:xfrm>
          <a:prstGeom prst="rect">
            <a:avLst/>
          </a:prstGeom>
          <a:noFill/>
          <a:ln w="9525">
            <a:noFill/>
            <a:miter lim="800000"/>
            <a:headEnd/>
            <a:tailEnd/>
          </a:ln>
          <a:effectLst/>
        </p:spPr>
      </p:pic>
      <p:pic>
        <p:nvPicPr>
          <p:cNvPr id="21" name="Picture 2"/>
          <p:cNvPicPr>
            <a:picLocks noChangeAspect="1" noChangeArrowheads="1"/>
          </p:cNvPicPr>
          <p:nvPr/>
        </p:nvPicPr>
        <p:blipFill>
          <a:blip r:embed="rId22" cstate="print"/>
          <a:srcRect/>
          <a:stretch>
            <a:fillRect/>
          </a:stretch>
        </p:blipFill>
        <p:spPr bwMode="auto">
          <a:xfrm>
            <a:off x="1837118" y="1103583"/>
            <a:ext cx="634272" cy="827972"/>
          </a:xfrm>
          <a:prstGeom prst="rect">
            <a:avLst/>
          </a:prstGeom>
          <a:noFill/>
          <a:ln w="9525">
            <a:noFill/>
            <a:miter lim="800000"/>
            <a:headEnd/>
            <a:tailEnd/>
          </a:ln>
          <a:effectLst/>
        </p:spPr>
      </p:pic>
      <p:pic>
        <p:nvPicPr>
          <p:cNvPr id="22" name="Picture 3"/>
          <p:cNvPicPr>
            <a:picLocks noChangeAspect="1" noChangeArrowheads="1"/>
          </p:cNvPicPr>
          <p:nvPr/>
        </p:nvPicPr>
        <p:blipFill>
          <a:blip r:embed="rId23" cstate="print"/>
          <a:srcRect/>
          <a:stretch>
            <a:fillRect/>
          </a:stretch>
        </p:blipFill>
        <p:spPr bwMode="auto">
          <a:xfrm>
            <a:off x="3855255" y="1103582"/>
            <a:ext cx="634269" cy="827972"/>
          </a:xfrm>
          <a:prstGeom prst="rect">
            <a:avLst/>
          </a:prstGeom>
          <a:noFill/>
          <a:ln w="9525">
            <a:noFill/>
            <a:miter lim="800000"/>
            <a:headEnd/>
            <a:tailEnd/>
          </a:ln>
          <a:effectLst/>
        </p:spPr>
      </p:pic>
      <p:sp>
        <p:nvSpPr>
          <p:cNvPr id="80" name="TextBox 79"/>
          <p:cNvSpPr txBox="1"/>
          <p:nvPr/>
        </p:nvSpPr>
        <p:spPr>
          <a:xfrm>
            <a:off x="593834" y="436179"/>
            <a:ext cx="3788979" cy="461665"/>
          </a:xfrm>
          <a:prstGeom prst="rect">
            <a:avLst/>
          </a:prstGeom>
          <a:noFill/>
        </p:spPr>
        <p:txBody>
          <a:bodyPr wrap="square" rtlCol="0">
            <a:spAutoFit/>
          </a:bodyPr>
          <a:lstStyle/>
          <a:p>
            <a:pPr algn="ctr"/>
            <a:r>
              <a:rPr lang="en-US" sz="2400" b="1" dirty="0"/>
              <a:t>CARD TYPES IN A DECK</a:t>
            </a:r>
          </a:p>
        </p:txBody>
      </p:sp>
      <p:pic>
        <p:nvPicPr>
          <p:cNvPr id="3" name="Picture 2">
            <a:extLst>
              <a:ext uri="{FF2B5EF4-FFF2-40B4-BE49-F238E27FC236}">
                <a16:creationId xmlns:a16="http://schemas.microsoft.com/office/drawing/2014/main" id="{A3D25B70-24B1-4CB8-ACC7-02CF9FC12A33}"/>
              </a:ext>
            </a:extLst>
          </p:cNvPr>
          <p:cNvPicPr>
            <a:picLocks noChangeAspect="1"/>
          </p:cNvPicPr>
          <p:nvPr/>
        </p:nvPicPr>
        <p:blipFill>
          <a:blip r:embed="rId24">
            <a:extLst>
              <a:ext uri="{28A0092B-C50C-407E-A947-70E740481C1C}">
                <a14:useLocalDpi xmlns:a14="http://schemas.microsoft.com/office/drawing/2010/main" val="0"/>
              </a:ext>
            </a:extLst>
          </a:blip>
          <a:stretch>
            <a:fillRect/>
          </a:stretch>
        </p:blipFill>
        <p:spPr>
          <a:xfrm>
            <a:off x="592820" y="1101698"/>
            <a:ext cx="585662" cy="826207"/>
          </a:xfrm>
          <a:prstGeom prst="rect">
            <a:avLst/>
          </a:prstGeom>
        </p:spPr>
      </p:pic>
      <p:pic>
        <p:nvPicPr>
          <p:cNvPr id="126" name="Picture 125">
            <a:extLst>
              <a:ext uri="{FF2B5EF4-FFF2-40B4-BE49-F238E27FC236}">
                <a16:creationId xmlns:a16="http://schemas.microsoft.com/office/drawing/2014/main" id="{AE127D13-4651-4149-B3FB-C87DB9C7ECBC}"/>
              </a:ext>
            </a:extLst>
          </p:cNvPr>
          <p:cNvPicPr>
            <a:picLocks noChangeAspect="1"/>
          </p:cNvPicPr>
          <p:nvPr/>
        </p:nvPicPr>
        <p:blipFill>
          <a:blip r:embed="rId24">
            <a:extLst>
              <a:ext uri="{28A0092B-C50C-407E-A947-70E740481C1C}">
                <a14:useLocalDpi xmlns:a14="http://schemas.microsoft.com/office/drawing/2010/main" val="0"/>
              </a:ext>
            </a:extLst>
          </a:blip>
          <a:stretch>
            <a:fillRect/>
          </a:stretch>
        </p:blipFill>
        <p:spPr>
          <a:xfrm>
            <a:off x="592820" y="1973474"/>
            <a:ext cx="585662" cy="826207"/>
          </a:xfrm>
          <a:prstGeom prst="rect">
            <a:avLst/>
          </a:prstGeom>
        </p:spPr>
      </p:pic>
      <p:pic>
        <p:nvPicPr>
          <p:cNvPr id="127" name="Picture 126">
            <a:extLst>
              <a:ext uri="{FF2B5EF4-FFF2-40B4-BE49-F238E27FC236}">
                <a16:creationId xmlns:a16="http://schemas.microsoft.com/office/drawing/2014/main" id="{B44F5D75-04B7-4666-91D4-A51233CB7010}"/>
              </a:ext>
            </a:extLst>
          </p:cNvPr>
          <p:cNvPicPr>
            <a:picLocks noChangeAspect="1"/>
          </p:cNvPicPr>
          <p:nvPr/>
        </p:nvPicPr>
        <p:blipFill>
          <a:blip r:embed="rId24">
            <a:extLst>
              <a:ext uri="{28A0092B-C50C-407E-A947-70E740481C1C}">
                <a14:useLocalDpi xmlns:a14="http://schemas.microsoft.com/office/drawing/2010/main" val="0"/>
              </a:ext>
            </a:extLst>
          </a:blip>
          <a:stretch>
            <a:fillRect/>
          </a:stretch>
        </p:blipFill>
        <p:spPr>
          <a:xfrm>
            <a:off x="592820" y="2866516"/>
            <a:ext cx="585662" cy="826207"/>
          </a:xfrm>
          <a:prstGeom prst="rect">
            <a:avLst/>
          </a:prstGeom>
        </p:spPr>
      </p:pic>
      <p:pic>
        <p:nvPicPr>
          <p:cNvPr id="128" name="Picture 127">
            <a:extLst>
              <a:ext uri="{FF2B5EF4-FFF2-40B4-BE49-F238E27FC236}">
                <a16:creationId xmlns:a16="http://schemas.microsoft.com/office/drawing/2014/main" id="{CD66C9A3-F875-430E-916B-7FC4747DDF36}"/>
              </a:ext>
            </a:extLst>
          </p:cNvPr>
          <p:cNvPicPr>
            <a:picLocks noChangeAspect="1"/>
          </p:cNvPicPr>
          <p:nvPr/>
        </p:nvPicPr>
        <p:blipFill>
          <a:blip r:embed="rId24">
            <a:extLst>
              <a:ext uri="{28A0092B-C50C-407E-A947-70E740481C1C}">
                <a14:useLocalDpi xmlns:a14="http://schemas.microsoft.com/office/drawing/2010/main" val="0"/>
              </a:ext>
            </a:extLst>
          </a:blip>
          <a:stretch>
            <a:fillRect/>
          </a:stretch>
        </p:blipFill>
        <p:spPr>
          <a:xfrm>
            <a:off x="592820" y="3770190"/>
            <a:ext cx="585662" cy="826207"/>
          </a:xfrm>
          <a:prstGeom prst="rect">
            <a:avLst/>
          </a:prstGeom>
        </p:spPr>
      </p:pic>
      <p:pic>
        <p:nvPicPr>
          <p:cNvPr id="129" name="Picture 128">
            <a:extLst>
              <a:ext uri="{FF2B5EF4-FFF2-40B4-BE49-F238E27FC236}">
                <a16:creationId xmlns:a16="http://schemas.microsoft.com/office/drawing/2014/main" id="{9DB5F8D3-C6EE-4407-B2CA-E3FDB556D471}"/>
              </a:ext>
            </a:extLst>
          </p:cNvPr>
          <p:cNvPicPr>
            <a:picLocks noChangeAspect="1"/>
          </p:cNvPicPr>
          <p:nvPr/>
        </p:nvPicPr>
        <p:blipFill>
          <a:blip r:embed="rId24">
            <a:extLst>
              <a:ext uri="{28A0092B-C50C-407E-A947-70E740481C1C}">
                <a14:useLocalDpi xmlns:a14="http://schemas.microsoft.com/office/drawing/2010/main" val="0"/>
              </a:ext>
            </a:extLst>
          </a:blip>
          <a:stretch>
            <a:fillRect/>
          </a:stretch>
        </p:blipFill>
        <p:spPr>
          <a:xfrm>
            <a:off x="592820" y="4684496"/>
            <a:ext cx="585662" cy="826207"/>
          </a:xfrm>
          <a:prstGeom prst="rect">
            <a:avLst/>
          </a:prstGeom>
        </p:spPr>
      </p:pic>
      <p:pic>
        <p:nvPicPr>
          <p:cNvPr id="130" name="Picture 129">
            <a:extLst>
              <a:ext uri="{FF2B5EF4-FFF2-40B4-BE49-F238E27FC236}">
                <a16:creationId xmlns:a16="http://schemas.microsoft.com/office/drawing/2014/main" id="{71E9EDEE-DC89-4B57-A74B-CC3CD963CEDA}"/>
              </a:ext>
            </a:extLst>
          </p:cNvPr>
          <p:cNvPicPr>
            <a:picLocks noChangeAspect="1"/>
          </p:cNvPicPr>
          <p:nvPr/>
        </p:nvPicPr>
        <p:blipFill>
          <a:blip r:embed="rId24">
            <a:extLst>
              <a:ext uri="{28A0092B-C50C-407E-A947-70E740481C1C}">
                <a14:useLocalDpi xmlns:a14="http://schemas.microsoft.com/office/drawing/2010/main" val="0"/>
              </a:ext>
            </a:extLst>
          </a:blip>
          <a:stretch>
            <a:fillRect/>
          </a:stretch>
        </p:blipFill>
        <p:spPr>
          <a:xfrm>
            <a:off x="592820" y="5651962"/>
            <a:ext cx="585662" cy="826207"/>
          </a:xfrm>
          <a:prstGeom prst="rect">
            <a:avLst/>
          </a:prstGeom>
        </p:spPr>
      </p:pic>
      <p:sp>
        <p:nvSpPr>
          <p:cNvPr id="4" name="TextBox 3">
            <a:extLst>
              <a:ext uri="{FF2B5EF4-FFF2-40B4-BE49-F238E27FC236}">
                <a16:creationId xmlns:a16="http://schemas.microsoft.com/office/drawing/2014/main" id="{2526DEF0-ED7F-456C-8E7E-D73389838881}"/>
              </a:ext>
            </a:extLst>
          </p:cNvPr>
          <p:cNvSpPr txBox="1"/>
          <p:nvPr/>
        </p:nvSpPr>
        <p:spPr>
          <a:xfrm>
            <a:off x="758588" y="2195838"/>
            <a:ext cx="258096" cy="261610"/>
          </a:xfrm>
          <a:prstGeom prst="rect">
            <a:avLst/>
          </a:prstGeom>
          <a:noFill/>
        </p:spPr>
        <p:txBody>
          <a:bodyPr wrap="square" rtlCol="0">
            <a:spAutoFit/>
          </a:bodyPr>
          <a:lstStyle/>
          <a:p>
            <a:r>
              <a:rPr lang="en-US" sz="1100" dirty="0"/>
              <a:t>2</a:t>
            </a:r>
          </a:p>
        </p:txBody>
      </p:sp>
      <p:sp>
        <p:nvSpPr>
          <p:cNvPr id="131" name="TextBox 130">
            <a:extLst>
              <a:ext uri="{FF2B5EF4-FFF2-40B4-BE49-F238E27FC236}">
                <a16:creationId xmlns:a16="http://schemas.microsoft.com/office/drawing/2014/main" id="{BA2E6B9D-E52F-4F61-8223-8B475197B613}"/>
              </a:ext>
            </a:extLst>
          </p:cNvPr>
          <p:cNvSpPr txBox="1"/>
          <p:nvPr/>
        </p:nvSpPr>
        <p:spPr>
          <a:xfrm>
            <a:off x="756134" y="3100407"/>
            <a:ext cx="258096" cy="261610"/>
          </a:xfrm>
          <a:prstGeom prst="rect">
            <a:avLst/>
          </a:prstGeom>
          <a:noFill/>
        </p:spPr>
        <p:txBody>
          <a:bodyPr wrap="square" rtlCol="0">
            <a:spAutoFit/>
          </a:bodyPr>
          <a:lstStyle/>
          <a:p>
            <a:r>
              <a:rPr lang="en-US" sz="1100" dirty="0"/>
              <a:t>3</a:t>
            </a:r>
          </a:p>
        </p:txBody>
      </p:sp>
      <p:sp>
        <p:nvSpPr>
          <p:cNvPr id="132" name="TextBox 131">
            <a:extLst>
              <a:ext uri="{FF2B5EF4-FFF2-40B4-BE49-F238E27FC236}">
                <a16:creationId xmlns:a16="http://schemas.microsoft.com/office/drawing/2014/main" id="{6CBA262B-B7D4-433D-BA06-2E198F82F4F2}"/>
              </a:ext>
            </a:extLst>
          </p:cNvPr>
          <p:cNvSpPr txBox="1"/>
          <p:nvPr/>
        </p:nvSpPr>
        <p:spPr>
          <a:xfrm>
            <a:off x="753680" y="3997602"/>
            <a:ext cx="258096" cy="261610"/>
          </a:xfrm>
          <a:prstGeom prst="rect">
            <a:avLst/>
          </a:prstGeom>
          <a:noFill/>
        </p:spPr>
        <p:txBody>
          <a:bodyPr wrap="square" rtlCol="0">
            <a:spAutoFit/>
          </a:bodyPr>
          <a:lstStyle/>
          <a:p>
            <a:r>
              <a:rPr lang="en-US" sz="1100" dirty="0"/>
              <a:t>4</a:t>
            </a:r>
          </a:p>
        </p:txBody>
      </p:sp>
      <p:sp>
        <p:nvSpPr>
          <p:cNvPr id="133" name="TextBox 132">
            <a:extLst>
              <a:ext uri="{FF2B5EF4-FFF2-40B4-BE49-F238E27FC236}">
                <a16:creationId xmlns:a16="http://schemas.microsoft.com/office/drawing/2014/main" id="{03A21D12-AC42-4E99-9A26-26F0B7158F4C}"/>
              </a:ext>
            </a:extLst>
          </p:cNvPr>
          <p:cNvSpPr txBox="1"/>
          <p:nvPr/>
        </p:nvSpPr>
        <p:spPr>
          <a:xfrm>
            <a:off x="751226" y="4909545"/>
            <a:ext cx="258096" cy="261610"/>
          </a:xfrm>
          <a:prstGeom prst="rect">
            <a:avLst/>
          </a:prstGeom>
          <a:noFill/>
        </p:spPr>
        <p:txBody>
          <a:bodyPr wrap="square" rtlCol="0">
            <a:spAutoFit/>
          </a:bodyPr>
          <a:lstStyle/>
          <a:p>
            <a:r>
              <a:rPr lang="en-US" sz="1100" dirty="0"/>
              <a:t>5</a:t>
            </a:r>
          </a:p>
        </p:txBody>
      </p:sp>
      <p:sp>
        <p:nvSpPr>
          <p:cNvPr id="134" name="TextBox 133">
            <a:extLst>
              <a:ext uri="{FF2B5EF4-FFF2-40B4-BE49-F238E27FC236}">
                <a16:creationId xmlns:a16="http://schemas.microsoft.com/office/drawing/2014/main" id="{8D2254A0-2477-4319-99D6-38813A385DA7}"/>
              </a:ext>
            </a:extLst>
          </p:cNvPr>
          <p:cNvSpPr txBox="1"/>
          <p:nvPr/>
        </p:nvSpPr>
        <p:spPr>
          <a:xfrm>
            <a:off x="756146" y="5865732"/>
            <a:ext cx="258096" cy="261610"/>
          </a:xfrm>
          <a:prstGeom prst="rect">
            <a:avLst/>
          </a:prstGeom>
          <a:noFill/>
        </p:spPr>
        <p:txBody>
          <a:bodyPr wrap="square" rtlCol="0">
            <a:spAutoFit/>
          </a:bodyPr>
          <a:lstStyle/>
          <a:p>
            <a:r>
              <a:rPr lang="en-US" sz="1100" dirty="0"/>
              <a:t>6</a:t>
            </a:r>
          </a:p>
        </p:txBody>
      </p:sp>
      <p:sp>
        <p:nvSpPr>
          <p:cNvPr id="38" name="Rectangle 37">
            <a:extLst>
              <a:ext uri="{FF2B5EF4-FFF2-40B4-BE49-F238E27FC236}">
                <a16:creationId xmlns:a16="http://schemas.microsoft.com/office/drawing/2014/main" id="{70B960AF-D27F-49FB-8D2D-D81E1017C7D4}"/>
              </a:ext>
            </a:extLst>
          </p:cNvPr>
          <p:cNvSpPr/>
          <p:nvPr/>
        </p:nvSpPr>
        <p:spPr>
          <a:xfrm>
            <a:off x="5470357" y="1069614"/>
            <a:ext cx="3209090" cy="82620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DEFINE YOUR ENTERPRISE DNA (INDUSTRY/SECTOR)</a:t>
            </a:r>
          </a:p>
        </p:txBody>
      </p:sp>
      <p:sp>
        <p:nvSpPr>
          <p:cNvPr id="135" name="Rectangle 134">
            <a:extLst>
              <a:ext uri="{FF2B5EF4-FFF2-40B4-BE49-F238E27FC236}">
                <a16:creationId xmlns:a16="http://schemas.microsoft.com/office/drawing/2014/main" id="{3D48ACC2-4BBF-4006-A961-3766D75FCC8F}"/>
              </a:ext>
            </a:extLst>
          </p:cNvPr>
          <p:cNvSpPr/>
          <p:nvPr/>
        </p:nvSpPr>
        <p:spPr>
          <a:xfrm>
            <a:off x="5470357" y="1973646"/>
            <a:ext cx="3209090" cy="826205"/>
          </a:xfrm>
          <a:prstGeom prst="rect">
            <a:avLst/>
          </a:prstGeom>
          <a:solidFill>
            <a:schemeClr val="bg1"/>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DEFINE YOUR: CORPORATE VALUES</a:t>
            </a:r>
          </a:p>
        </p:txBody>
      </p:sp>
      <p:sp>
        <p:nvSpPr>
          <p:cNvPr id="136" name="Rectangle 135">
            <a:extLst>
              <a:ext uri="{FF2B5EF4-FFF2-40B4-BE49-F238E27FC236}">
                <a16:creationId xmlns:a16="http://schemas.microsoft.com/office/drawing/2014/main" id="{23CC28D1-9784-4FAD-A24F-0FCCB8BBCB8D}"/>
              </a:ext>
            </a:extLst>
          </p:cNvPr>
          <p:cNvSpPr/>
          <p:nvPr/>
        </p:nvSpPr>
        <p:spPr>
          <a:xfrm>
            <a:off x="5470357" y="2892721"/>
            <a:ext cx="3209090" cy="826205"/>
          </a:xfrm>
          <a:prstGeom prst="rect">
            <a:avLst/>
          </a:pr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DEFINE YOUR: PEOPLE</a:t>
            </a:r>
          </a:p>
        </p:txBody>
      </p:sp>
      <p:sp>
        <p:nvSpPr>
          <p:cNvPr id="137" name="Rectangle 136">
            <a:extLst>
              <a:ext uri="{FF2B5EF4-FFF2-40B4-BE49-F238E27FC236}">
                <a16:creationId xmlns:a16="http://schemas.microsoft.com/office/drawing/2014/main" id="{A4273C04-5A99-4573-9804-5F8B16A1BEE0}"/>
              </a:ext>
            </a:extLst>
          </p:cNvPr>
          <p:cNvSpPr/>
          <p:nvPr/>
        </p:nvSpPr>
        <p:spPr>
          <a:xfrm>
            <a:off x="5470357" y="3779712"/>
            <a:ext cx="3209090" cy="826205"/>
          </a:xfrm>
          <a:prstGeom prst="rect">
            <a:avLst/>
          </a:prstGeom>
          <a:solidFill>
            <a:schemeClr val="bg1"/>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b="1" dirty="0">
                <a:solidFill>
                  <a:schemeClr val="tx1"/>
                </a:solidFill>
              </a:rPr>
              <a:t>DEFINE YOUR: SYSTEMS</a:t>
            </a:r>
          </a:p>
        </p:txBody>
      </p:sp>
      <p:sp>
        <p:nvSpPr>
          <p:cNvPr id="138" name="Rectangle 137">
            <a:extLst>
              <a:ext uri="{FF2B5EF4-FFF2-40B4-BE49-F238E27FC236}">
                <a16:creationId xmlns:a16="http://schemas.microsoft.com/office/drawing/2014/main" id="{92A740B1-DA87-42B8-90C2-1EDE20D30613}"/>
              </a:ext>
            </a:extLst>
          </p:cNvPr>
          <p:cNvSpPr/>
          <p:nvPr/>
        </p:nvSpPr>
        <p:spPr>
          <a:xfrm>
            <a:off x="5470357" y="4666703"/>
            <a:ext cx="3209090" cy="826205"/>
          </a:xfrm>
          <a:prstGeom prst="rect">
            <a:avLst/>
          </a:prstGeom>
          <a:solidFill>
            <a:schemeClr val="bg1"/>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DEFINE YOUR: MARKETS</a:t>
            </a:r>
          </a:p>
        </p:txBody>
      </p:sp>
      <p:sp>
        <p:nvSpPr>
          <p:cNvPr id="139" name="Rectangle 138">
            <a:extLst>
              <a:ext uri="{FF2B5EF4-FFF2-40B4-BE49-F238E27FC236}">
                <a16:creationId xmlns:a16="http://schemas.microsoft.com/office/drawing/2014/main" id="{FC64F5B0-E892-4F76-BB2B-03933ECD68EB}"/>
              </a:ext>
            </a:extLst>
          </p:cNvPr>
          <p:cNvSpPr/>
          <p:nvPr/>
        </p:nvSpPr>
        <p:spPr>
          <a:xfrm>
            <a:off x="5470357" y="5599475"/>
            <a:ext cx="3209090" cy="826205"/>
          </a:xfrm>
          <a:prstGeom prst="rect">
            <a:avLst/>
          </a:prstGeom>
          <a:solidFill>
            <a:schemeClr val="bg1"/>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DEFINE YOUR: OPTIMIZE VALUE</a:t>
            </a:r>
          </a:p>
        </p:txBody>
      </p:sp>
      <p:sp>
        <p:nvSpPr>
          <p:cNvPr id="140" name="TextBox 139">
            <a:extLst>
              <a:ext uri="{FF2B5EF4-FFF2-40B4-BE49-F238E27FC236}">
                <a16:creationId xmlns:a16="http://schemas.microsoft.com/office/drawing/2014/main" id="{93213A6C-84D7-42B3-93B6-D43D80EEA617}"/>
              </a:ext>
            </a:extLst>
          </p:cNvPr>
          <p:cNvSpPr txBox="1"/>
          <p:nvPr/>
        </p:nvSpPr>
        <p:spPr>
          <a:xfrm>
            <a:off x="5914699" y="432320"/>
            <a:ext cx="3788979" cy="461665"/>
          </a:xfrm>
          <a:prstGeom prst="rect">
            <a:avLst/>
          </a:prstGeom>
          <a:noFill/>
        </p:spPr>
        <p:txBody>
          <a:bodyPr wrap="square" rtlCol="0">
            <a:spAutoFit/>
          </a:bodyPr>
          <a:lstStyle/>
          <a:p>
            <a:pPr algn="ctr"/>
            <a:r>
              <a:rPr lang="en-US" sz="2400" b="1" dirty="0"/>
              <a:t>CARD TYPOLOGY</a:t>
            </a:r>
          </a:p>
        </p:txBody>
      </p:sp>
      <p:sp>
        <p:nvSpPr>
          <p:cNvPr id="141" name="Rectangle 140">
            <a:extLst>
              <a:ext uri="{FF2B5EF4-FFF2-40B4-BE49-F238E27FC236}">
                <a16:creationId xmlns:a16="http://schemas.microsoft.com/office/drawing/2014/main" id="{25B7C596-C91F-4DE7-B4A1-CD154674EEBB}"/>
              </a:ext>
            </a:extLst>
          </p:cNvPr>
          <p:cNvSpPr/>
          <p:nvPr/>
        </p:nvSpPr>
        <p:spPr>
          <a:xfrm>
            <a:off x="1226416" y="3779712"/>
            <a:ext cx="588442" cy="111902"/>
          </a:xfrm>
          <a:prstGeom prst="rect">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dirty="0">
                <a:solidFill>
                  <a:schemeClr val="tx1"/>
                </a:solidFill>
                <a:latin typeface="Bauhaus 93" panose="04030905020B02020C02" pitchFamily="82" charset="0"/>
              </a:rPr>
              <a:t>COMPLIANCE</a:t>
            </a:r>
          </a:p>
        </p:txBody>
      </p:sp>
      <p:sp>
        <p:nvSpPr>
          <p:cNvPr id="142" name="Rectangle 141">
            <a:extLst>
              <a:ext uri="{FF2B5EF4-FFF2-40B4-BE49-F238E27FC236}">
                <a16:creationId xmlns:a16="http://schemas.microsoft.com/office/drawing/2014/main" id="{417233BC-4BA7-4F05-91F0-FF8889D0FC28}"/>
              </a:ext>
            </a:extLst>
          </p:cNvPr>
          <p:cNvSpPr/>
          <p:nvPr/>
        </p:nvSpPr>
        <p:spPr>
          <a:xfrm>
            <a:off x="1253861" y="1403345"/>
            <a:ext cx="285424" cy="15112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b="1" dirty="0">
                <a:solidFill>
                  <a:schemeClr val="tx1"/>
                </a:solidFill>
              </a:rPr>
              <a:t>+10</a:t>
            </a:r>
          </a:p>
        </p:txBody>
      </p:sp>
      <p:sp>
        <p:nvSpPr>
          <p:cNvPr id="144" name="Rectangle 143">
            <a:extLst>
              <a:ext uri="{FF2B5EF4-FFF2-40B4-BE49-F238E27FC236}">
                <a16:creationId xmlns:a16="http://schemas.microsoft.com/office/drawing/2014/main" id="{C2F23EB2-1992-41EB-AAAB-E93A70DFB808}"/>
              </a:ext>
            </a:extLst>
          </p:cNvPr>
          <p:cNvSpPr/>
          <p:nvPr/>
        </p:nvSpPr>
        <p:spPr>
          <a:xfrm>
            <a:off x="1870761" y="1403332"/>
            <a:ext cx="285424" cy="15112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b="1" dirty="0">
                <a:solidFill>
                  <a:schemeClr val="tx1"/>
                </a:solidFill>
              </a:rPr>
              <a:t>+10</a:t>
            </a:r>
          </a:p>
        </p:txBody>
      </p:sp>
      <p:sp>
        <p:nvSpPr>
          <p:cNvPr id="145" name="Rectangle 144">
            <a:extLst>
              <a:ext uri="{FF2B5EF4-FFF2-40B4-BE49-F238E27FC236}">
                <a16:creationId xmlns:a16="http://schemas.microsoft.com/office/drawing/2014/main" id="{06DD5AD8-9320-4F43-AB2D-B3C82FD813C8}"/>
              </a:ext>
            </a:extLst>
          </p:cNvPr>
          <p:cNvSpPr/>
          <p:nvPr/>
        </p:nvSpPr>
        <p:spPr>
          <a:xfrm>
            <a:off x="2571481" y="1403319"/>
            <a:ext cx="285424" cy="15112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b="1" dirty="0">
                <a:solidFill>
                  <a:schemeClr val="tx1"/>
                </a:solidFill>
              </a:rPr>
              <a:t>+10</a:t>
            </a:r>
          </a:p>
        </p:txBody>
      </p:sp>
      <p:sp>
        <p:nvSpPr>
          <p:cNvPr id="146" name="Rectangle 145">
            <a:extLst>
              <a:ext uri="{FF2B5EF4-FFF2-40B4-BE49-F238E27FC236}">
                <a16:creationId xmlns:a16="http://schemas.microsoft.com/office/drawing/2014/main" id="{EB512B49-8F8C-469D-8C07-A120B2C56EFD}"/>
              </a:ext>
            </a:extLst>
          </p:cNvPr>
          <p:cNvSpPr/>
          <p:nvPr/>
        </p:nvSpPr>
        <p:spPr>
          <a:xfrm>
            <a:off x="3218861" y="1403306"/>
            <a:ext cx="285424" cy="15112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b="1" dirty="0">
                <a:solidFill>
                  <a:schemeClr val="tx1"/>
                </a:solidFill>
              </a:rPr>
              <a:t>+10</a:t>
            </a:r>
          </a:p>
        </p:txBody>
      </p:sp>
      <p:sp>
        <p:nvSpPr>
          <p:cNvPr id="147" name="Rectangle 146">
            <a:extLst>
              <a:ext uri="{FF2B5EF4-FFF2-40B4-BE49-F238E27FC236}">
                <a16:creationId xmlns:a16="http://schemas.microsoft.com/office/drawing/2014/main" id="{A56FE3D5-F551-4A41-87D1-D8C11B28E718}"/>
              </a:ext>
            </a:extLst>
          </p:cNvPr>
          <p:cNvSpPr/>
          <p:nvPr/>
        </p:nvSpPr>
        <p:spPr>
          <a:xfrm>
            <a:off x="3904340" y="1388053"/>
            <a:ext cx="397149" cy="15112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b="1" dirty="0">
                <a:solidFill>
                  <a:schemeClr val="tx1"/>
                </a:solidFill>
              </a:rPr>
              <a:t>+100</a:t>
            </a:r>
          </a:p>
        </p:txBody>
      </p:sp>
      <p:sp>
        <p:nvSpPr>
          <p:cNvPr id="148" name="Rectangle 147">
            <a:extLst>
              <a:ext uri="{FF2B5EF4-FFF2-40B4-BE49-F238E27FC236}">
                <a16:creationId xmlns:a16="http://schemas.microsoft.com/office/drawing/2014/main" id="{E6AFDDFE-6393-4DC5-A318-29ACFB87C945}"/>
              </a:ext>
            </a:extLst>
          </p:cNvPr>
          <p:cNvSpPr/>
          <p:nvPr/>
        </p:nvSpPr>
        <p:spPr>
          <a:xfrm>
            <a:off x="4525051" y="1376610"/>
            <a:ext cx="285424" cy="15112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b="1" dirty="0">
                <a:solidFill>
                  <a:schemeClr val="tx1"/>
                </a:solidFill>
              </a:rPr>
              <a:t>+10</a:t>
            </a:r>
          </a:p>
        </p:txBody>
      </p:sp>
      <p:sp>
        <p:nvSpPr>
          <p:cNvPr id="149" name="Rectangle 148">
            <a:extLst>
              <a:ext uri="{FF2B5EF4-FFF2-40B4-BE49-F238E27FC236}">
                <a16:creationId xmlns:a16="http://schemas.microsoft.com/office/drawing/2014/main" id="{D4B8E741-3F37-4404-B77D-9E26A3F2D7D7}"/>
              </a:ext>
            </a:extLst>
          </p:cNvPr>
          <p:cNvSpPr/>
          <p:nvPr/>
        </p:nvSpPr>
        <p:spPr>
          <a:xfrm>
            <a:off x="1253861" y="2229550"/>
            <a:ext cx="285424" cy="15112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b="1" dirty="0">
                <a:solidFill>
                  <a:schemeClr val="tx1"/>
                </a:solidFill>
              </a:rPr>
              <a:t>+20</a:t>
            </a:r>
          </a:p>
        </p:txBody>
      </p:sp>
      <p:sp>
        <p:nvSpPr>
          <p:cNvPr id="150" name="Rectangle 149">
            <a:extLst>
              <a:ext uri="{FF2B5EF4-FFF2-40B4-BE49-F238E27FC236}">
                <a16:creationId xmlns:a16="http://schemas.microsoft.com/office/drawing/2014/main" id="{EE0A3F7C-39DD-4178-B3A6-3DBA6F140FAE}"/>
              </a:ext>
            </a:extLst>
          </p:cNvPr>
          <p:cNvSpPr/>
          <p:nvPr/>
        </p:nvSpPr>
        <p:spPr>
          <a:xfrm>
            <a:off x="1894778" y="2229550"/>
            <a:ext cx="285424" cy="15112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b="1" dirty="0">
                <a:solidFill>
                  <a:schemeClr val="tx1"/>
                </a:solidFill>
              </a:rPr>
              <a:t>+20</a:t>
            </a:r>
          </a:p>
        </p:txBody>
      </p:sp>
      <p:sp>
        <p:nvSpPr>
          <p:cNvPr id="151" name="Rectangle 150">
            <a:extLst>
              <a:ext uri="{FF2B5EF4-FFF2-40B4-BE49-F238E27FC236}">
                <a16:creationId xmlns:a16="http://schemas.microsoft.com/office/drawing/2014/main" id="{0D43BEA6-E149-4D08-A1AB-B7B34FF5AE58}"/>
              </a:ext>
            </a:extLst>
          </p:cNvPr>
          <p:cNvSpPr/>
          <p:nvPr/>
        </p:nvSpPr>
        <p:spPr>
          <a:xfrm>
            <a:off x="2558555" y="2237170"/>
            <a:ext cx="285424" cy="15112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b="1" dirty="0">
                <a:solidFill>
                  <a:schemeClr val="tx1"/>
                </a:solidFill>
              </a:rPr>
              <a:t>+20</a:t>
            </a:r>
          </a:p>
        </p:txBody>
      </p:sp>
      <p:sp>
        <p:nvSpPr>
          <p:cNvPr id="152" name="Rectangle 151">
            <a:extLst>
              <a:ext uri="{FF2B5EF4-FFF2-40B4-BE49-F238E27FC236}">
                <a16:creationId xmlns:a16="http://schemas.microsoft.com/office/drawing/2014/main" id="{EB00885B-BDE9-4FE6-ADD4-A53AC094E3E1}"/>
              </a:ext>
            </a:extLst>
          </p:cNvPr>
          <p:cNvSpPr/>
          <p:nvPr/>
        </p:nvSpPr>
        <p:spPr>
          <a:xfrm>
            <a:off x="1243230" y="3125245"/>
            <a:ext cx="285424" cy="15112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b="1" dirty="0">
                <a:solidFill>
                  <a:schemeClr val="tx1"/>
                </a:solidFill>
              </a:rPr>
              <a:t>+15</a:t>
            </a:r>
          </a:p>
        </p:txBody>
      </p:sp>
      <p:sp>
        <p:nvSpPr>
          <p:cNvPr id="153" name="Rectangle 152">
            <a:extLst>
              <a:ext uri="{FF2B5EF4-FFF2-40B4-BE49-F238E27FC236}">
                <a16:creationId xmlns:a16="http://schemas.microsoft.com/office/drawing/2014/main" id="{8EA8880C-F157-426E-A289-B4472E71DA53}"/>
              </a:ext>
            </a:extLst>
          </p:cNvPr>
          <p:cNvSpPr/>
          <p:nvPr/>
        </p:nvSpPr>
        <p:spPr>
          <a:xfrm>
            <a:off x="1894778" y="3128073"/>
            <a:ext cx="285424" cy="15112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b="1" dirty="0">
                <a:solidFill>
                  <a:schemeClr val="tx1"/>
                </a:solidFill>
              </a:rPr>
              <a:t>+15</a:t>
            </a:r>
          </a:p>
        </p:txBody>
      </p:sp>
      <p:sp>
        <p:nvSpPr>
          <p:cNvPr id="154" name="Rectangle 153">
            <a:extLst>
              <a:ext uri="{FF2B5EF4-FFF2-40B4-BE49-F238E27FC236}">
                <a16:creationId xmlns:a16="http://schemas.microsoft.com/office/drawing/2014/main" id="{D3F0E629-921A-464B-9688-43D855AEF8EE}"/>
              </a:ext>
            </a:extLst>
          </p:cNvPr>
          <p:cNvSpPr/>
          <p:nvPr/>
        </p:nvSpPr>
        <p:spPr>
          <a:xfrm>
            <a:off x="2576806" y="3134711"/>
            <a:ext cx="285424" cy="15112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b="1" dirty="0">
                <a:solidFill>
                  <a:schemeClr val="tx1"/>
                </a:solidFill>
              </a:rPr>
              <a:t>+15</a:t>
            </a:r>
          </a:p>
        </p:txBody>
      </p:sp>
      <p:sp>
        <p:nvSpPr>
          <p:cNvPr id="155" name="Rectangle 154">
            <a:extLst>
              <a:ext uri="{FF2B5EF4-FFF2-40B4-BE49-F238E27FC236}">
                <a16:creationId xmlns:a16="http://schemas.microsoft.com/office/drawing/2014/main" id="{FF5C726F-268A-4C97-8F3E-F66EF8AE4196}"/>
              </a:ext>
            </a:extLst>
          </p:cNvPr>
          <p:cNvSpPr/>
          <p:nvPr/>
        </p:nvSpPr>
        <p:spPr>
          <a:xfrm>
            <a:off x="3258834" y="3141349"/>
            <a:ext cx="285424" cy="15112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b="1" dirty="0">
                <a:solidFill>
                  <a:schemeClr val="tx1"/>
                </a:solidFill>
              </a:rPr>
              <a:t>+15</a:t>
            </a:r>
          </a:p>
        </p:txBody>
      </p:sp>
      <p:sp>
        <p:nvSpPr>
          <p:cNvPr id="156" name="Rectangle 155">
            <a:extLst>
              <a:ext uri="{FF2B5EF4-FFF2-40B4-BE49-F238E27FC236}">
                <a16:creationId xmlns:a16="http://schemas.microsoft.com/office/drawing/2014/main" id="{29B6F99F-A443-4DDF-A094-7D928701C5BE}"/>
              </a:ext>
            </a:extLst>
          </p:cNvPr>
          <p:cNvSpPr/>
          <p:nvPr/>
        </p:nvSpPr>
        <p:spPr>
          <a:xfrm>
            <a:off x="1243230" y="4041692"/>
            <a:ext cx="285424" cy="15112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b="1" dirty="0">
                <a:solidFill>
                  <a:schemeClr val="tx1"/>
                </a:solidFill>
              </a:rPr>
              <a:t>+10</a:t>
            </a:r>
          </a:p>
        </p:txBody>
      </p:sp>
      <p:sp>
        <p:nvSpPr>
          <p:cNvPr id="157" name="Rectangle 156">
            <a:extLst>
              <a:ext uri="{FF2B5EF4-FFF2-40B4-BE49-F238E27FC236}">
                <a16:creationId xmlns:a16="http://schemas.microsoft.com/office/drawing/2014/main" id="{242E5E63-DEB7-46DC-8179-A399CC8E5E1A}"/>
              </a:ext>
            </a:extLst>
          </p:cNvPr>
          <p:cNvSpPr/>
          <p:nvPr/>
        </p:nvSpPr>
        <p:spPr>
          <a:xfrm>
            <a:off x="1905189" y="4022358"/>
            <a:ext cx="285424" cy="15112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b="1" dirty="0">
                <a:solidFill>
                  <a:schemeClr val="tx1"/>
                </a:solidFill>
              </a:rPr>
              <a:t>+10</a:t>
            </a:r>
          </a:p>
        </p:txBody>
      </p:sp>
      <p:sp>
        <p:nvSpPr>
          <p:cNvPr id="158" name="Rectangle 157">
            <a:extLst>
              <a:ext uri="{FF2B5EF4-FFF2-40B4-BE49-F238E27FC236}">
                <a16:creationId xmlns:a16="http://schemas.microsoft.com/office/drawing/2014/main" id="{4C72F6D7-DFF1-42C7-B1CA-376F10FD1443}"/>
              </a:ext>
            </a:extLst>
          </p:cNvPr>
          <p:cNvSpPr/>
          <p:nvPr/>
        </p:nvSpPr>
        <p:spPr>
          <a:xfrm>
            <a:off x="2567148" y="4003024"/>
            <a:ext cx="285424" cy="15112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b="1" dirty="0">
                <a:solidFill>
                  <a:schemeClr val="tx1"/>
                </a:solidFill>
              </a:rPr>
              <a:t>+10</a:t>
            </a:r>
          </a:p>
        </p:txBody>
      </p:sp>
      <p:sp>
        <p:nvSpPr>
          <p:cNvPr id="159" name="Rectangle 158">
            <a:extLst>
              <a:ext uri="{FF2B5EF4-FFF2-40B4-BE49-F238E27FC236}">
                <a16:creationId xmlns:a16="http://schemas.microsoft.com/office/drawing/2014/main" id="{33CA2EAE-CAA5-460B-B935-2E7FA0550528}"/>
              </a:ext>
            </a:extLst>
          </p:cNvPr>
          <p:cNvSpPr/>
          <p:nvPr/>
        </p:nvSpPr>
        <p:spPr>
          <a:xfrm>
            <a:off x="3191876" y="4016631"/>
            <a:ext cx="285424" cy="15112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b="1" dirty="0">
                <a:solidFill>
                  <a:schemeClr val="tx1"/>
                </a:solidFill>
              </a:rPr>
              <a:t>+10</a:t>
            </a:r>
          </a:p>
        </p:txBody>
      </p:sp>
      <p:sp>
        <p:nvSpPr>
          <p:cNvPr id="160" name="Rectangle 159">
            <a:extLst>
              <a:ext uri="{FF2B5EF4-FFF2-40B4-BE49-F238E27FC236}">
                <a16:creationId xmlns:a16="http://schemas.microsoft.com/office/drawing/2014/main" id="{9E6F9B55-0580-41E4-BEC0-7C5262DF6498}"/>
              </a:ext>
            </a:extLst>
          </p:cNvPr>
          <p:cNvSpPr/>
          <p:nvPr/>
        </p:nvSpPr>
        <p:spPr>
          <a:xfrm>
            <a:off x="3839464" y="4026428"/>
            <a:ext cx="285424" cy="15112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b="1" dirty="0">
                <a:solidFill>
                  <a:schemeClr val="tx1"/>
                </a:solidFill>
              </a:rPr>
              <a:t>+10</a:t>
            </a:r>
          </a:p>
        </p:txBody>
      </p:sp>
      <p:sp>
        <p:nvSpPr>
          <p:cNvPr id="161" name="Rectangle 160">
            <a:extLst>
              <a:ext uri="{FF2B5EF4-FFF2-40B4-BE49-F238E27FC236}">
                <a16:creationId xmlns:a16="http://schemas.microsoft.com/office/drawing/2014/main" id="{E93D229A-DAB7-488A-B915-991DB0A3555D}"/>
              </a:ext>
            </a:extLst>
          </p:cNvPr>
          <p:cNvSpPr/>
          <p:nvPr/>
        </p:nvSpPr>
        <p:spPr>
          <a:xfrm>
            <a:off x="1243230" y="4946792"/>
            <a:ext cx="285424" cy="15112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b="1" dirty="0">
                <a:solidFill>
                  <a:schemeClr val="tx1"/>
                </a:solidFill>
              </a:rPr>
              <a:t>+25</a:t>
            </a:r>
          </a:p>
        </p:txBody>
      </p:sp>
      <p:sp>
        <p:nvSpPr>
          <p:cNvPr id="162" name="Rectangle 161">
            <a:extLst>
              <a:ext uri="{FF2B5EF4-FFF2-40B4-BE49-F238E27FC236}">
                <a16:creationId xmlns:a16="http://schemas.microsoft.com/office/drawing/2014/main" id="{8030B044-1249-4E97-B366-2DE99A56A38B}"/>
              </a:ext>
            </a:extLst>
          </p:cNvPr>
          <p:cNvSpPr/>
          <p:nvPr/>
        </p:nvSpPr>
        <p:spPr>
          <a:xfrm>
            <a:off x="1914032" y="4932890"/>
            <a:ext cx="285424" cy="15112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b="1" dirty="0">
                <a:solidFill>
                  <a:schemeClr val="tx1"/>
                </a:solidFill>
              </a:rPr>
              <a:t>+25</a:t>
            </a:r>
          </a:p>
        </p:txBody>
      </p:sp>
      <p:sp>
        <p:nvSpPr>
          <p:cNvPr id="163" name="Rectangle 162">
            <a:extLst>
              <a:ext uri="{FF2B5EF4-FFF2-40B4-BE49-F238E27FC236}">
                <a16:creationId xmlns:a16="http://schemas.microsoft.com/office/drawing/2014/main" id="{56D550C3-99DE-47FE-9A05-18ACE9436DBE}"/>
              </a:ext>
            </a:extLst>
          </p:cNvPr>
          <p:cNvSpPr/>
          <p:nvPr/>
        </p:nvSpPr>
        <p:spPr>
          <a:xfrm>
            <a:off x="2611659" y="4925948"/>
            <a:ext cx="285424" cy="15112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b="1" dirty="0">
                <a:solidFill>
                  <a:schemeClr val="tx1"/>
                </a:solidFill>
              </a:rPr>
              <a:t>+25</a:t>
            </a:r>
          </a:p>
        </p:txBody>
      </p:sp>
      <p:sp>
        <p:nvSpPr>
          <p:cNvPr id="69" name="Rectangle 68">
            <a:extLst>
              <a:ext uri="{FF2B5EF4-FFF2-40B4-BE49-F238E27FC236}">
                <a16:creationId xmlns:a16="http://schemas.microsoft.com/office/drawing/2014/main" id="{769E099C-079C-42A3-B3C4-A0EE74092B6B}"/>
              </a:ext>
            </a:extLst>
          </p:cNvPr>
          <p:cNvSpPr/>
          <p:nvPr/>
        </p:nvSpPr>
        <p:spPr>
          <a:xfrm>
            <a:off x="8730023" y="1090780"/>
            <a:ext cx="1865007" cy="82620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b="1" dirty="0">
                <a:solidFill>
                  <a:schemeClr val="tx1"/>
                </a:solidFill>
                <a:cs typeface="Calibri"/>
              </a:rPr>
              <a:t>WHERE DO YOU WANT TO OPERATE?</a:t>
            </a:r>
          </a:p>
        </p:txBody>
      </p:sp>
      <p:sp>
        <p:nvSpPr>
          <p:cNvPr id="70" name="Rectangle 69">
            <a:extLst>
              <a:ext uri="{FF2B5EF4-FFF2-40B4-BE49-F238E27FC236}">
                <a16:creationId xmlns:a16="http://schemas.microsoft.com/office/drawing/2014/main" id="{ABB0EEDE-17D6-48ED-AF29-E186E2E8B6F2}"/>
              </a:ext>
            </a:extLst>
          </p:cNvPr>
          <p:cNvSpPr/>
          <p:nvPr/>
        </p:nvSpPr>
        <p:spPr>
          <a:xfrm>
            <a:off x="8730023" y="1994812"/>
            <a:ext cx="1865007" cy="826205"/>
          </a:xfrm>
          <a:prstGeom prst="rect">
            <a:avLst/>
          </a:prstGeom>
          <a:solidFill>
            <a:schemeClr val="bg1"/>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b="1">
                <a:solidFill>
                  <a:schemeClr val="tx1"/>
                </a:solidFill>
                <a:cs typeface="Calibri"/>
              </a:rPr>
              <a:t>WHY ARE YOU DOING IT?</a:t>
            </a:r>
            <a:endParaRPr lang="en-US" sz="1400" b="1" dirty="0">
              <a:solidFill>
                <a:schemeClr val="tx1"/>
              </a:solidFill>
              <a:cs typeface="Calibri"/>
            </a:endParaRPr>
          </a:p>
        </p:txBody>
      </p:sp>
      <p:sp>
        <p:nvSpPr>
          <p:cNvPr id="71" name="Rectangle 70">
            <a:extLst>
              <a:ext uri="{FF2B5EF4-FFF2-40B4-BE49-F238E27FC236}">
                <a16:creationId xmlns:a16="http://schemas.microsoft.com/office/drawing/2014/main" id="{C76C887D-9DF5-4DA3-BA4B-5F7E1B9A2F43}"/>
              </a:ext>
            </a:extLst>
          </p:cNvPr>
          <p:cNvSpPr/>
          <p:nvPr/>
        </p:nvSpPr>
        <p:spPr>
          <a:xfrm>
            <a:off x="8730023" y="2913887"/>
            <a:ext cx="1865007" cy="826205"/>
          </a:xfrm>
          <a:prstGeom prst="rect">
            <a:avLst/>
          </a:pr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b="1">
                <a:solidFill>
                  <a:schemeClr val="tx1"/>
                </a:solidFill>
                <a:cs typeface="Calibri"/>
              </a:rPr>
              <a:t>WHO IS WITH YOU?</a:t>
            </a:r>
            <a:endParaRPr lang="en-US" sz="1400" b="1" dirty="0">
              <a:solidFill>
                <a:schemeClr val="tx1"/>
              </a:solidFill>
              <a:cs typeface="Calibri"/>
            </a:endParaRPr>
          </a:p>
        </p:txBody>
      </p:sp>
      <p:sp>
        <p:nvSpPr>
          <p:cNvPr id="72" name="Rectangle 71">
            <a:extLst>
              <a:ext uri="{FF2B5EF4-FFF2-40B4-BE49-F238E27FC236}">
                <a16:creationId xmlns:a16="http://schemas.microsoft.com/office/drawing/2014/main" id="{4589D8C4-CC2F-4E3D-9D56-CDD8EB398547}"/>
              </a:ext>
            </a:extLst>
          </p:cNvPr>
          <p:cNvSpPr/>
          <p:nvPr/>
        </p:nvSpPr>
        <p:spPr>
          <a:xfrm>
            <a:off x="8730023" y="3800878"/>
            <a:ext cx="1865007" cy="826205"/>
          </a:xfrm>
          <a:prstGeom prst="rect">
            <a:avLst/>
          </a:prstGeom>
          <a:solidFill>
            <a:schemeClr val="bg1"/>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b="1">
                <a:solidFill>
                  <a:schemeClr val="tx1"/>
                </a:solidFill>
                <a:cs typeface="Calibri"/>
              </a:rPr>
              <a:t>HOW DO YOU FULFILL PROMISES?</a:t>
            </a:r>
            <a:endParaRPr lang="en-US" sz="1400" b="1" dirty="0">
              <a:solidFill>
                <a:schemeClr val="tx1"/>
              </a:solidFill>
            </a:endParaRPr>
          </a:p>
        </p:txBody>
      </p:sp>
      <p:sp>
        <p:nvSpPr>
          <p:cNvPr id="73" name="Rectangle 72">
            <a:extLst>
              <a:ext uri="{FF2B5EF4-FFF2-40B4-BE49-F238E27FC236}">
                <a16:creationId xmlns:a16="http://schemas.microsoft.com/office/drawing/2014/main" id="{ADAA5F06-7048-40BC-A879-9B5D05FEC412}"/>
              </a:ext>
            </a:extLst>
          </p:cNvPr>
          <p:cNvSpPr/>
          <p:nvPr/>
        </p:nvSpPr>
        <p:spPr>
          <a:xfrm>
            <a:off x="8730023" y="4687869"/>
            <a:ext cx="1865007" cy="826205"/>
          </a:xfrm>
          <a:prstGeom prst="rect">
            <a:avLst/>
          </a:prstGeom>
          <a:solidFill>
            <a:schemeClr val="bg1"/>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b="1">
                <a:solidFill>
                  <a:schemeClr val="tx1"/>
                </a:solidFill>
                <a:cs typeface="Calibri"/>
              </a:rPr>
              <a:t>WHAT ARE THE OUTCOMES OF YOUR EFFORTS?</a:t>
            </a:r>
            <a:endParaRPr lang="en-US" sz="1400" b="1" dirty="0">
              <a:solidFill>
                <a:schemeClr val="tx1"/>
              </a:solidFill>
              <a:cs typeface="Calibri"/>
            </a:endParaRPr>
          </a:p>
        </p:txBody>
      </p:sp>
      <p:sp>
        <p:nvSpPr>
          <p:cNvPr id="74" name="Rectangle 73">
            <a:extLst>
              <a:ext uri="{FF2B5EF4-FFF2-40B4-BE49-F238E27FC236}">
                <a16:creationId xmlns:a16="http://schemas.microsoft.com/office/drawing/2014/main" id="{6647492F-107D-4CE9-AF57-20584AE38949}"/>
              </a:ext>
            </a:extLst>
          </p:cNvPr>
          <p:cNvSpPr/>
          <p:nvPr/>
        </p:nvSpPr>
        <p:spPr>
          <a:xfrm>
            <a:off x="8730023" y="5620641"/>
            <a:ext cx="1865007" cy="826205"/>
          </a:xfrm>
          <a:prstGeom prst="rect">
            <a:avLst/>
          </a:prstGeom>
          <a:solidFill>
            <a:schemeClr val="bg1"/>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b="1">
                <a:solidFill>
                  <a:schemeClr val="tx1"/>
                </a:solidFill>
                <a:cs typeface="Calibri"/>
              </a:rPr>
              <a:t>WHAT MAKES YOU ATTRACTIVE?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213756" y="308133"/>
            <a:ext cx="11140044" cy="335519"/>
          </a:xfrm>
        </p:spPr>
        <p:txBody>
          <a:bodyPr>
            <a:noAutofit/>
          </a:bodyPr>
          <a:lstStyle/>
          <a:p>
            <a:r>
              <a:rPr lang="en-US" sz="2400" b="1" dirty="0"/>
              <a:t>BUSINESS NARRATIVE PITCH SHEET</a:t>
            </a:r>
          </a:p>
        </p:txBody>
      </p:sp>
      <p:graphicFrame>
        <p:nvGraphicFramePr>
          <p:cNvPr id="7" name="Table 6"/>
          <p:cNvGraphicFramePr>
            <a:graphicFrameLocks noGrp="1"/>
          </p:cNvGraphicFramePr>
          <p:nvPr>
            <p:extLst>
              <p:ext uri="{D42A27DB-BD31-4B8C-83A1-F6EECF244321}">
                <p14:modId xmlns:p14="http://schemas.microsoft.com/office/powerpoint/2010/main" val="453043769"/>
              </p:ext>
            </p:extLst>
          </p:nvPr>
        </p:nvGraphicFramePr>
        <p:xfrm>
          <a:off x="213756" y="724447"/>
          <a:ext cx="10576165" cy="5485191"/>
        </p:xfrm>
        <a:graphic>
          <a:graphicData uri="http://schemas.openxmlformats.org/drawingml/2006/table">
            <a:tbl>
              <a:tblPr firstRow="1" bandRow="1">
                <a:tableStyleId>{5C22544A-7EE6-4342-B048-85BDC9FD1C3A}</a:tableStyleId>
              </a:tblPr>
              <a:tblGrid>
                <a:gridCol w="1266701">
                  <a:extLst>
                    <a:ext uri="{9D8B030D-6E8A-4147-A177-3AD203B41FA5}">
                      <a16:colId xmlns:a16="http://schemas.microsoft.com/office/drawing/2014/main" val="20000"/>
                    </a:ext>
                  </a:extLst>
                </a:gridCol>
                <a:gridCol w="2351314">
                  <a:extLst>
                    <a:ext uri="{9D8B030D-6E8A-4147-A177-3AD203B41FA5}">
                      <a16:colId xmlns:a16="http://schemas.microsoft.com/office/drawing/2014/main" val="2763226915"/>
                    </a:ext>
                  </a:extLst>
                </a:gridCol>
                <a:gridCol w="6958150">
                  <a:extLst>
                    <a:ext uri="{9D8B030D-6E8A-4147-A177-3AD203B41FA5}">
                      <a16:colId xmlns:a16="http://schemas.microsoft.com/office/drawing/2014/main" val="20001"/>
                    </a:ext>
                  </a:extLst>
                </a:gridCol>
              </a:tblGrid>
              <a:tr h="455991">
                <a:tc>
                  <a:txBody>
                    <a:bodyPr/>
                    <a:lstStyle/>
                    <a:p>
                      <a:r>
                        <a:rPr lang="en-US" sz="1000" dirty="0">
                          <a:solidFill>
                            <a:schemeClr val="tx1"/>
                          </a:solidFill>
                        </a:rPr>
                        <a:t>CARD TYPES</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000" dirty="0">
                        <a:solidFill>
                          <a:schemeClr val="tx1"/>
                        </a:solidFill>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00" dirty="0">
                          <a:solidFill>
                            <a:schemeClr val="tx1"/>
                          </a:solidFill>
                        </a:rPr>
                        <a:t>ENTERPRISE NARRATIVE (SUMMARY</a:t>
                      </a:r>
                      <a:r>
                        <a:rPr lang="en-US" sz="1000" baseline="0" dirty="0">
                          <a:solidFill>
                            <a:schemeClr val="tx1"/>
                          </a:solidFill>
                        </a:rPr>
                        <a:t>)</a:t>
                      </a:r>
                      <a:endParaRPr lang="en-US" sz="1000" dirty="0">
                        <a:solidFill>
                          <a:schemeClr val="tx1"/>
                        </a:solidFill>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66926">
                <a:tc>
                  <a:txBody>
                    <a:bodyPr/>
                    <a:lstStyle/>
                    <a:p>
                      <a:r>
                        <a:rPr lang="en-US" sz="1400" b="1" dirty="0">
                          <a:solidFill>
                            <a:schemeClr val="bg1"/>
                          </a:solidFill>
                        </a:rPr>
                        <a:t>ANIMAL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endParaRPr lang="en-US" sz="800" b="1" dirty="0">
                        <a:solidFill>
                          <a:schemeClr val="tx1"/>
                        </a:solidFill>
                      </a:endParaRPr>
                    </a:p>
                    <a:p>
                      <a:endParaRPr lang="en-US" sz="800" b="1" dirty="0">
                        <a:solidFill>
                          <a:schemeClr val="tx1"/>
                        </a:solidFill>
                      </a:endParaRPr>
                    </a:p>
                    <a:p>
                      <a:endParaRPr lang="en-US" sz="800" b="1" dirty="0">
                        <a:solidFill>
                          <a:schemeClr val="tx1"/>
                        </a:solidFill>
                      </a:endParaRPr>
                    </a:p>
                    <a:p>
                      <a:endParaRPr lang="en-US" sz="800" b="1" dirty="0">
                        <a:solidFill>
                          <a:schemeClr val="tx1"/>
                        </a:solidFill>
                      </a:endParaRPr>
                    </a:p>
                    <a:p>
                      <a:endParaRPr lang="en-US" sz="800" b="1" dirty="0">
                        <a:solidFill>
                          <a:schemeClr val="tx1"/>
                        </a:solidFill>
                      </a:endParaRPr>
                    </a:p>
                    <a:p>
                      <a:endParaRPr lang="en-US" sz="800" b="1" dirty="0">
                        <a:solidFill>
                          <a:schemeClr val="tx1"/>
                        </a:solidFill>
                      </a:endParaRPr>
                    </a:p>
                    <a:p>
                      <a:endParaRPr lang="en-US" sz="800" b="1" dirty="0">
                        <a:solidFill>
                          <a:schemeClr val="tx1"/>
                        </a:solidFill>
                      </a:endParaRPr>
                    </a:p>
                    <a:p>
                      <a:endParaRPr lang="en-US" sz="8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b="1" dirty="0">
                          <a:solidFill>
                            <a:schemeClr val="tx1"/>
                          </a:solidFill>
                        </a:rPr>
                        <a:t>WHAT</a:t>
                      </a:r>
                      <a:r>
                        <a:rPr lang="en-US" sz="1200" b="1" baseline="0" dirty="0">
                          <a:solidFill>
                            <a:schemeClr val="tx1"/>
                          </a:solidFill>
                        </a:rPr>
                        <a:t> </a:t>
                      </a:r>
                      <a:r>
                        <a:rPr lang="en-US" sz="1200" b="1" dirty="0">
                          <a:solidFill>
                            <a:schemeClr val="tx1"/>
                          </a:solidFill>
                        </a:rPr>
                        <a:t>TYPE OF ENTERPRISE ARE YOU BUILDING?</a:t>
                      </a:r>
                    </a:p>
                    <a:p>
                      <a:endParaRPr lang="en-US" sz="1200" b="1"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solidFill>
                            <a:schemeClr val="tx1"/>
                          </a:solidFill>
                        </a:rPr>
                        <a:t>MY ENTERPRISE IS A SMALL BUSINESS THAT SELLS EXPENSIVE JEWWELLRY </a:t>
                      </a:r>
                    </a:p>
                    <a:p>
                      <a:endParaRPr lang="en-US" sz="1200" b="1" dirty="0">
                        <a:solidFill>
                          <a:schemeClr val="tx1"/>
                        </a:solidFill>
                      </a:endParaRPr>
                    </a:p>
                    <a:p>
                      <a:endParaRPr lang="en-US" sz="1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6926">
                <a:tc>
                  <a:txBody>
                    <a:bodyPr/>
                    <a:lstStyle/>
                    <a:p>
                      <a:r>
                        <a:rPr lang="en-US" sz="1400" b="1" dirty="0"/>
                        <a:t>RELATIONAL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endParaRPr lang="en-US" sz="800" b="1" dirty="0">
                        <a:solidFill>
                          <a:schemeClr val="tx1"/>
                        </a:solidFill>
                      </a:endParaRPr>
                    </a:p>
                    <a:p>
                      <a:endParaRPr lang="en-US" sz="800" b="1" dirty="0">
                        <a:solidFill>
                          <a:schemeClr val="tx1"/>
                        </a:solidFill>
                      </a:endParaRPr>
                    </a:p>
                    <a:p>
                      <a:endParaRPr lang="en-US" sz="800" b="1" dirty="0">
                        <a:solidFill>
                          <a:schemeClr val="tx1"/>
                        </a:solidFill>
                      </a:endParaRPr>
                    </a:p>
                    <a:p>
                      <a:endParaRPr lang="en-US" sz="800" b="1" dirty="0">
                        <a:solidFill>
                          <a:schemeClr val="tx1"/>
                        </a:solidFill>
                      </a:endParaRPr>
                    </a:p>
                    <a:p>
                      <a:endParaRPr lang="en-US" sz="800" b="1" dirty="0">
                        <a:solidFill>
                          <a:schemeClr val="tx1"/>
                        </a:solidFill>
                      </a:endParaRPr>
                    </a:p>
                    <a:p>
                      <a:endParaRPr lang="en-US" sz="800" b="1" dirty="0">
                        <a:solidFill>
                          <a:schemeClr val="tx1"/>
                        </a:solidFill>
                      </a:endParaRPr>
                    </a:p>
                    <a:p>
                      <a:endParaRPr lang="en-US" sz="800" b="1" dirty="0">
                        <a:solidFill>
                          <a:schemeClr val="tx1"/>
                        </a:solidFill>
                      </a:endParaRPr>
                    </a:p>
                    <a:p>
                      <a:endParaRPr lang="en-US" sz="8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b="1" dirty="0">
                          <a:solidFill>
                            <a:schemeClr val="tx1"/>
                          </a:solidFill>
                        </a:rPr>
                        <a:t>IN ONE SENTENCE DEFINE YOUR CORPORATE VALUES?</a:t>
                      </a:r>
                    </a:p>
                    <a:p>
                      <a:endParaRPr lang="en-US" sz="1200" b="1"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solidFill>
                            <a:schemeClr val="tx1"/>
                          </a:solidFill>
                        </a:rPr>
                        <a:t>OUR CORE VALUES ARE …………………… OUR CULTURE IS……………..OUR CORE OBJECTIVESIS/ARE TO…………..</a:t>
                      </a:r>
                    </a:p>
                    <a:p>
                      <a:endParaRPr lang="en-US" sz="1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32509">
                <a:tc>
                  <a:txBody>
                    <a:bodyPr/>
                    <a:lstStyle/>
                    <a:p>
                      <a:r>
                        <a:rPr lang="en-US" sz="1400" b="1" dirty="0"/>
                        <a:t>PEOPLE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800" b="1" dirty="0">
                        <a:solidFill>
                          <a:schemeClr val="tx1"/>
                        </a:solidFill>
                      </a:endParaRPr>
                    </a:p>
                    <a:p>
                      <a:endParaRPr lang="en-US" sz="800" b="1" dirty="0">
                        <a:solidFill>
                          <a:schemeClr val="tx1"/>
                        </a:solidFill>
                      </a:endParaRPr>
                    </a:p>
                    <a:p>
                      <a:endParaRPr lang="en-US" sz="800" b="1" dirty="0">
                        <a:solidFill>
                          <a:schemeClr val="tx1"/>
                        </a:solidFill>
                      </a:endParaRPr>
                    </a:p>
                    <a:p>
                      <a:endParaRPr lang="en-US" sz="800" b="1" dirty="0">
                        <a:solidFill>
                          <a:schemeClr val="tx1"/>
                        </a:solidFill>
                      </a:endParaRPr>
                    </a:p>
                    <a:p>
                      <a:endParaRPr lang="en-US" sz="800" b="1" dirty="0">
                        <a:solidFill>
                          <a:schemeClr val="tx1"/>
                        </a:solidFill>
                      </a:endParaRPr>
                    </a:p>
                    <a:p>
                      <a:endParaRPr lang="en-US" sz="800" b="1" dirty="0">
                        <a:solidFill>
                          <a:schemeClr val="tx1"/>
                        </a:solidFill>
                      </a:endParaRPr>
                    </a:p>
                    <a:p>
                      <a:endParaRPr lang="en-US" sz="8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b="1" dirty="0">
                          <a:solidFill>
                            <a:schemeClr val="tx1"/>
                          </a:solidFill>
                        </a:rPr>
                        <a:t>STATE BUSINESS</a:t>
                      </a:r>
                      <a:r>
                        <a:rPr lang="en-US" sz="1200" b="1" baseline="0" dirty="0">
                          <a:solidFill>
                            <a:schemeClr val="tx1"/>
                          </a:solidFill>
                        </a:rPr>
                        <a:t> ECOSYSTEM: STAFF STRENGHT, CONTRACTED PARTNERS &amp; TARGET MARKET </a:t>
                      </a:r>
                    </a:p>
                    <a:p>
                      <a:endParaRPr lang="en-US" sz="1200" b="1" baseline="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solidFill>
                            <a:schemeClr val="tx1"/>
                          </a:solidFill>
                        </a:rPr>
                        <a:t>OUR STRATEGIC PARTNERS ARE……………….OUR TARGET MARKET IS  A SELECT/MASS MARKET CONSISTING OF…………………… OUR STAFF CONSISTS OF THE FOLLOWING SKILL USERS………………………..</a:t>
                      </a:r>
                    </a:p>
                    <a:p>
                      <a:endParaRPr lang="en-US" sz="1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85008">
                <a:tc>
                  <a:txBody>
                    <a:bodyPr/>
                    <a:lstStyle/>
                    <a:p>
                      <a:r>
                        <a:rPr lang="en-US" sz="1400" b="1" dirty="0"/>
                        <a:t>GIVE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en-US" sz="800" b="1" dirty="0">
                        <a:solidFill>
                          <a:schemeClr val="tx1"/>
                        </a:solidFill>
                      </a:endParaRPr>
                    </a:p>
                    <a:p>
                      <a:endParaRPr lang="en-US" sz="800" b="1" dirty="0">
                        <a:solidFill>
                          <a:schemeClr val="tx1"/>
                        </a:solidFill>
                      </a:endParaRPr>
                    </a:p>
                    <a:p>
                      <a:endParaRPr lang="en-US" sz="800" b="1" dirty="0">
                        <a:solidFill>
                          <a:schemeClr val="tx1"/>
                        </a:solidFill>
                      </a:endParaRPr>
                    </a:p>
                    <a:p>
                      <a:endParaRPr lang="en-US" sz="800" b="1" dirty="0">
                        <a:solidFill>
                          <a:schemeClr val="tx1"/>
                        </a:solidFill>
                      </a:endParaRPr>
                    </a:p>
                    <a:p>
                      <a:endParaRPr lang="en-US" sz="800" b="1" dirty="0">
                        <a:solidFill>
                          <a:schemeClr val="tx1"/>
                        </a:solidFill>
                      </a:endParaRPr>
                    </a:p>
                    <a:p>
                      <a:endParaRPr lang="en-US" sz="8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b="1" dirty="0">
                          <a:solidFill>
                            <a:schemeClr val="tx1"/>
                          </a:solidFill>
                        </a:rPr>
                        <a:t>STATE BUSINESS SYSTEM: PRODUCTS/SERVICES/PLATFORMS/PROCESSES</a:t>
                      </a:r>
                    </a:p>
                    <a:p>
                      <a:endParaRPr lang="en-US" sz="1200" b="1" dirty="0">
                        <a:solidFill>
                          <a:schemeClr val="tx1"/>
                        </a:solidFill>
                      </a:endParaRPr>
                    </a:p>
                    <a:p>
                      <a:r>
                        <a:rPr lang="en-US" sz="1200" b="0" dirty="0">
                          <a:solidFill>
                            <a:schemeClr val="tx1"/>
                          </a:solidFill>
                        </a:rPr>
                        <a:t>MY ENTERPISE RUNS ON THE AMAZON AWS PLATFORM………..</a:t>
                      </a:r>
                    </a:p>
                    <a:p>
                      <a:endParaRPr lang="en-US" sz="1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20634">
                <a:tc>
                  <a:txBody>
                    <a:bodyPr/>
                    <a:lstStyle/>
                    <a:p>
                      <a:r>
                        <a:rPr lang="en-US" sz="1400" b="1" dirty="0"/>
                        <a:t>GET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en-US" sz="800" b="1" dirty="0">
                        <a:solidFill>
                          <a:schemeClr val="tx1"/>
                        </a:solidFill>
                      </a:endParaRPr>
                    </a:p>
                    <a:p>
                      <a:endParaRPr lang="en-US" sz="800" b="1" dirty="0">
                        <a:solidFill>
                          <a:schemeClr val="tx1"/>
                        </a:solidFill>
                      </a:endParaRPr>
                    </a:p>
                    <a:p>
                      <a:endParaRPr lang="en-US" sz="800" b="1" dirty="0">
                        <a:solidFill>
                          <a:schemeClr val="tx1"/>
                        </a:solidFill>
                      </a:endParaRPr>
                    </a:p>
                    <a:p>
                      <a:endParaRPr lang="en-US" sz="800" b="1" dirty="0">
                        <a:solidFill>
                          <a:schemeClr val="tx1"/>
                        </a:solidFill>
                      </a:endParaRPr>
                    </a:p>
                    <a:p>
                      <a:endParaRPr lang="en-US" sz="800" b="1" dirty="0">
                        <a:solidFill>
                          <a:schemeClr val="tx1"/>
                        </a:solidFill>
                      </a:endParaRPr>
                    </a:p>
                    <a:p>
                      <a:endParaRPr lang="en-US" sz="800" b="1" dirty="0">
                        <a:solidFill>
                          <a:schemeClr val="tx1"/>
                        </a:solidFill>
                      </a:endParaRPr>
                    </a:p>
                    <a:p>
                      <a:endParaRPr lang="en-US" sz="800" b="1" dirty="0">
                        <a:solidFill>
                          <a:schemeClr val="tx1"/>
                        </a:solidFill>
                      </a:endParaRPr>
                    </a:p>
                    <a:p>
                      <a:endParaRPr lang="en-US" sz="8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b="1" dirty="0">
                          <a:solidFill>
                            <a:schemeClr val="tx1"/>
                          </a:solidFill>
                        </a:rPr>
                        <a:t>STATE REVENUE/GOODWILL &amp; LOYALTY TARGETS </a:t>
                      </a:r>
                    </a:p>
                    <a:p>
                      <a:endParaRPr lang="en-US" sz="1200" b="1" dirty="0">
                        <a:solidFill>
                          <a:schemeClr val="tx1"/>
                        </a:solidFill>
                      </a:endParaRPr>
                    </a:p>
                    <a:p>
                      <a:r>
                        <a:rPr lang="en-US" sz="1200" b="0" dirty="0">
                          <a:solidFill>
                            <a:schemeClr val="tx1"/>
                          </a:solidFill>
                        </a:rPr>
                        <a:t>MY ENTERPRISE IS TARGETING A REVENUE OF …………………..DOLLARS IN THE FIRST QUARTER OF ……………….</a:t>
                      </a:r>
                    </a:p>
                    <a:p>
                      <a:endParaRPr lang="en-US" sz="1200" b="1" dirty="0">
                        <a:solidFill>
                          <a:schemeClr val="tx1"/>
                        </a:solidFill>
                      </a:endParaRPr>
                    </a:p>
                    <a:p>
                      <a:endParaRPr lang="en-US" sz="1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316677" y="76203"/>
            <a:ext cx="9051286" cy="335519"/>
          </a:xfrm>
        </p:spPr>
        <p:txBody>
          <a:bodyPr>
            <a:noAutofit/>
          </a:bodyPr>
          <a:lstStyle/>
          <a:p>
            <a:r>
              <a:rPr lang="en-US" sz="2400" b="1" dirty="0"/>
              <a:t>BUSINESS NARRATIVE &amp; SCORE SHEET…SAMPLE</a:t>
            </a:r>
          </a:p>
        </p:txBody>
      </p:sp>
      <p:graphicFrame>
        <p:nvGraphicFramePr>
          <p:cNvPr id="7" name="Table 6"/>
          <p:cNvGraphicFramePr>
            <a:graphicFrameLocks noGrp="1"/>
          </p:cNvGraphicFramePr>
          <p:nvPr>
            <p:extLst>
              <p:ext uri="{D42A27DB-BD31-4B8C-83A1-F6EECF244321}">
                <p14:modId xmlns:p14="http://schemas.microsoft.com/office/powerpoint/2010/main" val="771157992"/>
              </p:ext>
            </p:extLst>
          </p:nvPr>
        </p:nvGraphicFramePr>
        <p:xfrm>
          <a:off x="245660" y="457200"/>
          <a:ext cx="11709779" cy="6097831"/>
        </p:xfrm>
        <a:graphic>
          <a:graphicData uri="http://schemas.openxmlformats.org/drawingml/2006/table">
            <a:tbl>
              <a:tblPr firstRow="1" bandRow="1">
                <a:tableStyleId>{5C22544A-7EE6-4342-B048-85BDC9FD1C3A}</a:tableStyleId>
              </a:tblPr>
              <a:tblGrid>
                <a:gridCol w="1379035">
                  <a:extLst>
                    <a:ext uri="{9D8B030D-6E8A-4147-A177-3AD203B41FA5}">
                      <a16:colId xmlns:a16="http://schemas.microsoft.com/office/drawing/2014/main" val="20000"/>
                    </a:ext>
                  </a:extLst>
                </a:gridCol>
                <a:gridCol w="2551520">
                  <a:extLst>
                    <a:ext uri="{9D8B030D-6E8A-4147-A177-3AD203B41FA5}">
                      <a16:colId xmlns:a16="http://schemas.microsoft.com/office/drawing/2014/main" val="20001"/>
                    </a:ext>
                  </a:extLst>
                </a:gridCol>
                <a:gridCol w="1383885">
                  <a:extLst>
                    <a:ext uri="{9D8B030D-6E8A-4147-A177-3AD203B41FA5}">
                      <a16:colId xmlns:a16="http://schemas.microsoft.com/office/drawing/2014/main" val="20002"/>
                    </a:ext>
                  </a:extLst>
                </a:gridCol>
                <a:gridCol w="1011947">
                  <a:extLst>
                    <a:ext uri="{9D8B030D-6E8A-4147-A177-3AD203B41FA5}">
                      <a16:colId xmlns:a16="http://schemas.microsoft.com/office/drawing/2014/main" val="20003"/>
                    </a:ext>
                  </a:extLst>
                </a:gridCol>
                <a:gridCol w="1193657">
                  <a:extLst>
                    <a:ext uri="{9D8B030D-6E8A-4147-A177-3AD203B41FA5}">
                      <a16:colId xmlns:a16="http://schemas.microsoft.com/office/drawing/2014/main" val="20004"/>
                    </a:ext>
                  </a:extLst>
                </a:gridCol>
                <a:gridCol w="1241404">
                  <a:extLst>
                    <a:ext uri="{9D8B030D-6E8A-4147-A177-3AD203B41FA5}">
                      <a16:colId xmlns:a16="http://schemas.microsoft.com/office/drawing/2014/main" val="20005"/>
                    </a:ext>
                  </a:extLst>
                </a:gridCol>
                <a:gridCol w="1556389">
                  <a:extLst>
                    <a:ext uri="{9D8B030D-6E8A-4147-A177-3AD203B41FA5}">
                      <a16:colId xmlns:a16="http://schemas.microsoft.com/office/drawing/2014/main" val="20006"/>
                    </a:ext>
                  </a:extLst>
                </a:gridCol>
                <a:gridCol w="1391942">
                  <a:extLst>
                    <a:ext uri="{9D8B030D-6E8A-4147-A177-3AD203B41FA5}">
                      <a16:colId xmlns:a16="http://schemas.microsoft.com/office/drawing/2014/main" val="20007"/>
                    </a:ext>
                  </a:extLst>
                </a:gridCol>
              </a:tblGrid>
              <a:tr h="651896">
                <a:tc>
                  <a:txBody>
                    <a:bodyPr/>
                    <a:lstStyle/>
                    <a:p>
                      <a:pPr algn="ctr"/>
                      <a:r>
                        <a:rPr lang="en-US" sz="1000" dirty="0">
                          <a:solidFill>
                            <a:schemeClr val="tx1"/>
                          </a:solidFill>
                        </a:rPr>
                        <a:t>CARD TYPES</a:t>
                      </a:r>
                    </a:p>
                  </a:txBody>
                  <a:tcPr marL="74295" marR="74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000" dirty="0">
                          <a:solidFill>
                            <a:schemeClr val="tx1"/>
                          </a:solidFill>
                        </a:rPr>
                        <a:t>ACTIVATED</a:t>
                      </a:r>
                      <a:r>
                        <a:rPr lang="en-GB" sz="1000" baseline="0" dirty="0">
                          <a:solidFill>
                            <a:schemeClr val="tx1"/>
                          </a:solidFill>
                        </a:rPr>
                        <a:t> CARDS</a:t>
                      </a:r>
                      <a:endParaRPr lang="en-US" sz="1000" dirty="0">
                        <a:solidFill>
                          <a:schemeClr val="tx1"/>
                        </a:solidFill>
                      </a:endParaRPr>
                    </a:p>
                  </a:txBody>
                  <a:tcPr marL="74295" marR="74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ADD POINTS (+)</a:t>
                      </a:r>
                    </a:p>
                  </a:txBody>
                  <a:tcPr marL="74295" marR="74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MULTIPLY BY STAR BONUS (x)</a:t>
                      </a:r>
                    </a:p>
                  </a:txBody>
                  <a:tcPr marL="74295" marR="74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MULTIPLY BY INNOVATION BONUS (x)</a:t>
                      </a:r>
                    </a:p>
                  </a:txBody>
                  <a:tcPr marL="74295" marR="74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SUBTRACT RISK WEIGHT</a:t>
                      </a:r>
                      <a:r>
                        <a:rPr lang="en-US" sz="1000" baseline="0" dirty="0">
                          <a:solidFill>
                            <a:schemeClr val="tx1"/>
                          </a:solidFill>
                        </a:rPr>
                        <a:t> PENALTY </a:t>
                      </a:r>
                    </a:p>
                    <a:p>
                      <a:pPr algn="ctr"/>
                      <a:r>
                        <a:rPr lang="en-US" sz="1000" baseline="0" dirty="0">
                          <a:solidFill>
                            <a:schemeClr val="tx1"/>
                          </a:solidFill>
                        </a:rPr>
                        <a:t>(-)</a:t>
                      </a:r>
                      <a:endParaRPr lang="en-US" sz="1000" dirty="0">
                        <a:solidFill>
                          <a:schemeClr val="tx1"/>
                        </a:solidFill>
                      </a:endParaRPr>
                    </a:p>
                  </a:txBody>
                  <a:tcPr marL="74295" marR="74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SUB TOTAL</a:t>
                      </a:r>
                    </a:p>
                  </a:txBody>
                  <a:tcPr marL="74295" marR="74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100" dirty="0">
                          <a:solidFill>
                            <a:schemeClr val="tx1"/>
                          </a:solidFill>
                        </a:rPr>
                        <a:t>ADD RISK PROFILE SCORE</a:t>
                      </a:r>
                    </a:p>
                    <a:p>
                      <a:pPr algn="ctr"/>
                      <a:r>
                        <a:rPr lang="en-US" sz="800" dirty="0">
                          <a:solidFill>
                            <a:schemeClr val="tx1"/>
                          </a:solidFill>
                        </a:rPr>
                        <a:t>(A HIGH SCORE MEANS LOW RISK AND A LOW SCORE MEANS HIGH RISK)</a:t>
                      </a:r>
                    </a:p>
                  </a:txBody>
                  <a:tcPr marL="74295" marR="74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878643">
                <a:tc>
                  <a:txBody>
                    <a:bodyPr/>
                    <a:lstStyle/>
                    <a:p>
                      <a:r>
                        <a:rPr lang="en-US" sz="1400" b="1" dirty="0">
                          <a:solidFill>
                            <a:schemeClr val="bg1"/>
                          </a:solidFill>
                        </a:rPr>
                        <a:t>ANIMAL</a:t>
                      </a:r>
                    </a:p>
                  </a:txBody>
                  <a:tcPr marL="74295" marR="74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endParaRPr lang="en-US" sz="800" b="1" cap="small" dirty="0">
                        <a:solidFill>
                          <a:srgbClr val="0070C0"/>
                        </a:solidFill>
                        <a:latin typeface="Berlin Sans FB Demi" pitchFamily="34" charset="0"/>
                      </a:endParaRPr>
                    </a:p>
                  </a:txBody>
                  <a:tcPr marL="74295" marR="74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1" dirty="0">
                          <a:solidFill>
                            <a:srgbClr val="0070C0"/>
                          </a:solidFill>
                        </a:rPr>
                        <a:t>10+10</a:t>
                      </a:r>
                    </a:p>
                  </a:txBody>
                  <a:tcPr marL="74295" marR="74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b="1" dirty="0">
                          <a:solidFill>
                            <a:srgbClr val="0070C0"/>
                          </a:solidFill>
                        </a:rPr>
                        <a:t>nil</a:t>
                      </a:r>
                    </a:p>
                  </a:txBody>
                  <a:tcPr marL="74295" marR="74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400" b="1" dirty="0">
                          <a:solidFill>
                            <a:srgbClr val="0070C0"/>
                          </a:solidFill>
                        </a:rPr>
                        <a:t>x3</a:t>
                      </a:r>
                      <a:endParaRPr lang="en-US" sz="1400" b="1" dirty="0">
                        <a:solidFill>
                          <a:srgbClr val="0070C0"/>
                        </a:solidFill>
                      </a:endParaRPr>
                    </a:p>
                  </a:txBody>
                  <a:tcPr marL="74295" marR="74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b="1" dirty="0">
                          <a:solidFill>
                            <a:srgbClr val="0070C0"/>
                          </a:solidFill>
                        </a:rPr>
                        <a:t>nil</a:t>
                      </a:r>
                    </a:p>
                  </a:txBody>
                  <a:tcPr marL="74295" marR="74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400" b="1" dirty="0">
                          <a:solidFill>
                            <a:srgbClr val="0070C0"/>
                          </a:solidFill>
                        </a:rPr>
                        <a:t>60</a:t>
                      </a:r>
                      <a:endParaRPr lang="en-US" sz="1400" b="1" dirty="0">
                        <a:solidFill>
                          <a:srgbClr val="0070C0"/>
                        </a:solidFill>
                      </a:endParaRPr>
                    </a:p>
                  </a:txBody>
                  <a:tcPr marL="74295" marR="74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r>
                        <a:rPr lang="en-US" sz="1100" b="1" cap="small" dirty="0">
                          <a:solidFill>
                            <a:srgbClr val="FF0000"/>
                          </a:solidFill>
                        </a:rPr>
                        <a:t>Indicate</a:t>
                      </a:r>
                      <a:r>
                        <a:rPr lang="en-US" sz="1100" b="1" cap="small" baseline="0" dirty="0">
                          <a:solidFill>
                            <a:srgbClr val="FF0000"/>
                          </a:solidFill>
                        </a:rPr>
                        <a:t> if wasp card is present.</a:t>
                      </a:r>
                      <a:endParaRPr lang="en-US" sz="1100" b="1" cap="small" dirty="0">
                        <a:solidFill>
                          <a:srgbClr val="FF0000"/>
                        </a:solidFill>
                      </a:endParaRPr>
                    </a:p>
                  </a:txBody>
                  <a:tcPr marL="74295" marR="74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10001"/>
                  </a:ext>
                </a:extLst>
              </a:tr>
              <a:tr h="878643">
                <a:tc>
                  <a:txBody>
                    <a:bodyPr/>
                    <a:lstStyle/>
                    <a:p>
                      <a:r>
                        <a:rPr lang="en-US" sz="1400" b="1" dirty="0"/>
                        <a:t>RELATIONAL</a:t>
                      </a:r>
                    </a:p>
                  </a:txBody>
                  <a:tcPr marL="74295" marR="74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endParaRPr lang="en-US" sz="700" b="1" dirty="0">
                        <a:solidFill>
                          <a:schemeClr val="tx1"/>
                        </a:solidFill>
                      </a:endParaRPr>
                    </a:p>
                  </a:txBody>
                  <a:tcPr marL="74295" marR="74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1" dirty="0">
                          <a:solidFill>
                            <a:srgbClr val="0070C0"/>
                          </a:solidFill>
                        </a:rPr>
                        <a:t>20+20+20+20</a:t>
                      </a:r>
                    </a:p>
                  </a:txBody>
                  <a:tcPr marL="74295" marR="74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b="1" dirty="0">
                          <a:solidFill>
                            <a:srgbClr val="0070C0"/>
                          </a:solidFill>
                        </a:rPr>
                        <a:t>x2</a:t>
                      </a:r>
                    </a:p>
                  </a:txBody>
                  <a:tcPr marL="74295" marR="74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400" b="1" dirty="0">
                          <a:solidFill>
                            <a:srgbClr val="0070C0"/>
                          </a:solidFill>
                        </a:rPr>
                        <a:t>x3</a:t>
                      </a:r>
                      <a:endParaRPr lang="en-US" sz="1400" b="1" dirty="0">
                        <a:solidFill>
                          <a:srgbClr val="0070C0"/>
                        </a:solidFill>
                      </a:endParaRPr>
                    </a:p>
                  </a:txBody>
                  <a:tcPr marL="74295" marR="74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b="1" dirty="0">
                          <a:solidFill>
                            <a:srgbClr val="0070C0"/>
                          </a:solidFill>
                        </a:rPr>
                        <a:t>nil</a:t>
                      </a:r>
                    </a:p>
                  </a:txBody>
                  <a:tcPr marL="74295" marR="74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400" b="1" dirty="0">
                          <a:solidFill>
                            <a:srgbClr val="0070C0"/>
                          </a:solidFill>
                        </a:rPr>
                        <a:t>480</a:t>
                      </a:r>
                      <a:endParaRPr lang="en-US" sz="1400" b="1" dirty="0">
                        <a:solidFill>
                          <a:srgbClr val="0070C0"/>
                        </a:solidFill>
                      </a:endParaRPr>
                    </a:p>
                  </a:txBody>
                  <a:tcPr marL="74295" marR="74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GB" sz="1400" b="1" dirty="0">
                          <a:solidFill>
                            <a:srgbClr val="0070C0"/>
                          </a:solidFill>
                        </a:rPr>
                        <a:t>2</a:t>
                      </a:r>
                      <a:endParaRPr lang="en-US" sz="1400" b="1" dirty="0">
                        <a:solidFill>
                          <a:srgbClr val="0070C0"/>
                        </a:solidFill>
                      </a:endParaRPr>
                    </a:p>
                  </a:txBody>
                  <a:tcPr marL="74295" marR="74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10002"/>
                  </a:ext>
                </a:extLst>
              </a:tr>
              <a:tr h="992016">
                <a:tc>
                  <a:txBody>
                    <a:bodyPr/>
                    <a:lstStyle/>
                    <a:p>
                      <a:r>
                        <a:rPr lang="en-US" sz="1400" b="1" dirty="0"/>
                        <a:t>PEOPLE</a:t>
                      </a:r>
                    </a:p>
                  </a:txBody>
                  <a:tcPr marL="74295" marR="74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800" b="1" cap="small" baseline="0" dirty="0">
                        <a:solidFill>
                          <a:srgbClr val="0070C0"/>
                        </a:solidFill>
                        <a:latin typeface="Berlin Sans FB Demi" pitchFamily="34" charset="0"/>
                      </a:endParaRPr>
                    </a:p>
                  </a:txBody>
                  <a:tcPr marL="74295" marR="74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1" dirty="0">
                          <a:solidFill>
                            <a:srgbClr val="0070C0"/>
                          </a:solidFill>
                        </a:rPr>
                        <a:t>15+15+15+15+15</a:t>
                      </a:r>
                    </a:p>
                  </a:txBody>
                  <a:tcPr marL="74295" marR="74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b="1" dirty="0">
                          <a:solidFill>
                            <a:srgbClr val="0070C0"/>
                          </a:solidFill>
                        </a:rPr>
                        <a:t>x5 x2 </a:t>
                      </a:r>
                      <a:r>
                        <a:rPr lang="en-US" sz="1400" b="1" dirty="0" err="1">
                          <a:solidFill>
                            <a:srgbClr val="0070C0"/>
                          </a:solidFill>
                        </a:rPr>
                        <a:t>x2</a:t>
                      </a:r>
                      <a:r>
                        <a:rPr lang="en-US" sz="1400" b="1" dirty="0">
                          <a:solidFill>
                            <a:srgbClr val="0070C0"/>
                          </a:solidFill>
                        </a:rPr>
                        <a:t> </a:t>
                      </a:r>
                      <a:r>
                        <a:rPr lang="en-US" sz="1400" b="1" dirty="0" err="1">
                          <a:solidFill>
                            <a:srgbClr val="0070C0"/>
                          </a:solidFill>
                        </a:rPr>
                        <a:t>x2</a:t>
                      </a:r>
                      <a:endParaRPr lang="en-US" sz="1400" b="1" dirty="0">
                        <a:solidFill>
                          <a:srgbClr val="0070C0"/>
                        </a:solidFill>
                      </a:endParaRPr>
                    </a:p>
                  </a:txBody>
                  <a:tcPr marL="74295" marR="74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400" b="1" dirty="0">
                          <a:solidFill>
                            <a:srgbClr val="0070C0"/>
                          </a:solidFill>
                        </a:rPr>
                        <a:t>x3</a:t>
                      </a:r>
                      <a:endParaRPr lang="en-US" sz="1400" b="1" dirty="0">
                        <a:solidFill>
                          <a:srgbClr val="0070C0"/>
                        </a:solidFill>
                      </a:endParaRPr>
                    </a:p>
                  </a:txBody>
                  <a:tcPr marL="74295" marR="74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400" b="1" dirty="0">
                          <a:solidFill>
                            <a:srgbClr val="0070C0"/>
                          </a:solidFill>
                        </a:rPr>
                        <a:t>nil</a:t>
                      </a:r>
                      <a:endParaRPr lang="en-US" sz="1400" b="1" dirty="0">
                        <a:solidFill>
                          <a:srgbClr val="0070C0"/>
                        </a:solidFill>
                      </a:endParaRPr>
                    </a:p>
                  </a:txBody>
                  <a:tcPr marL="74295" marR="74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400" b="1" dirty="0">
                          <a:solidFill>
                            <a:srgbClr val="0070C0"/>
                          </a:solidFill>
                        </a:rPr>
                        <a:t>1,620</a:t>
                      </a:r>
                      <a:endParaRPr lang="en-US" sz="1400" b="1" dirty="0">
                        <a:solidFill>
                          <a:srgbClr val="0070C0"/>
                        </a:solidFill>
                      </a:endParaRPr>
                    </a:p>
                  </a:txBody>
                  <a:tcPr marL="74295" marR="74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GB" sz="1400" b="1" dirty="0">
                          <a:solidFill>
                            <a:srgbClr val="0070C0"/>
                          </a:solidFill>
                        </a:rPr>
                        <a:t>2</a:t>
                      </a:r>
                      <a:endParaRPr lang="en-US" sz="1400" b="1" dirty="0">
                        <a:solidFill>
                          <a:srgbClr val="0070C0"/>
                        </a:solidFill>
                      </a:endParaRPr>
                    </a:p>
                  </a:txBody>
                  <a:tcPr marL="74295" marR="74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10003"/>
                  </a:ext>
                </a:extLst>
              </a:tr>
              <a:tr h="1105389">
                <a:tc>
                  <a:txBody>
                    <a:bodyPr/>
                    <a:lstStyle/>
                    <a:p>
                      <a:r>
                        <a:rPr lang="en-GB" sz="1400" b="1" dirty="0"/>
                        <a:t>SYSTEMS</a:t>
                      </a:r>
                      <a:endParaRPr lang="en-US" sz="1400" b="1" dirty="0"/>
                    </a:p>
                  </a:txBody>
                  <a:tcPr marL="74295" marR="74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en-US" sz="800" b="1" baseline="0" dirty="0">
                        <a:solidFill>
                          <a:srgbClr val="0070C0"/>
                        </a:solidFill>
                        <a:latin typeface="Berlin Sans FB Demi" pitchFamily="34" charset="0"/>
                      </a:endParaRPr>
                    </a:p>
                  </a:txBody>
                  <a:tcPr marL="74295" marR="74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1" dirty="0">
                          <a:solidFill>
                            <a:srgbClr val="0070C0"/>
                          </a:solidFill>
                        </a:rPr>
                        <a:t>10+10+10+10+10+10+10</a:t>
                      </a:r>
                    </a:p>
                  </a:txBody>
                  <a:tcPr marL="74295" marR="74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b="1" dirty="0">
                          <a:solidFill>
                            <a:srgbClr val="0070C0"/>
                          </a:solidFill>
                        </a:rPr>
                        <a:t>x6 x2</a:t>
                      </a:r>
                    </a:p>
                  </a:txBody>
                  <a:tcPr marL="74295" marR="74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400" b="1" dirty="0">
                          <a:solidFill>
                            <a:srgbClr val="0070C0"/>
                          </a:solidFill>
                        </a:rPr>
                        <a:t>X3</a:t>
                      </a:r>
                      <a:r>
                        <a:rPr lang="en-GB" sz="1400" b="1" baseline="0" dirty="0">
                          <a:solidFill>
                            <a:srgbClr val="0070C0"/>
                          </a:solidFill>
                        </a:rPr>
                        <a:t> </a:t>
                      </a:r>
                      <a:r>
                        <a:rPr lang="en-GB" sz="1400" b="1" baseline="0" dirty="0" err="1">
                          <a:solidFill>
                            <a:srgbClr val="0070C0"/>
                          </a:solidFill>
                        </a:rPr>
                        <a:t>x3</a:t>
                      </a:r>
                      <a:endParaRPr lang="en-US" sz="1400" b="1" dirty="0">
                        <a:solidFill>
                          <a:srgbClr val="0070C0"/>
                        </a:solidFill>
                      </a:endParaRPr>
                    </a:p>
                  </a:txBody>
                  <a:tcPr marL="74295" marR="74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400" b="1" dirty="0">
                          <a:solidFill>
                            <a:srgbClr val="0070C0"/>
                          </a:solidFill>
                        </a:rPr>
                        <a:t>nil</a:t>
                      </a:r>
                      <a:endParaRPr lang="en-US" sz="1400" b="1" dirty="0">
                        <a:solidFill>
                          <a:srgbClr val="0070C0"/>
                        </a:solidFill>
                      </a:endParaRPr>
                    </a:p>
                  </a:txBody>
                  <a:tcPr marL="74295" marR="74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400" b="1" dirty="0">
                          <a:solidFill>
                            <a:srgbClr val="0070C0"/>
                          </a:solidFill>
                        </a:rPr>
                        <a:t>7,560</a:t>
                      </a:r>
                      <a:endParaRPr lang="en-US" sz="1400" b="1" dirty="0">
                        <a:solidFill>
                          <a:srgbClr val="0070C0"/>
                        </a:solidFill>
                      </a:endParaRPr>
                    </a:p>
                  </a:txBody>
                  <a:tcPr marL="74295" marR="74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GB" sz="1400" b="1" dirty="0">
                          <a:solidFill>
                            <a:srgbClr val="0070C0"/>
                          </a:solidFill>
                        </a:rPr>
                        <a:t>4</a:t>
                      </a:r>
                      <a:endParaRPr lang="en-US" sz="1400" b="1" dirty="0">
                        <a:solidFill>
                          <a:srgbClr val="0070C0"/>
                        </a:solidFill>
                      </a:endParaRPr>
                    </a:p>
                  </a:txBody>
                  <a:tcPr marL="74295" marR="74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10004"/>
                  </a:ext>
                </a:extLst>
              </a:tr>
              <a:tr h="878643">
                <a:tc>
                  <a:txBody>
                    <a:bodyPr/>
                    <a:lstStyle/>
                    <a:p>
                      <a:r>
                        <a:rPr lang="en-GB" sz="1400" b="1" dirty="0"/>
                        <a:t>MARKETS</a:t>
                      </a:r>
                      <a:endParaRPr lang="en-US" sz="1400" b="1" dirty="0"/>
                    </a:p>
                  </a:txBody>
                  <a:tcPr marL="74295" marR="74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en-US" sz="800" b="1" cap="small" dirty="0">
                        <a:solidFill>
                          <a:srgbClr val="0070C0"/>
                        </a:solidFill>
                        <a:latin typeface="Berlin Sans FB Demi" pitchFamily="34" charset="0"/>
                      </a:endParaRPr>
                    </a:p>
                  </a:txBody>
                  <a:tcPr marL="74295" marR="74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1" dirty="0">
                          <a:solidFill>
                            <a:srgbClr val="0070C0"/>
                          </a:solidFill>
                        </a:rPr>
                        <a:t>25+25+25+25+25</a:t>
                      </a:r>
                    </a:p>
                  </a:txBody>
                  <a:tcPr marL="74295" marR="74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b="1" dirty="0">
                          <a:solidFill>
                            <a:srgbClr val="0070C0"/>
                          </a:solidFill>
                        </a:rPr>
                        <a:t>x2 </a:t>
                      </a:r>
                      <a:r>
                        <a:rPr lang="en-US" sz="1400" b="1" dirty="0" err="1">
                          <a:solidFill>
                            <a:srgbClr val="0070C0"/>
                          </a:solidFill>
                        </a:rPr>
                        <a:t>x2</a:t>
                      </a:r>
                      <a:r>
                        <a:rPr lang="en-US" sz="1400" b="1" dirty="0">
                          <a:solidFill>
                            <a:srgbClr val="0070C0"/>
                          </a:solidFill>
                        </a:rPr>
                        <a:t> </a:t>
                      </a:r>
                      <a:r>
                        <a:rPr lang="en-US" sz="1400" b="1" dirty="0" err="1">
                          <a:solidFill>
                            <a:srgbClr val="0070C0"/>
                          </a:solidFill>
                        </a:rPr>
                        <a:t>x2</a:t>
                      </a:r>
                      <a:endParaRPr lang="en-US" sz="1400" b="1" dirty="0">
                        <a:solidFill>
                          <a:srgbClr val="0070C0"/>
                        </a:solidFill>
                      </a:endParaRPr>
                    </a:p>
                  </a:txBody>
                  <a:tcPr marL="74295" marR="74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400" b="1" dirty="0">
                          <a:solidFill>
                            <a:srgbClr val="0070C0"/>
                          </a:solidFill>
                        </a:rPr>
                        <a:t>x3</a:t>
                      </a:r>
                      <a:endParaRPr lang="en-US" sz="1400" b="1" dirty="0">
                        <a:solidFill>
                          <a:srgbClr val="0070C0"/>
                        </a:solidFill>
                      </a:endParaRPr>
                    </a:p>
                  </a:txBody>
                  <a:tcPr marL="74295" marR="74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400" b="1" dirty="0">
                          <a:solidFill>
                            <a:srgbClr val="0070C0"/>
                          </a:solidFill>
                        </a:rPr>
                        <a:t>nil</a:t>
                      </a:r>
                      <a:endParaRPr lang="en-US" sz="1400" b="1" dirty="0">
                        <a:solidFill>
                          <a:srgbClr val="0070C0"/>
                        </a:solidFill>
                      </a:endParaRPr>
                    </a:p>
                  </a:txBody>
                  <a:tcPr marL="74295" marR="74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400" b="1" dirty="0">
                          <a:solidFill>
                            <a:srgbClr val="0070C0"/>
                          </a:solidFill>
                        </a:rPr>
                        <a:t>3,000</a:t>
                      </a:r>
                      <a:endParaRPr lang="en-US" sz="1400" b="1" dirty="0">
                        <a:solidFill>
                          <a:srgbClr val="0070C0"/>
                        </a:solidFill>
                      </a:endParaRPr>
                    </a:p>
                  </a:txBody>
                  <a:tcPr marL="74295" marR="74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GB" sz="1400" b="1" dirty="0">
                          <a:solidFill>
                            <a:srgbClr val="0070C0"/>
                          </a:solidFill>
                        </a:rPr>
                        <a:t>2</a:t>
                      </a:r>
                      <a:endParaRPr lang="en-US" sz="1400" b="1" dirty="0">
                        <a:solidFill>
                          <a:srgbClr val="0070C0"/>
                        </a:solidFill>
                      </a:endParaRPr>
                    </a:p>
                  </a:txBody>
                  <a:tcPr marL="74295" marR="74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10005"/>
                  </a:ext>
                </a:extLst>
              </a:tr>
              <a:tr h="572017">
                <a:tc gridSpan="6">
                  <a:txBody>
                    <a:bodyPr/>
                    <a:lstStyle/>
                    <a:p>
                      <a:pPr algn="r"/>
                      <a:r>
                        <a:rPr lang="en-US" sz="1600" b="1" dirty="0"/>
                        <a:t>TOTAL SCORE (CAPITALIZATION) AND (RISK PROFILE)</a:t>
                      </a:r>
                    </a:p>
                  </a:txBody>
                  <a:tcPr marL="74295" marR="74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tc hMerge="1">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000" b="1" dirty="0">
                          <a:solidFill>
                            <a:srgbClr val="0070C0"/>
                          </a:solidFill>
                        </a:rPr>
                        <a:t>12,720</a:t>
                      </a:r>
                      <a:endParaRPr lang="en-US" sz="2000" b="1" dirty="0">
                        <a:solidFill>
                          <a:srgbClr val="0070C0"/>
                        </a:solidFill>
                      </a:endParaRPr>
                    </a:p>
                  </a:txBody>
                  <a:tcPr marL="74295" marR="74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GB" sz="2000" b="1" dirty="0">
                          <a:solidFill>
                            <a:srgbClr val="0070C0"/>
                          </a:solidFill>
                        </a:rPr>
                        <a:t>10</a:t>
                      </a:r>
                      <a:endParaRPr lang="en-US" sz="2000" b="1" dirty="0">
                        <a:solidFill>
                          <a:srgbClr val="0070C0"/>
                        </a:solidFill>
                      </a:endParaRPr>
                    </a:p>
                  </a:txBody>
                  <a:tcPr marL="74295" marR="74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0006"/>
                  </a:ext>
                </a:extLst>
              </a:tr>
            </a:tbl>
          </a:graphicData>
        </a:graphic>
      </p:graphicFrame>
      <p:sp>
        <p:nvSpPr>
          <p:cNvPr id="8" name="Rectangle 7"/>
          <p:cNvSpPr/>
          <p:nvPr/>
        </p:nvSpPr>
        <p:spPr>
          <a:xfrm>
            <a:off x="7493662" y="6582965"/>
            <a:ext cx="4461777" cy="23074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t>RED FLAG: IF WASP IS IDENTIFIED , DIVIDE TOTAL SCORE BY HALF</a:t>
            </a:r>
          </a:p>
        </p:txBody>
      </p:sp>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23810" y="1328411"/>
            <a:ext cx="397090" cy="640743"/>
          </a:xfrm>
          <a:prstGeom prst="rect">
            <a:avLst/>
          </a:prstGeom>
        </p:spPr>
      </p:pic>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63761" y="1327537"/>
            <a:ext cx="397090" cy="641617"/>
          </a:xfrm>
          <a:prstGeom prst="rect">
            <a:avLst/>
          </a:prstGeom>
        </p:spPr>
      </p:pic>
      <p:pic>
        <p:nvPicPr>
          <p:cNvPr id="11" name="Picture 1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48594" y="847917"/>
            <a:ext cx="397090" cy="639322"/>
          </a:xfrm>
          <a:prstGeom prst="rect">
            <a:avLst/>
          </a:prstGeom>
        </p:spPr>
      </p:pic>
      <p:pic>
        <p:nvPicPr>
          <p:cNvPr id="12" name="Picture 1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780126" y="2273025"/>
            <a:ext cx="397090" cy="640743"/>
          </a:xfrm>
          <a:prstGeom prst="rect">
            <a:avLst/>
          </a:prstGeom>
        </p:spPr>
      </p:pic>
      <p:pic>
        <p:nvPicPr>
          <p:cNvPr id="13" name="Picture 12"/>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58246" y="2270666"/>
            <a:ext cx="397090" cy="640743"/>
          </a:xfrm>
          <a:prstGeom prst="rect">
            <a:avLst/>
          </a:prstGeom>
        </p:spPr>
      </p:pic>
      <p:pic>
        <p:nvPicPr>
          <p:cNvPr id="14" name="Picture 13"/>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307556" y="2270665"/>
            <a:ext cx="414173" cy="640743"/>
          </a:xfrm>
          <a:prstGeom prst="rect">
            <a:avLst/>
          </a:prstGeom>
        </p:spPr>
      </p:pic>
      <p:pic>
        <p:nvPicPr>
          <p:cNvPr id="15" name="Picture 14"/>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196406" y="3164146"/>
            <a:ext cx="424696" cy="685288"/>
          </a:xfrm>
          <a:prstGeom prst="rect">
            <a:avLst/>
          </a:prstGeom>
        </p:spPr>
      </p:pic>
      <p:pic>
        <p:nvPicPr>
          <p:cNvPr id="16" name="Picture 15"/>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2742304" y="3155891"/>
            <a:ext cx="418547" cy="675365"/>
          </a:xfrm>
          <a:prstGeom prst="rect">
            <a:avLst/>
          </a:prstGeom>
        </p:spPr>
      </p:pic>
      <p:pic>
        <p:nvPicPr>
          <p:cNvPr id="17" name="Picture 16"/>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3212406" y="3164146"/>
            <a:ext cx="424696" cy="685288"/>
          </a:xfrm>
          <a:prstGeom prst="rect">
            <a:avLst/>
          </a:prstGeom>
        </p:spPr>
      </p:pic>
      <p:pic>
        <p:nvPicPr>
          <p:cNvPr id="18" name="Picture 17"/>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669583" y="3155891"/>
            <a:ext cx="424696" cy="686223"/>
          </a:xfrm>
          <a:prstGeom prst="rect">
            <a:avLst/>
          </a:prstGeom>
        </p:spPr>
      </p:pic>
      <p:pic>
        <p:nvPicPr>
          <p:cNvPr id="19" name="Picture 1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65216" y="1454293"/>
            <a:ext cx="397090" cy="639322"/>
          </a:xfrm>
          <a:prstGeom prst="rect">
            <a:avLst/>
          </a:prstGeom>
        </p:spPr>
      </p:pic>
      <p:pic>
        <p:nvPicPr>
          <p:cNvPr id="20" name="Picture 19"/>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1658708" y="4144053"/>
            <a:ext cx="437664" cy="706212"/>
          </a:xfrm>
          <a:prstGeom prst="rect">
            <a:avLst/>
          </a:prstGeom>
        </p:spPr>
      </p:pic>
      <p:pic>
        <p:nvPicPr>
          <p:cNvPr id="21" name="Picture 20"/>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2154478" y="4144053"/>
            <a:ext cx="443105" cy="714992"/>
          </a:xfrm>
          <a:prstGeom prst="rect">
            <a:avLst/>
          </a:prstGeom>
        </p:spPr>
      </p:pic>
      <p:pic>
        <p:nvPicPr>
          <p:cNvPr id="22" name="Picture 2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2683046" y="4157523"/>
            <a:ext cx="429316" cy="692742"/>
          </a:xfrm>
          <a:prstGeom prst="rect">
            <a:avLst/>
          </a:prstGeom>
        </p:spPr>
      </p:pic>
      <p:pic>
        <p:nvPicPr>
          <p:cNvPr id="23" name="Picture 22"/>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3685711" y="4189318"/>
            <a:ext cx="455169" cy="735463"/>
          </a:xfrm>
          <a:prstGeom prst="rect">
            <a:avLst/>
          </a:prstGeom>
        </p:spPr>
      </p:pic>
      <p:pic>
        <p:nvPicPr>
          <p:cNvPr id="24" name="Picture 23"/>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3160851" y="4155089"/>
            <a:ext cx="445890" cy="719486"/>
          </a:xfrm>
          <a:prstGeom prst="rect">
            <a:avLst/>
          </a:prstGeom>
        </p:spPr>
      </p:pic>
      <p:pic>
        <p:nvPicPr>
          <p:cNvPr id="25" name="Picture 24"/>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2251642" y="5117484"/>
            <a:ext cx="469258" cy="758227"/>
          </a:xfrm>
          <a:prstGeom prst="rect">
            <a:avLst/>
          </a:prstGeom>
        </p:spPr>
      </p:pic>
      <p:pic>
        <p:nvPicPr>
          <p:cNvPr id="26" name="Picture 25"/>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1679211" y="5134871"/>
            <a:ext cx="458498" cy="740840"/>
          </a:xfrm>
          <a:prstGeom prst="rect">
            <a:avLst/>
          </a:prstGeom>
        </p:spPr>
      </p:pic>
      <p:grpSp>
        <p:nvGrpSpPr>
          <p:cNvPr id="3" name="Group 2"/>
          <p:cNvGrpSpPr/>
          <p:nvPr/>
        </p:nvGrpSpPr>
        <p:grpSpPr>
          <a:xfrm>
            <a:off x="2799061" y="5129448"/>
            <a:ext cx="508414" cy="758743"/>
            <a:chOff x="2799061" y="5016231"/>
            <a:chExt cx="508414" cy="758743"/>
          </a:xfrm>
        </p:grpSpPr>
        <p:pic>
          <p:nvPicPr>
            <p:cNvPr id="27" name="Picture 26"/>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2799061" y="5016231"/>
              <a:ext cx="508414" cy="758743"/>
            </a:xfrm>
            <a:prstGeom prst="rect">
              <a:avLst/>
            </a:prstGeom>
          </p:spPr>
        </p:pic>
        <p:sp>
          <p:nvSpPr>
            <p:cNvPr id="2" name="5-Point Star 1"/>
            <p:cNvSpPr/>
            <p:nvPr/>
          </p:nvSpPr>
          <p:spPr>
            <a:xfrm>
              <a:off x="3101262" y="5285161"/>
              <a:ext cx="45719" cy="45719"/>
            </a:xfrm>
            <a:prstGeom prst="star5">
              <a:avLst/>
            </a:prstGeom>
            <a:solidFill>
              <a:srgbClr val="FFFF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8" name="Picture 2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221574" y="2279225"/>
            <a:ext cx="397090" cy="640743"/>
          </a:xfrm>
          <a:prstGeom prst="rect">
            <a:avLst/>
          </a:prstGeom>
        </p:spPr>
      </p:pic>
      <p:pic>
        <p:nvPicPr>
          <p:cNvPr id="29" name="Picture 2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975918" y="2329189"/>
            <a:ext cx="397090" cy="639322"/>
          </a:xfrm>
          <a:prstGeom prst="rect">
            <a:avLst/>
          </a:prstGeom>
        </p:spPr>
      </p:pic>
      <p:pic>
        <p:nvPicPr>
          <p:cNvPr id="30" name="Picture 29"/>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3658015" y="3164146"/>
            <a:ext cx="424696" cy="685288"/>
          </a:xfrm>
          <a:prstGeom prst="rect">
            <a:avLst/>
          </a:prstGeom>
        </p:spPr>
      </p:pic>
      <p:pic>
        <p:nvPicPr>
          <p:cNvPr id="31" name="Picture 3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474552" y="3283408"/>
            <a:ext cx="397090" cy="639322"/>
          </a:xfrm>
          <a:prstGeom prst="rect">
            <a:avLst/>
          </a:prstGeom>
        </p:spPr>
      </p:pic>
      <p:grpSp>
        <p:nvGrpSpPr>
          <p:cNvPr id="34" name="Group 33"/>
          <p:cNvGrpSpPr/>
          <p:nvPr/>
        </p:nvGrpSpPr>
        <p:grpSpPr>
          <a:xfrm>
            <a:off x="2942153" y="5179046"/>
            <a:ext cx="508414" cy="758743"/>
            <a:chOff x="2799061" y="5016231"/>
            <a:chExt cx="508414" cy="758743"/>
          </a:xfrm>
        </p:grpSpPr>
        <p:pic>
          <p:nvPicPr>
            <p:cNvPr id="35" name="Picture 34"/>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2799061" y="5016231"/>
              <a:ext cx="508414" cy="758743"/>
            </a:xfrm>
            <a:prstGeom prst="rect">
              <a:avLst/>
            </a:prstGeom>
          </p:spPr>
        </p:pic>
        <p:sp>
          <p:nvSpPr>
            <p:cNvPr id="36" name="5-Point Star 35"/>
            <p:cNvSpPr/>
            <p:nvPr/>
          </p:nvSpPr>
          <p:spPr>
            <a:xfrm>
              <a:off x="3101262" y="5285161"/>
              <a:ext cx="45719" cy="45719"/>
            </a:xfrm>
            <a:prstGeom prst="star5">
              <a:avLst/>
            </a:prstGeom>
            <a:solidFill>
              <a:srgbClr val="FFFF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7" name="Group 36"/>
          <p:cNvGrpSpPr/>
          <p:nvPr/>
        </p:nvGrpSpPr>
        <p:grpSpPr>
          <a:xfrm>
            <a:off x="3165912" y="5185921"/>
            <a:ext cx="508414" cy="758743"/>
            <a:chOff x="2799061" y="5016231"/>
            <a:chExt cx="508414" cy="758743"/>
          </a:xfrm>
        </p:grpSpPr>
        <p:pic>
          <p:nvPicPr>
            <p:cNvPr id="38" name="Picture 37"/>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2799061" y="5016231"/>
              <a:ext cx="508414" cy="758743"/>
            </a:xfrm>
            <a:prstGeom prst="rect">
              <a:avLst/>
            </a:prstGeom>
          </p:spPr>
        </p:pic>
        <p:sp>
          <p:nvSpPr>
            <p:cNvPr id="39" name="5-Point Star 38"/>
            <p:cNvSpPr/>
            <p:nvPr/>
          </p:nvSpPr>
          <p:spPr>
            <a:xfrm>
              <a:off x="3101262" y="5285161"/>
              <a:ext cx="45719" cy="45719"/>
            </a:xfrm>
            <a:prstGeom prst="star5">
              <a:avLst/>
            </a:prstGeom>
            <a:solidFill>
              <a:srgbClr val="FFFF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0" name="Picture 3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109011" y="4457088"/>
            <a:ext cx="397090" cy="639322"/>
          </a:xfrm>
          <a:prstGeom prst="rect">
            <a:avLst/>
          </a:prstGeom>
        </p:spPr>
      </p:pic>
      <p:pic>
        <p:nvPicPr>
          <p:cNvPr id="41" name="Picture 4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112362" y="4497694"/>
            <a:ext cx="397090" cy="639322"/>
          </a:xfrm>
          <a:prstGeom prst="rect">
            <a:avLst/>
          </a:prstGeom>
        </p:spPr>
      </p:pic>
      <p:pic>
        <p:nvPicPr>
          <p:cNvPr id="32" name="Picture 31"/>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2251642" y="4297996"/>
            <a:ext cx="443105" cy="714992"/>
          </a:xfrm>
          <a:prstGeom prst="rect">
            <a:avLst/>
          </a:prstGeom>
        </p:spPr>
      </p:pic>
      <p:pic>
        <p:nvPicPr>
          <p:cNvPr id="33" name="Picture 32"/>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3227622" y="4310174"/>
            <a:ext cx="445890" cy="719486"/>
          </a:xfrm>
          <a:prstGeom prst="rect">
            <a:avLst/>
          </a:prstGeom>
        </p:spPr>
      </p:pic>
      <p:pic>
        <p:nvPicPr>
          <p:cNvPr id="42" name="Picture 4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420119" y="5086555"/>
            <a:ext cx="488286" cy="786149"/>
          </a:xfrm>
          <a:prstGeom prst="rect">
            <a:avLst/>
          </a:prstGeom>
        </p:spPr>
      </p:pic>
    </p:spTree>
    <p:extLst>
      <p:ext uri="{BB962C8B-B14F-4D97-AF65-F5344CB8AC3E}">
        <p14:creationId xmlns:p14="http://schemas.microsoft.com/office/powerpoint/2010/main" val="4570924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316677" y="76203"/>
            <a:ext cx="9051286" cy="335519"/>
          </a:xfrm>
        </p:spPr>
        <p:txBody>
          <a:bodyPr>
            <a:noAutofit/>
          </a:bodyPr>
          <a:lstStyle/>
          <a:p>
            <a:r>
              <a:rPr lang="en-US" sz="2400" b="1" dirty="0"/>
              <a:t>BUSINESS NARRATIVE &amp; SCORE SHEET…SAMPLE</a:t>
            </a:r>
          </a:p>
        </p:txBody>
      </p:sp>
      <p:graphicFrame>
        <p:nvGraphicFramePr>
          <p:cNvPr id="7" name="Table 6"/>
          <p:cNvGraphicFramePr>
            <a:graphicFrameLocks noGrp="1"/>
          </p:cNvGraphicFramePr>
          <p:nvPr>
            <p:extLst>
              <p:ext uri="{D42A27DB-BD31-4B8C-83A1-F6EECF244321}">
                <p14:modId xmlns:p14="http://schemas.microsoft.com/office/powerpoint/2010/main" val="3527148251"/>
              </p:ext>
            </p:extLst>
          </p:nvPr>
        </p:nvGraphicFramePr>
        <p:xfrm>
          <a:off x="245660" y="457200"/>
          <a:ext cx="11709779" cy="5957247"/>
        </p:xfrm>
        <a:graphic>
          <a:graphicData uri="http://schemas.openxmlformats.org/drawingml/2006/table">
            <a:tbl>
              <a:tblPr firstRow="1" bandRow="1">
                <a:tableStyleId>{5C22544A-7EE6-4342-B048-85BDC9FD1C3A}</a:tableStyleId>
              </a:tblPr>
              <a:tblGrid>
                <a:gridCol w="1379035">
                  <a:extLst>
                    <a:ext uri="{9D8B030D-6E8A-4147-A177-3AD203B41FA5}">
                      <a16:colId xmlns:a16="http://schemas.microsoft.com/office/drawing/2014/main" val="20000"/>
                    </a:ext>
                  </a:extLst>
                </a:gridCol>
                <a:gridCol w="2551520">
                  <a:extLst>
                    <a:ext uri="{9D8B030D-6E8A-4147-A177-3AD203B41FA5}">
                      <a16:colId xmlns:a16="http://schemas.microsoft.com/office/drawing/2014/main" val="20001"/>
                    </a:ext>
                  </a:extLst>
                </a:gridCol>
                <a:gridCol w="1383885">
                  <a:extLst>
                    <a:ext uri="{9D8B030D-6E8A-4147-A177-3AD203B41FA5}">
                      <a16:colId xmlns:a16="http://schemas.microsoft.com/office/drawing/2014/main" val="20002"/>
                    </a:ext>
                  </a:extLst>
                </a:gridCol>
                <a:gridCol w="1011947">
                  <a:extLst>
                    <a:ext uri="{9D8B030D-6E8A-4147-A177-3AD203B41FA5}">
                      <a16:colId xmlns:a16="http://schemas.microsoft.com/office/drawing/2014/main" val="20003"/>
                    </a:ext>
                  </a:extLst>
                </a:gridCol>
                <a:gridCol w="1193657">
                  <a:extLst>
                    <a:ext uri="{9D8B030D-6E8A-4147-A177-3AD203B41FA5}">
                      <a16:colId xmlns:a16="http://schemas.microsoft.com/office/drawing/2014/main" val="20004"/>
                    </a:ext>
                  </a:extLst>
                </a:gridCol>
                <a:gridCol w="1241404">
                  <a:extLst>
                    <a:ext uri="{9D8B030D-6E8A-4147-A177-3AD203B41FA5}">
                      <a16:colId xmlns:a16="http://schemas.microsoft.com/office/drawing/2014/main" val="20005"/>
                    </a:ext>
                  </a:extLst>
                </a:gridCol>
                <a:gridCol w="1451886">
                  <a:extLst>
                    <a:ext uri="{9D8B030D-6E8A-4147-A177-3AD203B41FA5}">
                      <a16:colId xmlns:a16="http://schemas.microsoft.com/office/drawing/2014/main" val="20006"/>
                    </a:ext>
                  </a:extLst>
                </a:gridCol>
                <a:gridCol w="1496445">
                  <a:extLst>
                    <a:ext uri="{9D8B030D-6E8A-4147-A177-3AD203B41FA5}">
                      <a16:colId xmlns:a16="http://schemas.microsoft.com/office/drawing/2014/main" val="20007"/>
                    </a:ext>
                  </a:extLst>
                </a:gridCol>
              </a:tblGrid>
              <a:tr h="651896">
                <a:tc>
                  <a:txBody>
                    <a:bodyPr/>
                    <a:lstStyle/>
                    <a:p>
                      <a:pPr algn="ctr"/>
                      <a:r>
                        <a:rPr lang="en-US" sz="1000" dirty="0">
                          <a:solidFill>
                            <a:schemeClr val="tx1"/>
                          </a:solidFill>
                        </a:rPr>
                        <a:t>CARD TYPES</a:t>
                      </a:r>
                    </a:p>
                  </a:txBody>
                  <a:tcPr marL="74295" marR="74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000" dirty="0">
                          <a:solidFill>
                            <a:schemeClr val="tx1"/>
                          </a:solidFill>
                        </a:rPr>
                        <a:t>ACTIVATED</a:t>
                      </a:r>
                      <a:r>
                        <a:rPr lang="en-GB" sz="1000" baseline="0" dirty="0">
                          <a:solidFill>
                            <a:schemeClr val="tx1"/>
                          </a:solidFill>
                        </a:rPr>
                        <a:t> CARDS</a:t>
                      </a:r>
                      <a:endParaRPr lang="en-US" sz="1000" dirty="0">
                        <a:solidFill>
                          <a:schemeClr val="tx1"/>
                        </a:solidFill>
                      </a:endParaRPr>
                    </a:p>
                  </a:txBody>
                  <a:tcPr marL="74295" marR="74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ADD POINTS (+)</a:t>
                      </a:r>
                    </a:p>
                  </a:txBody>
                  <a:tcPr marL="74295" marR="74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MULTIPLY BY STAR BONUS (x)</a:t>
                      </a:r>
                    </a:p>
                  </a:txBody>
                  <a:tcPr marL="74295" marR="74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MULTIPLY BY INNOVATION BONUS (x)</a:t>
                      </a:r>
                    </a:p>
                  </a:txBody>
                  <a:tcPr marL="74295" marR="74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SUBTRACT RISK WEIGHT</a:t>
                      </a:r>
                      <a:r>
                        <a:rPr lang="en-US" sz="1000" baseline="0" dirty="0">
                          <a:solidFill>
                            <a:schemeClr val="tx1"/>
                          </a:solidFill>
                        </a:rPr>
                        <a:t> PENALTY </a:t>
                      </a:r>
                    </a:p>
                    <a:p>
                      <a:pPr algn="ctr"/>
                      <a:r>
                        <a:rPr lang="en-US" sz="1000" baseline="0" dirty="0">
                          <a:solidFill>
                            <a:schemeClr val="tx1"/>
                          </a:solidFill>
                        </a:rPr>
                        <a:t>(-)</a:t>
                      </a:r>
                      <a:endParaRPr lang="en-US" sz="1000" dirty="0">
                        <a:solidFill>
                          <a:schemeClr val="tx1"/>
                        </a:solidFill>
                      </a:endParaRPr>
                    </a:p>
                  </a:txBody>
                  <a:tcPr marL="74295" marR="74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SUB TOTAL</a:t>
                      </a:r>
                    </a:p>
                  </a:txBody>
                  <a:tcPr marL="74295" marR="74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ADD RISK PROFILE SCORE</a:t>
                      </a:r>
                    </a:p>
                    <a:p>
                      <a:pPr algn="ctr"/>
                      <a:r>
                        <a:rPr lang="en-US" sz="800" dirty="0">
                          <a:solidFill>
                            <a:schemeClr val="tx1"/>
                          </a:solidFill>
                        </a:rPr>
                        <a:t>(A HIGH SCORE MEANS LOW RISK AND A LOW SCORE MEANS HIGH RISK)</a:t>
                      </a:r>
                    </a:p>
                  </a:txBody>
                  <a:tcPr marL="74295" marR="74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878643">
                <a:tc>
                  <a:txBody>
                    <a:bodyPr/>
                    <a:lstStyle/>
                    <a:p>
                      <a:r>
                        <a:rPr lang="en-US" sz="1400" b="1" dirty="0">
                          <a:solidFill>
                            <a:schemeClr val="bg1"/>
                          </a:solidFill>
                        </a:rPr>
                        <a:t>ANIMAL</a:t>
                      </a:r>
                    </a:p>
                  </a:txBody>
                  <a:tcPr marL="74295" marR="74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endParaRPr lang="en-US" sz="800" b="1" cap="small" dirty="0">
                        <a:solidFill>
                          <a:srgbClr val="0070C0"/>
                        </a:solidFill>
                        <a:latin typeface="Berlin Sans FB Demi" pitchFamily="34" charset="0"/>
                      </a:endParaRPr>
                    </a:p>
                  </a:txBody>
                  <a:tcPr marL="74295" marR="74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1" dirty="0">
                          <a:solidFill>
                            <a:srgbClr val="0070C0"/>
                          </a:solidFill>
                        </a:rPr>
                        <a:t>10</a:t>
                      </a:r>
                    </a:p>
                  </a:txBody>
                  <a:tcPr marL="74295" marR="74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b="1" dirty="0">
                          <a:solidFill>
                            <a:srgbClr val="0070C0"/>
                          </a:solidFill>
                        </a:rPr>
                        <a:t>nil</a:t>
                      </a:r>
                    </a:p>
                  </a:txBody>
                  <a:tcPr marL="74295" marR="74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400" b="1" dirty="0">
                          <a:solidFill>
                            <a:srgbClr val="0070C0"/>
                          </a:solidFill>
                        </a:rPr>
                        <a:t>nil</a:t>
                      </a:r>
                      <a:endParaRPr lang="en-US" sz="1400" b="1" dirty="0">
                        <a:solidFill>
                          <a:srgbClr val="0070C0"/>
                        </a:solidFill>
                      </a:endParaRPr>
                    </a:p>
                  </a:txBody>
                  <a:tcPr marL="74295" marR="74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b="1" dirty="0">
                          <a:solidFill>
                            <a:srgbClr val="0070C0"/>
                          </a:solidFill>
                        </a:rPr>
                        <a:t>nil</a:t>
                      </a:r>
                    </a:p>
                  </a:txBody>
                  <a:tcPr marL="74295" marR="74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400" b="1" dirty="0">
                          <a:solidFill>
                            <a:srgbClr val="0070C0"/>
                          </a:solidFill>
                        </a:rPr>
                        <a:t>10</a:t>
                      </a:r>
                      <a:endParaRPr lang="en-US" sz="1400" b="1" dirty="0">
                        <a:solidFill>
                          <a:srgbClr val="0070C0"/>
                        </a:solidFill>
                      </a:endParaRPr>
                    </a:p>
                  </a:txBody>
                  <a:tcPr marL="74295" marR="74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r>
                        <a:rPr lang="en-US" sz="1100" b="1" cap="small" dirty="0">
                          <a:solidFill>
                            <a:srgbClr val="FF0000"/>
                          </a:solidFill>
                        </a:rPr>
                        <a:t>Indicate</a:t>
                      </a:r>
                      <a:r>
                        <a:rPr lang="en-US" sz="1100" b="1" cap="small" baseline="0" dirty="0">
                          <a:solidFill>
                            <a:srgbClr val="FF0000"/>
                          </a:solidFill>
                        </a:rPr>
                        <a:t> if wasp card is present.</a:t>
                      </a:r>
                      <a:endParaRPr lang="en-US" sz="1100" b="1" cap="small" dirty="0">
                        <a:solidFill>
                          <a:srgbClr val="FF0000"/>
                        </a:solidFill>
                      </a:endParaRPr>
                    </a:p>
                  </a:txBody>
                  <a:tcPr marL="74295" marR="74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10001"/>
                  </a:ext>
                </a:extLst>
              </a:tr>
              <a:tr h="878643">
                <a:tc>
                  <a:txBody>
                    <a:bodyPr/>
                    <a:lstStyle/>
                    <a:p>
                      <a:r>
                        <a:rPr lang="en-US" sz="1400" b="1" dirty="0"/>
                        <a:t>RELATIONAL</a:t>
                      </a:r>
                    </a:p>
                  </a:txBody>
                  <a:tcPr marL="74295" marR="74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endParaRPr lang="en-US" sz="700" b="1" dirty="0">
                        <a:solidFill>
                          <a:schemeClr val="tx1"/>
                        </a:solidFill>
                      </a:endParaRPr>
                    </a:p>
                  </a:txBody>
                  <a:tcPr marL="74295" marR="74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1" dirty="0">
                          <a:solidFill>
                            <a:srgbClr val="0070C0"/>
                          </a:solidFill>
                        </a:rPr>
                        <a:t>20+20</a:t>
                      </a:r>
                    </a:p>
                  </a:txBody>
                  <a:tcPr marL="74295" marR="74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b="1" dirty="0">
                          <a:solidFill>
                            <a:srgbClr val="0070C0"/>
                          </a:solidFill>
                        </a:rPr>
                        <a:t>x2</a:t>
                      </a:r>
                    </a:p>
                  </a:txBody>
                  <a:tcPr marL="74295" marR="74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b="1" dirty="0">
                          <a:solidFill>
                            <a:srgbClr val="0070C0"/>
                          </a:solidFill>
                        </a:rPr>
                        <a:t>nil</a:t>
                      </a:r>
                    </a:p>
                  </a:txBody>
                  <a:tcPr marL="74295" marR="74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400" b="1" dirty="0">
                          <a:solidFill>
                            <a:srgbClr val="0070C0"/>
                          </a:solidFill>
                        </a:rPr>
                        <a:t>-40</a:t>
                      </a:r>
                      <a:endParaRPr lang="en-US" sz="1400" b="1" dirty="0">
                        <a:solidFill>
                          <a:srgbClr val="0070C0"/>
                        </a:solidFill>
                      </a:endParaRPr>
                    </a:p>
                  </a:txBody>
                  <a:tcPr marL="74295" marR="74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400" b="1" dirty="0">
                          <a:solidFill>
                            <a:srgbClr val="0070C0"/>
                          </a:solidFill>
                        </a:rPr>
                        <a:t>40</a:t>
                      </a:r>
                      <a:endParaRPr lang="en-US" sz="1400" b="1" dirty="0">
                        <a:solidFill>
                          <a:srgbClr val="0070C0"/>
                        </a:solidFill>
                      </a:endParaRPr>
                    </a:p>
                  </a:txBody>
                  <a:tcPr marL="74295" marR="74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GB" sz="1400" b="1" dirty="0">
                          <a:solidFill>
                            <a:srgbClr val="0070C0"/>
                          </a:solidFill>
                        </a:rPr>
                        <a:t>1</a:t>
                      </a:r>
                      <a:endParaRPr lang="en-US" sz="1400" b="1" dirty="0">
                        <a:solidFill>
                          <a:srgbClr val="0070C0"/>
                        </a:solidFill>
                      </a:endParaRPr>
                    </a:p>
                  </a:txBody>
                  <a:tcPr marL="74295" marR="74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10002"/>
                  </a:ext>
                </a:extLst>
              </a:tr>
              <a:tr h="992016">
                <a:tc>
                  <a:txBody>
                    <a:bodyPr/>
                    <a:lstStyle/>
                    <a:p>
                      <a:r>
                        <a:rPr lang="en-US" sz="1400" b="1" dirty="0"/>
                        <a:t>PEOPLE</a:t>
                      </a:r>
                    </a:p>
                  </a:txBody>
                  <a:tcPr marL="74295" marR="74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800" b="1" cap="small" baseline="0" dirty="0">
                        <a:solidFill>
                          <a:srgbClr val="0070C0"/>
                        </a:solidFill>
                        <a:latin typeface="Berlin Sans FB Demi" pitchFamily="34" charset="0"/>
                      </a:endParaRPr>
                    </a:p>
                  </a:txBody>
                  <a:tcPr marL="74295" marR="74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1" dirty="0">
                          <a:solidFill>
                            <a:srgbClr val="0070C0"/>
                          </a:solidFill>
                        </a:rPr>
                        <a:t>15+15</a:t>
                      </a:r>
                    </a:p>
                  </a:txBody>
                  <a:tcPr marL="74295" marR="74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b="1" dirty="0">
                          <a:solidFill>
                            <a:srgbClr val="0070C0"/>
                          </a:solidFill>
                        </a:rPr>
                        <a:t>x5 x2 </a:t>
                      </a:r>
                    </a:p>
                  </a:txBody>
                  <a:tcPr marL="74295" marR="74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400" b="1" dirty="0">
                          <a:solidFill>
                            <a:srgbClr val="0070C0"/>
                          </a:solidFill>
                        </a:rPr>
                        <a:t>nil</a:t>
                      </a:r>
                      <a:endParaRPr lang="en-US" sz="1400" b="1" dirty="0">
                        <a:solidFill>
                          <a:srgbClr val="0070C0"/>
                        </a:solidFill>
                      </a:endParaRPr>
                    </a:p>
                  </a:txBody>
                  <a:tcPr marL="74295" marR="74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400" b="1" dirty="0">
                          <a:solidFill>
                            <a:srgbClr val="0070C0"/>
                          </a:solidFill>
                        </a:rPr>
                        <a:t>-40</a:t>
                      </a:r>
                      <a:endParaRPr lang="en-US" sz="1400" b="1" dirty="0">
                        <a:solidFill>
                          <a:srgbClr val="0070C0"/>
                        </a:solidFill>
                      </a:endParaRPr>
                    </a:p>
                  </a:txBody>
                  <a:tcPr marL="74295" marR="74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400" b="1" dirty="0">
                          <a:solidFill>
                            <a:srgbClr val="0070C0"/>
                          </a:solidFill>
                        </a:rPr>
                        <a:t>260</a:t>
                      </a:r>
                      <a:endParaRPr lang="en-US" sz="1400" b="1" dirty="0">
                        <a:solidFill>
                          <a:srgbClr val="0070C0"/>
                        </a:solidFill>
                      </a:endParaRPr>
                    </a:p>
                  </a:txBody>
                  <a:tcPr marL="74295" marR="74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GB" sz="1400" b="1" dirty="0">
                          <a:solidFill>
                            <a:srgbClr val="0070C0"/>
                          </a:solidFill>
                        </a:rPr>
                        <a:t>1</a:t>
                      </a:r>
                      <a:endParaRPr lang="en-US" sz="1400" b="1" dirty="0">
                        <a:solidFill>
                          <a:srgbClr val="0070C0"/>
                        </a:solidFill>
                      </a:endParaRPr>
                    </a:p>
                  </a:txBody>
                  <a:tcPr marL="74295" marR="74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10003"/>
                  </a:ext>
                </a:extLst>
              </a:tr>
              <a:tr h="1105389">
                <a:tc>
                  <a:txBody>
                    <a:bodyPr/>
                    <a:lstStyle/>
                    <a:p>
                      <a:r>
                        <a:rPr lang="en-GB" sz="1400" b="1" dirty="0"/>
                        <a:t>SYSTEMS</a:t>
                      </a:r>
                      <a:endParaRPr lang="en-US" sz="1400" b="1" dirty="0"/>
                    </a:p>
                  </a:txBody>
                  <a:tcPr marL="74295" marR="74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en-US" sz="800" b="1" baseline="0" dirty="0">
                        <a:solidFill>
                          <a:srgbClr val="0070C0"/>
                        </a:solidFill>
                        <a:latin typeface="Berlin Sans FB Demi" pitchFamily="34" charset="0"/>
                      </a:endParaRPr>
                    </a:p>
                  </a:txBody>
                  <a:tcPr marL="74295" marR="74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1" dirty="0">
                          <a:solidFill>
                            <a:srgbClr val="0070C0"/>
                          </a:solidFill>
                        </a:rPr>
                        <a:t>10+10</a:t>
                      </a:r>
                    </a:p>
                  </a:txBody>
                  <a:tcPr marL="74295" marR="74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b="1" dirty="0">
                          <a:solidFill>
                            <a:srgbClr val="0070C0"/>
                          </a:solidFill>
                        </a:rPr>
                        <a:t>x6 x2</a:t>
                      </a:r>
                    </a:p>
                  </a:txBody>
                  <a:tcPr marL="74295" marR="74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b="1" dirty="0">
                          <a:solidFill>
                            <a:srgbClr val="0070C0"/>
                          </a:solidFill>
                        </a:rPr>
                        <a:t>nil</a:t>
                      </a:r>
                    </a:p>
                  </a:txBody>
                  <a:tcPr marL="74295" marR="74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400" b="1" dirty="0">
                          <a:solidFill>
                            <a:srgbClr val="0070C0"/>
                          </a:solidFill>
                        </a:rPr>
                        <a:t>-40</a:t>
                      </a:r>
                      <a:endParaRPr lang="en-US" sz="1400" b="1" dirty="0">
                        <a:solidFill>
                          <a:srgbClr val="0070C0"/>
                        </a:solidFill>
                      </a:endParaRPr>
                    </a:p>
                  </a:txBody>
                  <a:tcPr marL="74295" marR="74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400" b="1" dirty="0">
                          <a:solidFill>
                            <a:srgbClr val="0070C0"/>
                          </a:solidFill>
                        </a:rPr>
                        <a:t>200</a:t>
                      </a:r>
                      <a:endParaRPr lang="en-US" sz="1400" b="1" dirty="0">
                        <a:solidFill>
                          <a:srgbClr val="0070C0"/>
                        </a:solidFill>
                      </a:endParaRPr>
                    </a:p>
                  </a:txBody>
                  <a:tcPr marL="74295" marR="74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GB" sz="1400" b="1" dirty="0">
                          <a:solidFill>
                            <a:srgbClr val="0070C0"/>
                          </a:solidFill>
                        </a:rPr>
                        <a:t>1</a:t>
                      </a:r>
                      <a:endParaRPr lang="en-US" sz="1400" b="1" dirty="0">
                        <a:solidFill>
                          <a:srgbClr val="0070C0"/>
                        </a:solidFill>
                      </a:endParaRPr>
                    </a:p>
                  </a:txBody>
                  <a:tcPr marL="74295" marR="74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10004"/>
                  </a:ext>
                </a:extLst>
              </a:tr>
              <a:tr h="878643">
                <a:tc>
                  <a:txBody>
                    <a:bodyPr/>
                    <a:lstStyle/>
                    <a:p>
                      <a:r>
                        <a:rPr lang="en-GB" sz="1400" b="1" dirty="0"/>
                        <a:t>MARKETS</a:t>
                      </a:r>
                      <a:endParaRPr lang="en-US" sz="1400" b="1" dirty="0"/>
                    </a:p>
                  </a:txBody>
                  <a:tcPr marL="74295" marR="74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en-US" sz="800" b="1" cap="small" dirty="0">
                        <a:solidFill>
                          <a:srgbClr val="0070C0"/>
                        </a:solidFill>
                        <a:latin typeface="Berlin Sans FB Demi" pitchFamily="34" charset="0"/>
                      </a:endParaRPr>
                    </a:p>
                  </a:txBody>
                  <a:tcPr marL="74295" marR="74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1" dirty="0">
                          <a:solidFill>
                            <a:srgbClr val="0070C0"/>
                          </a:solidFill>
                        </a:rPr>
                        <a:t>25</a:t>
                      </a:r>
                    </a:p>
                  </a:txBody>
                  <a:tcPr marL="74295" marR="74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b="1" dirty="0">
                          <a:solidFill>
                            <a:srgbClr val="0070C0"/>
                          </a:solidFill>
                        </a:rPr>
                        <a:t>x2</a:t>
                      </a:r>
                    </a:p>
                  </a:txBody>
                  <a:tcPr marL="74295" marR="74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400" b="1" dirty="0">
                          <a:solidFill>
                            <a:srgbClr val="0070C0"/>
                          </a:solidFill>
                        </a:rPr>
                        <a:t>nil</a:t>
                      </a:r>
                      <a:endParaRPr lang="en-US" sz="1400" b="1" dirty="0">
                        <a:solidFill>
                          <a:srgbClr val="0070C0"/>
                        </a:solidFill>
                      </a:endParaRPr>
                    </a:p>
                  </a:txBody>
                  <a:tcPr marL="74295" marR="74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b="1" dirty="0">
                          <a:solidFill>
                            <a:srgbClr val="0070C0"/>
                          </a:solidFill>
                        </a:rPr>
                        <a:t>-60 </a:t>
                      </a:r>
                    </a:p>
                  </a:txBody>
                  <a:tcPr marL="74295" marR="74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400" b="1" dirty="0">
                          <a:solidFill>
                            <a:srgbClr val="0070C0"/>
                          </a:solidFill>
                        </a:rPr>
                        <a:t>-10</a:t>
                      </a:r>
                      <a:endParaRPr lang="en-US" sz="1400" b="1" dirty="0">
                        <a:solidFill>
                          <a:srgbClr val="0070C0"/>
                        </a:solidFill>
                      </a:endParaRPr>
                    </a:p>
                  </a:txBody>
                  <a:tcPr marL="74295" marR="74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GB" sz="1400" b="1" dirty="0">
                          <a:solidFill>
                            <a:srgbClr val="0070C0"/>
                          </a:solidFill>
                        </a:rPr>
                        <a:t>0</a:t>
                      </a:r>
                      <a:endParaRPr lang="en-US" sz="1400" b="1" dirty="0">
                        <a:solidFill>
                          <a:srgbClr val="0070C0"/>
                        </a:solidFill>
                      </a:endParaRPr>
                    </a:p>
                  </a:txBody>
                  <a:tcPr marL="74295" marR="74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10005"/>
                  </a:ext>
                </a:extLst>
              </a:tr>
              <a:tr h="572017">
                <a:tc gridSpan="6">
                  <a:txBody>
                    <a:bodyPr/>
                    <a:lstStyle/>
                    <a:p>
                      <a:pPr algn="r"/>
                      <a:r>
                        <a:rPr lang="en-US" sz="1600" b="1" dirty="0"/>
                        <a:t>TOTAL SCORE (CAPITALIZATION) AND (RISK PROFILE)</a:t>
                      </a:r>
                    </a:p>
                  </a:txBody>
                  <a:tcPr marL="74295" marR="74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tc hMerge="1">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000" b="1" dirty="0">
                          <a:solidFill>
                            <a:srgbClr val="0070C0"/>
                          </a:solidFill>
                        </a:rPr>
                        <a:t>500</a:t>
                      </a:r>
                      <a:endParaRPr lang="en-US" sz="2000" b="1" dirty="0">
                        <a:solidFill>
                          <a:srgbClr val="0070C0"/>
                        </a:solidFill>
                      </a:endParaRPr>
                    </a:p>
                  </a:txBody>
                  <a:tcPr marL="74295" marR="74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GB" sz="2000" b="1" dirty="0">
                          <a:solidFill>
                            <a:srgbClr val="0070C0"/>
                          </a:solidFill>
                        </a:rPr>
                        <a:t>3</a:t>
                      </a:r>
                      <a:endParaRPr lang="en-US" sz="2000" b="1" dirty="0">
                        <a:solidFill>
                          <a:srgbClr val="0070C0"/>
                        </a:solidFill>
                      </a:endParaRPr>
                    </a:p>
                  </a:txBody>
                  <a:tcPr marL="74295" marR="74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0006"/>
                  </a:ext>
                </a:extLst>
              </a:tr>
            </a:tbl>
          </a:graphicData>
        </a:graphic>
      </p:graphicFrame>
      <p:sp>
        <p:nvSpPr>
          <p:cNvPr id="8" name="Rectangle 7"/>
          <p:cNvSpPr/>
          <p:nvPr/>
        </p:nvSpPr>
        <p:spPr>
          <a:xfrm>
            <a:off x="7493662" y="6487171"/>
            <a:ext cx="4461777" cy="23074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t>RED FLAG: IF WASP IS IDENTIFIED , DIVIDE TOTAL SCORE BY HALF</a:t>
            </a:r>
          </a:p>
        </p:txBody>
      </p:sp>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98557" y="3223106"/>
            <a:ext cx="397090" cy="640743"/>
          </a:xfrm>
          <a:prstGeom prst="rect">
            <a:avLst/>
          </a:prstGeom>
        </p:spPr>
      </p:pic>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70594" y="1189116"/>
            <a:ext cx="397090" cy="641617"/>
          </a:xfrm>
          <a:prstGeom prst="rect">
            <a:avLst/>
          </a:prstGeom>
        </p:spPr>
      </p:pic>
      <p:pic>
        <p:nvPicPr>
          <p:cNvPr id="11" name="Picture 1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48594" y="847917"/>
            <a:ext cx="397090" cy="639322"/>
          </a:xfrm>
          <a:prstGeom prst="rect">
            <a:avLst/>
          </a:prstGeom>
        </p:spPr>
      </p:pic>
      <p:pic>
        <p:nvPicPr>
          <p:cNvPr id="13" name="Picture 1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58246" y="2087788"/>
            <a:ext cx="397090" cy="640743"/>
          </a:xfrm>
          <a:prstGeom prst="rect">
            <a:avLst/>
          </a:prstGeom>
        </p:spPr>
      </p:pic>
      <p:pic>
        <p:nvPicPr>
          <p:cNvPr id="14" name="Picture 13"/>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307556" y="2087787"/>
            <a:ext cx="414173" cy="640743"/>
          </a:xfrm>
          <a:prstGeom prst="rect">
            <a:avLst/>
          </a:prstGeom>
        </p:spPr>
      </p:pic>
      <p:pic>
        <p:nvPicPr>
          <p:cNvPr id="17" name="Picture 16"/>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357441" y="3034706"/>
            <a:ext cx="424696" cy="685288"/>
          </a:xfrm>
          <a:prstGeom prst="rect">
            <a:avLst/>
          </a:prstGeom>
        </p:spPr>
      </p:pic>
      <p:pic>
        <p:nvPicPr>
          <p:cNvPr id="18" name="Picture 17"/>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844443" y="3034706"/>
            <a:ext cx="424696" cy="686223"/>
          </a:xfrm>
          <a:prstGeom prst="rect">
            <a:avLst/>
          </a:prstGeom>
        </p:spPr>
      </p:pic>
      <p:pic>
        <p:nvPicPr>
          <p:cNvPr id="19" name="Picture 1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48594" y="1646875"/>
            <a:ext cx="397090" cy="639322"/>
          </a:xfrm>
          <a:prstGeom prst="rect">
            <a:avLst/>
          </a:prstGeom>
        </p:spPr>
      </p:pic>
      <p:pic>
        <p:nvPicPr>
          <p:cNvPr id="20" name="Picture 19"/>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837959" y="4045530"/>
            <a:ext cx="437664" cy="706212"/>
          </a:xfrm>
          <a:prstGeom prst="rect">
            <a:avLst/>
          </a:prstGeom>
        </p:spPr>
      </p:pic>
      <p:pic>
        <p:nvPicPr>
          <p:cNvPr id="22" name="Picture 21"/>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2371978" y="4045530"/>
            <a:ext cx="429316" cy="692742"/>
          </a:xfrm>
          <a:prstGeom prst="rect">
            <a:avLst/>
          </a:prstGeom>
        </p:spPr>
      </p:pic>
      <p:pic>
        <p:nvPicPr>
          <p:cNvPr id="26" name="Picture 25"/>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2111291" y="5022183"/>
            <a:ext cx="458498" cy="740840"/>
          </a:xfrm>
          <a:prstGeom prst="rect">
            <a:avLst/>
          </a:prstGeom>
        </p:spPr>
      </p:pic>
    </p:spTree>
    <p:extLst>
      <p:ext uri="{BB962C8B-B14F-4D97-AF65-F5344CB8AC3E}">
        <p14:creationId xmlns:p14="http://schemas.microsoft.com/office/powerpoint/2010/main" val="15257155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3" name="Group 62"/>
          <p:cNvGrpSpPr/>
          <p:nvPr/>
        </p:nvGrpSpPr>
        <p:grpSpPr>
          <a:xfrm>
            <a:off x="331076" y="0"/>
            <a:ext cx="10089931" cy="6858000"/>
            <a:chOff x="331076" y="0"/>
            <a:chExt cx="10089931" cy="6858000"/>
          </a:xfrm>
        </p:grpSpPr>
        <p:sp>
          <p:nvSpPr>
            <p:cNvPr id="62" name="Rectangle 61"/>
            <p:cNvSpPr/>
            <p:nvPr/>
          </p:nvSpPr>
          <p:spPr>
            <a:xfrm>
              <a:off x="331076" y="0"/>
              <a:ext cx="10089931"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Title 1"/>
            <p:cNvSpPr txBox="1">
              <a:spLocks/>
            </p:cNvSpPr>
            <p:nvPr/>
          </p:nvSpPr>
          <p:spPr>
            <a:xfrm>
              <a:off x="662152" y="190202"/>
              <a:ext cx="9380481" cy="393121"/>
            </a:xfrm>
            <a:prstGeom prst="rect">
              <a:avLst/>
            </a:prstGeom>
          </p:spPr>
          <p:txBody>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lang="en-US" sz="2000" b="1" dirty="0">
                  <a:solidFill>
                    <a:srgbClr val="FF0000"/>
                  </a:solidFill>
                  <a:latin typeface="+mj-lt"/>
                  <a:ea typeface="+mj-ea"/>
                  <a:cs typeface="+mj-cs"/>
                </a:rPr>
                <a:t>USE THIS PUZZLE MAP TO ARRANGE YOUR ACTIVATED CARDS IN THE PROPER ORDER </a:t>
              </a:r>
              <a:endParaRPr kumimoji="0" lang="en-US" sz="2000" b="1" i="0" u="none" strike="noStrike" kern="1200" cap="none" spc="0" normalizeH="0" baseline="0" noProof="0" dirty="0">
                <a:ln>
                  <a:noFill/>
                </a:ln>
                <a:solidFill>
                  <a:srgbClr val="FF0000"/>
                </a:solidFill>
                <a:effectLst/>
                <a:uLnTx/>
                <a:uFillTx/>
                <a:latin typeface="+mj-lt"/>
                <a:ea typeface="+mj-ea"/>
                <a:cs typeface="+mj-cs"/>
              </a:endParaRPr>
            </a:p>
          </p:txBody>
        </p:sp>
        <p:grpSp>
          <p:nvGrpSpPr>
            <p:cNvPr id="134" name="Group 133"/>
            <p:cNvGrpSpPr/>
            <p:nvPr/>
          </p:nvGrpSpPr>
          <p:grpSpPr>
            <a:xfrm>
              <a:off x="706953" y="739308"/>
              <a:ext cx="9363320" cy="5842273"/>
              <a:chOff x="611953" y="406808"/>
              <a:chExt cx="9363320" cy="5842273"/>
            </a:xfrm>
          </p:grpSpPr>
          <p:sp>
            <p:nvSpPr>
              <p:cNvPr id="119" name="Rectangle 118"/>
              <p:cNvSpPr/>
              <p:nvPr/>
            </p:nvSpPr>
            <p:spPr>
              <a:xfrm>
                <a:off x="611953" y="589637"/>
                <a:ext cx="9363320" cy="5466779"/>
              </a:xfrm>
              <a:prstGeom prst="rect">
                <a:avLst/>
              </a:prstGeom>
              <a:noFill/>
              <a:ln w="57150">
                <a:solidFill>
                  <a:schemeClr val="tx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5102465" y="5845899"/>
                <a:ext cx="359676" cy="403182"/>
              </a:xfrm>
              <a:prstGeom prst="ellipse">
                <a:avLst/>
              </a:prstGeom>
              <a:solidFill>
                <a:srgbClr val="7030A0"/>
              </a:solidFill>
              <a:ln w="38100">
                <a:solidFill>
                  <a:schemeClr val="tx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2" name="Group 91"/>
              <p:cNvGrpSpPr/>
              <p:nvPr/>
            </p:nvGrpSpPr>
            <p:grpSpPr>
              <a:xfrm>
                <a:off x="5177227" y="406808"/>
                <a:ext cx="359676" cy="403182"/>
                <a:chOff x="8656734" y="751263"/>
                <a:chExt cx="359676" cy="403182"/>
              </a:xfrm>
            </p:grpSpPr>
            <p:sp>
              <p:nvSpPr>
                <p:cNvPr id="20" name="Oval 19"/>
                <p:cNvSpPr/>
                <p:nvPr/>
              </p:nvSpPr>
              <p:spPr>
                <a:xfrm>
                  <a:off x="8656734" y="751263"/>
                  <a:ext cx="359676" cy="403182"/>
                </a:xfrm>
                <a:prstGeom prst="ellipse">
                  <a:avLst/>
                </a:prstGeom>
                <a:solidFill>
                  <a:srgbClr val="00B050"/>
                </a:solidFill>
                <a:ln w="38100">
                  <a:solidFill>
                    <a:schemeClr val="tx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5-Point Star 150"/>
                <p:cNvSpPr/>
                <p:nvPr/>
              </p:nvSpPr>
              <p:spPr>
                <a:xfrm>
                  <a:off x="8752993" y="837102"/>
                  <a:ext cx="181196" cy="192041"/>
                </a:xfrm>
                <a:prstGeom prst="star5">
                  <a:avLst/>
                </a:prstGeom>
                <a:solidFill>
                  <a:srgbClr val="FFFF00"/>
                </a:solidFill>
                <a:ln w="57150">
                  <a:solidFill>
                    <a:srgbClr val="FF0000"/>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dirty="0">
                    <a:solidFill>
                      <a:schemeClr val="tx1"/>
                    </a:solidFill>
                  </a:endParaRPr>
                </a:p>
              </p:txBody>
            </p:sp>
          </p:grpSp>
          <p:grpSp>
            <p:nvGrpSpPr>
              <p:cNvPr id="133" name="Group 132"/>
              <p:cNvGrpSpPr/>
              <p:nvPr/>
            </p:nvGrpSpPr>
            <p:grpSpPr>
              <a:xfrm>
                <a:off x="1198574" y="1270648"/>
                <a:ext cx="8456064" cy="4155087"/>
                <a:chOff x="1198574" y="1270648"/>
                <a:chExt cx="8456064" cy="4155087"/>
              </a:xfrm>
            </p:grpSpPr>
            <p:sp>
              <p:nvSpPr>
                <p:cNvPr id="4" name="Oval 3"/>
                <p:cNvSpPr/>
                <p:nvPr/>
              </p:nvSpPr>
              <p:spPr>
                <a:xfrm>
                  <a:off x="1200283" y="1339862"/>
                  <a:ext cx="359676" cy="403182"/>
                </a:xfrm>
                <a:prstGeom prst="ellipse">
                  <a:avLst/>
                </a:prstGeom>
                <a:solidFill>
                  <a:schemeClr val="tx1"/>
                </a:solidFill>
                <a:ln w="38100">
                  <a:solidFill>
                    <a:schemeClr val="tx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p:cNvSpPr/>
                <p:nvPr/>
              </p:nvSpPr>
              <p:spPr>
                <a:xfrm>
                  <a:off x="1198574" y="2220669"/>
                  <a:ext cx="359676" cy="403182"/>
                </a:xfrm>
                <a:prstGeom prst="ellipse">
                  <a:avLst/>
                </a:prstGeom>
                <a:solidFill>
                  <a:srgbClr val="FFFF00"/>
                </a:solidFill>
                <a:ln w="38100">
                  <a:solidFill>
                    <a:schemeClr val="tx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1988131" y="2218856"/>
                  <a:ext cx="359676" cy="403182"/>
                </a:xfrm>
                <a:prstGeom prst="ellipse">
                  <a:avLst/>
                </a:prstGeom>
                <a:solidFill>
                  <a:srgbClr val="FFFF00"/>
                </a:solidFill>
                <a:ln w="38100">
                  <a:solidFill>
                    <a:schemeClr val="tx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2829070" y="2227941"/>
                  <a:ext cx="359676" cy="403182"/>
                </a:xfrm>
                <a:prstGeom prst="ellipse">
                  <a:avLst/>
                </a:prstGeom>
                <a:solidFill>
                  <a:srgbClr val="FFFF00"/>
                </a:solidFill>
                <a:ln w="38100">
                  <a:solidFill>
                    <a:schemeClr val="tx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5731919" y="2241390"/>
                  <a:ext cx="359676" cy="403182"/>
                </a:xfrm>
                <a:prstGeom prst="ellipse">
                  <a:avLst/>
                </a:prstGeom>
                <a:solidFill>
                  <a:schemeClr val="bg1">
                    <a:lumMod val="65000"/>
                  </a:schemeClr>
                </a:solidFill>
                <a:ln w="38100">
                  <a:solidFill>
                    <a:schemeClr val="tx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6520880" y="2246122"/>
                  <a:ext cx="359676" cy="403182"/>
                </a:xfrm>
                <a:prstGeom prst="ellipse">
                  <a:avLst/>
                </a:prstGeom>
                <a:solidFill>
                  <a:srgbClr val="00B050"/>
                </a:solidFill>
                <a:ln w="38100">
                  <a:solidFill>
                    <a:schemeClr val="tx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7300184" y="2244311"/>
                  <a:ext cx="359676" cy="403182"/>
                </a:xfrm>
                <a:prstGeom prst="ellipse">
                  <a:avLst/>
                </a:prstGeom>
                <a:solidFill>
                  <a:srgbClr val="00B050"/>
                </a:solidFill>
                <a:ln w="38100">
                  <a:solidFill>
                    <a:schemeClr val="tx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8038361" y="2242499"/>
                  <a:ext cx="359676" cy="403182"/>
                </a:xfrm>
                <a:prstGeom prst="ellipse">
                  <a:avLst/>
                </a:prstGeom>
                <a:solidFill>
                  <a:srgbClr val="00B050"/>
                </a:solidFill>
                <a:ln w="38100">
                  <a:solidFill>
                    <a:schemeClr val="tx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a:off x="8755985" y="2240686"/>
                  <a:ext cx="359676" cy="403182"/>
                </a:xfrm>
                <a:prstGeom prst="ellipse">
                  <a:avLst/>
                </a:prstGeom>
                <a:solidFill>
                  <a:srgbClr val="00B050"/>
                </a:solidFill>
                <a:ln w="38100">
                  <a:solidFill>
                    <a:schemeClr val="tx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8223316" y="4938304"/>
                  <a:ext cx="359676" cy="403182"/>
                </a:xfrm>
                <a:prstGeom prst="ellipse">
                  <a:avLst/>
                </a:prstGeom>
                <a:solidFill>
                  <a:srgbClr val="00B0F0"/>
                </a:solidFill>
                <a:ln w="38100">
                  <a:solidFill>
                    <a:schemeClr val="tx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Arrow Connector 22"/>
                <p:cNvCxnSpPr>
                  <a:stCxn id="4" idx="4"/>
                  <a:endCxn id="5" idx="0"/>
                </p:cNvCxnSpPr>
                <p:nvPr/>
              </p:nvCxnSpPr>
              <p:spPr>
                <a:xfrm flipH="1">
                  <a:off x="1378412" y="1743045"/>
                  <a:ext cx="1709" cy="477624"/>
                </a:xfrm>
                <a:prstGeom prst="straightConnector1">
                  <a:avLst/>
                </a:prstGeom>
                <a:ln w="38100">
                  <a:solidFill>
                    <a:schemeClr val="tx1"/>
                  </a:solidFill>
                  <a:tailEnd type="arrow"/>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5" idx="6"/>
                  <a:endCxn id="6" idx="2"/>
                </p:cNvCxnSpPr>
                <p:nvPr/>
              </p:nvCxnSpPr>
              <p:spPr>
                <a:xfrm flipV="1">
                  <a:off x="1558250" y="2420448"/>
                  <a:ext cx="429881" cy="1812"/>
                </a:xfrm>
                <a:prstGeom prst="straightConnector1">
                  <a:avLst/>
                </a:prstGeom>
                <a:ln w="38100">
                  <a:solidFill>
                    <a:schemeClr val="tx1"/>
                  </a:solidFill>
                  <a:tailEnd type="arrow"/>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6" idx="6"/>
                  <a:endCxn id="7" idx="2"/>
                </p:cNvCxnSpPr>
                <p:nvPr/>
              </p:nvCxnSpPr>
              <p:spPr>
                <a:xfrm>
                  <a:off x="2347808" y="2420448"/>
                  <a:ext cx="481262" cy="9084"/>
                </a:xfrm>
                <a:prstGeom prst="straightConnector1">
                  <a:avLst/>
                </a:prstGeom>
                <a:ln w="38100">
                  <a:solidFill>
                    <a:schemeClr val="tx1"/>
                  </a:solidFill>
                  <a:tailEnd type="arrow"/>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a:stCxn id="71" idx="6"/>
                  <a:endCxn id="10" idx="2"/>
                </p:cNvCxnSpPr>
                <p:nvPr/>
              </p:nvCxnSpPr>
              <p:spPr>
                <a:xfrm>
                  <a:off x="5365489" y="2437318"/>
                  <a:ext cx="366430" cy="5663"/>
                </a:xfrm>
                <a:prstGeom prst="straightConnector1">
                  <a:avLst/>
                </a:prstGeom>
                <a:ln w="38100">
                  <a:solidFill>
                    <a:schemeClr val="tx1"/>
                  </a:solidFill>
                  <a:tailEnd type="arrow"/>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sp>
              <p:nvSpPr>
                <p:cNvPr id="71" name="Oval 70"/>
                <p:cNvSpPr/>
                <p:nvPr/>
              </p:nvSpPr>
              <p:spPr>
                <a:xfrm>
                  <a:off x="5005813" y="2235727"/>
                  <a:ext cx="359676" cy="403182"/>
                </a:xfrm>
                <a:prstGeom prst="ellipse">
                  <a:avLst/>
                </a:prstGeom>
                <a:solidFill>
                  <a:schemeClr val="bg1">
                    <a:lumMod val="65000"/>
                  </a:schemeClr>
                </a:solidFill>
                <a:ln w="38100">
                  <a:solidFill>
                    <a:schemeClr val="tx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4" name="Straight Arrow Connector 83"/>
                <p:cNvCxnSpPr>
                  <a:stCxn id="12" idx="6"/>
                  <a:endCxn id="13" idx="2"/>
                </p:cNvCxnSpPr>
                <p:nvPr/>
              </p:nvCxnSpPr>
              <p:spPr>
                <a:xfrm flipV="1">
                  <a:off x="6880556" y="2445902"/>
                  <a:ext cx="419629" cy="1811"/>
                </a:xfrm>
                <a:prstGeom prst="straightConnector1">
                  <a:avLst/>
                </a:prstGeom>
                <a:ln w="38100">
                  <a:solidFill>
                    <a:schemeClr val="tx1"/>
                  </a:solidFill>
                  <a:tailEnd type="arrow"/>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cxnSp>
              <p:nvCxnSpPr>
                <p:cNvPr id="87" name="Straight Arrow Connector 86"/>
                <p:cNvCxnSpPr>
                  <a:stCxn id="13" idx="6"/>
                  <a:endCxn id="14" idx="2"/>
                </p:cNvCxnSpPr>
                <p:nvPr/>
              </p:nvCxnSpPr>
              <p:spPr>
                <a:xfrm flipV="1">
                  <a:off x="7659860" y="2444090"/>
                  <a:ext cx="378500" cy="1812"/>
                </a:xfrm>
                <a:prstGeom prst="straightConnector1">
                  <a:avLst/>
                </a:prstGeom>
                <a:ln w="38100">
                  <a:solidFill>
                    <a:schemeClr val="tx1"/>
                  </a:solidFill>
                  <a:tailEnd type="arrow"/>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cxnSp>
              <p:nvCxnSpPr>
                <p:cNvPr id="90" name="Straight Arrow Connector 89"/>
                <p:cNvCxnSpPr>
                  <a:stCxn id="14" idx="6"/>
                  <a:endCxn id="15" idx="2"/>
                </p:cNvCxnSpPr>
                <p:nvPr/>
              </p:nvCxnSpPr>
              <p:spPr>
                <a:xfrm flipV="1">
                  <a:off x="8398037" y="2442278"/>
                  <a:ext cx="357948" cy="1812"/>
                </a:xfrm>
                <a:prstGeom prst="straightConnector1">
                  <a:avLst/>
                </a:prstGeom>
                <a:ln w="38100">
                  <a:solidFill>
                    <a:schemeClr val="tx1"/>
                  </a:solidFill>
                  <a:tailEnd type="arrow"/>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cxnSp>
              <p:nvCxnSpPr>
                <p:cNvPr id="94" name="Elbow Connector 93"/>
                <p:cNvCxnSpPr>
                  <a:stCxn id="12" idx="4"/>
                  <a:endCxn id="16" idx="0"/>
                </p:cNvCxnSpPr>
                <p:nvPr/>
              </p:nvCxnSpPr>
              <p:spPr>
                <a:xfrm rot="16200000" flipH="1">
                  <a:off x="6856012" y="2494010"/>
                  <a:ext cx="818087" cy="1128674"/>
                </a:xfrm>
                <a:prstGeom prst="bentConnector3">
                  <a:avLst>
                    <a:gd name="adj1" fmla="val 50000"/>
                  </a:avLst>
                </a:prstGeom>
                <a:ln w="38100">
                  <a:solidFill>
                    <a:schemeClr val="tx1"/>
                  </a:solidFill>
                  <a:tailEnd type="arrow"/>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cxnSp>
              <p:nvCxnSpPr>
                <p:cNvPr id="97" name="Elbow Connector 96"/>
                <p:cNvCxnSpPr>
                  <a:stCxn id="13" idx="4"/>
                  <a:endCxn id="16" idx="0"/>
                </p:cNvCxnSpPr>
                <p:nvPr/>
              </p:nvCxnSpPr>
              <p:spPr>
                <a:xfrm rot="16200000" flipH="1">
                  <a:off x="7244758" y="2882757"/>
                  <a:ext cx="819898" cy="349370"/>
                </a:xfrm>
                <a:prstGeom prst="bentConnector3">
                  <a:avLst>
                    <a:gd name="adj1" fmla="val 50000"/>
                  </a:avLst>
                </a:prstGeom>
                <a:ln w="38100">
                  <a:solidFill>
                    <a:schemeClr val="tx1"/>
                  </a:solidFill>
                  <a:tailEnd type="arrow"/>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cxnSp>
              <p:nvCxnSpPr>
                <p:cNvPr id="100" name="Elbow Connector 99"/>
                <p:cNvCxnSpPr>
                  <a:stCxn id="14" idx="4"/>
                  <a:endCxn id="16" idx="0"/>
                </p:cNvCxnSpPr>
                <p:nvPr/>
              </p:nvCxnSpPr>
              <p:spPr>
                <a:xfrm rot="5400000">
                  <a:off x="7612941" y="2862133"/>
                  <a:ext cx="821710" cy="388807"/>
                </a:xfrm>
                <a:prstGeom prst="bentConnector3">
                  <a:avLst>
                    <a:gd name="adj1" fmla="val 50000"/>
                  </a:avLst>
                </a:prstGeom>
                <a:ln w="38100">
                  <a:solidFill>
                    <a:schemeClr val="tx1"/>
                  </a:solidFill>
                  <a:tailEnd type="arrow"/>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cxnSp>
              <p:nvCxnSpPr>
                <p:cNvPr id="103" name="Elbow Connector 102"/>
                <p:cNvCxnSpPr>
                  <a:stCxn id="15" idx="4"/>
                  <a:endCxn id="16" idx="0"/>
                </p:cNvCxnSpPr>
                <p:nvPr/>
              </p:nvCxnSpPr>
              <p:spPr>
                <a:xfrm rot="5400000">
                  <a:off x="7970847" y="2502414"/>
                  <a:ext cx="823523" cy="1106431"/>
                </a:xfrm>
                <a:prstGeom prst="bentConnector3">
                  <a:avLst>
                    <a:gd name="adj1" fmla="val 50000"/>
                  </a:avLst>
                </a:prstGeom>
                <a:ln w="38100">
                  <a:solidFill>
                    <a:schemeClr val="tx1"/>
                  </a:solidFill>
                  <a:tailEnd type="arrow"/>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cxnSp>
              <p:nvCxnSpPr>
                <p:cNvPr id="126" name="Elbow Connector 125"/>
                <p:cNvCxnSpPr>
                  <a:stCxn id="16" idx="4"/>
                  <a:endCxn id="18" idx="0"/>
                </p:cNvCxnSpPr>
                <p:nvPr/>
              </p:nvCxnSpPr>
              <p:spPr>
                <a:xfrm rot="5400000">
                  <a:off x="7334057" y="3848642"/>
                  <a:ext cx="473404" cy="517266"/>
                </a:xfrm>
                <a:prstGeom prst="bentConnector3">
                  <a:avLst>
                    <a:gd name="adj1" fmla="val 50000"/>
                  </a:avLst>
                </a:prstGeom>
                <a:ln w="38100">
                  <a:solidFill>
                    <a:schemeClr val="tx1"/>
                  </a:solidFill>
                  <a:tailEnd type="arrow"/>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cxnSp>
              <p:nvCxnSpPr>
                <p:cNvPr id="132" name="Elbow Connector 131"/>
                <p:cNvCxnSpPr>
                  <a:stCxn id="5" idx="4"/>
                  <a:endCxn id="18" idx="2"/>
                </p:cNvCxnSpPr>
                <p:nvPr/>
              </p:nvCxnSpPr>
              <p:spPr>
                <a:xfrm rot="16200000" flipH="1">
                  <a:off x="3294492" y="707771"/>
                  <a:ext cx="1921717" cy="5753876"/>
                </a:xfrm>
                <a:prstGeom prst="bentConnector2">
                  <a:avLst/>
                </a:prstGeom>
                <a:ln w="38100">
                  <a:solidFill>
                    <a:schemeClr val="tx1"/>
                  </a:solidFill>
                  <a:tailEnd type="arrow"/>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cxnSp>
              <p:nvCxnSpPr>
                <p:cNvPr id="135" name="Elbow Connector 131"/>
                <p:cNvCxnSpPr>
                  <a:stCxn id="5" idx="4"/>
                  <a:endCxn id="17" idx="2"/>
                </p:cNvCxnSpPr>
                <p:nvPr/>
              </p:nvCxnSpPr>
              <p:spPr>
                <a:xfrm rot="16200000" flipH="1">
                  <a:off x="3542842" y="459421"/>
                  <a:ext cx="2516044" cy="6844904"/>
                </a:xfrm>
                <a:prstGeom prst="bentConnector2">
                  <a:avLst/>
                </a:prstGeom>
                <a:ln w="38100">
                  <a:solidFill>
                    <a:schemeClr val="tx1"/>
                  </a:solidFill>
                  <a:tailEnd type="arrow"/>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sp>
              <p:nvSpPr>
                <p:cNvPr id="143" name="5-Point Star 142"/>
                <p:cNvSpPr/>
                <p:nvPr/>
              </p:nvSpPr>
              <p:spPr>
                <a:xfrm>
                  <a:off x="1296503" y="2335569"/>
                  <a:ext cx="181196" cy="192041"/>
                </a:xfrm>
                <a:prstGeom prst="star5">
                  <a:avLst/>
                </a:prstGeom>
                <a:solidFill>
                  <a:srgbClr val="FFFF00"/>
                </a:solidFill>
                <a:ln w="57150">
                  <a:solidFill>
                    <a:srgbClr val="FFC000"/>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dirty="0">
                    <a:solidFill>
                      <a:schemeClr val="tx1"/>
                    </a:solidFill>
                  </a:endParaRPr>
                </a:p>
              </p:txBody>
            </p:sp>
            <p:grpSp>
              <p:nvGrpSpPr>
                <p:cNvPr id="69" name="Group 68"/>
                <p:cNvGrpSpPr/>
                <p:nvPr/>
              </p:nvGrpSpPr>
              <p:grpSpPr>
                <a:xfrm>
                  <a:off x="3875791" y="1631021"/>
                  <a:ext cx="1385263" cy="894668"/>
                  <a:chOff x="3270144" y="2545439"/>
                  <a:chExt cx="1385263" cy="894668"/>
                </a:xfrm>
              </p:grpSpPr>
              <p:sp>
                <p:nvSpPr>
                  <p:cNvPr id="8" name="Oval 7"/>
                  <p:cNvSpPr/>
                  <p:nvPr/>
                </p:nvSpPr>
                <p:spPr>
                  <a:xfrm>
                    <a:off x="3270144" y="2545439"/>
                    <a:ext cx="359676" cy="403182"/>
                  </a:xfrm>
                  <a:prstGeom prst="ellipse">
                    <a:avLst/>
                  </a:prstGeom>
                  <a:solidFill>
                    <a:schemeClr val="bg1">
                      <a:lumMod val="65000"/>
                    </a:schemeClr>
                  </a:solidFill>
                  <a:ln w="38100">
                    <a:solidFill>
                      <a:schemeClr val="tx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5-Point Star 144"/>
                  <p:cNvSpPr/>
                  <p:nvPr/>
                </p:nvSpPr>
                <p:spPr>
                  <a:xfrm>
                    <a:off x="3364877" y="2649086"/>
                    <a:ext cx="181196" cy="192041"/>
                  </a:xfrm>
                  <a:prstGeom prst="star5">
                    <a:avLst/>
                  </a:prstGeom>
                  <a:solidFill>
                    <a:srgbClr val="FFFF00"/>
                  </a:solidFill>
                  <a:ln w="57150">
                    <a:solidFill>
                      <a:srgbClr val="FFC000"/>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dirty="0">
                      <a:solidFill>
                        <a:schemeClr val="tx1"/>
                      </a:solidFill>
                    </a:endParaRPr>
                  </a:p>
                </p:txBody>
              </p:sp>
              <p:sp>
                <p:nvSpPr>
                  <p:cNvPr id="65" name="5-Point Star 144">
                    <a:extLst>
                      <a:ext uri="{FF2B5EF4-FFF2-40B4-BE49-F238E27FC236}">
                        <a16:creationId xmlns:a16="http://schemas.microsoft.com/office/drawing/2014/main" id="{B26EAC13-45C0-44A8-B153-5829B338857F}"/>
                      </a:ext>
                    </a:extLst>
                  </p:cNvPr>
                  <p:cNvSpPr/>
                  <p:nvPr/>
                </p:nvSpPr>
                <p:spPr>
                  <a:xfrm>
                    <a:off x="4474211" y="3248066"/>
                    <a:ext cx="181196" cy="192041"/>
                  </a:xfrm>
                  <a:prstGeom prst="star5">
                    <a:avLst/>
                  </a:prstGeom>
                  <a:solidFill>
                    <a:srgbClr val="FFFF00"/>
                  </a:solidFill>
                  <a:ln w="57150">
                    <a:solidFill>
                      <a:srgbClr val="FFC000"/>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dirty="0">
                      <a:solidFill>
                        <a:schemeClr val="tx1"/>
                      </a:solidFill>
                    </a:endParaRPr>
                  </a:p>
                </p:txBody>
              </p:sp>
            </p:grpSp>
            <p:grpSp>
              <p:nvGrpSpPr>
                <p:cNvPr id="68" name="Group 67"/>
                <p:cNvGrpSpPr/>
                <p:nvPr/>
              </p:nvGrpSpPr>
              <p:grpSpPr>
                <a:xfrm>
                  <a:off x="3881576" y="2804840"/>
                  <a:ext cx="359676" cy="403182"/>
                  <a:chOff x="3798445" y="2531752"/>
                  <a:chExt cx="359676" cy="403182"/>
                </a:xfrm>
              </p:grpSpPr>
              <p:sp>
                <p:nvSpPr>
                  <p:cNvPr id="9" name="Oval 8"/>
                  <p:cNvSpPr/>
                  <p:nvPr/>
                </p:nvSpPr>
                <p:spPr>
                  <a:xfrm>
                    <a:off x="3798445" y="2531752"/>
                    <a:ext cx="359676" cy="403182"/>
                  </a:xfrm>
                  <a:prstGeom prst="ellipse">
                    <a:avLst/>
                  </a:prstGeom>
                  <a:solidFill>
                    <a:schemeClr val="bg1">
                      <a:lumMod val="65000"/>
                    </a:schemeClr>
                  </a:solidFill>
                  <a:ln w="38100">
                    <a:solidFill>
                      <a:schemeClr val="tx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5-Point Star 145"/>
                  <p:cNvSpPr/>
                  <p:nvPr/>
                </p:nvSpPr>
                <p:spPr>
                  <a:xfrm>
                    <a:off x="3885679" y="2667884"/>
                    <a:ext cx="181196" cy="192041"/>
                  </a:xfrm>
                  <a:prstGeom prst="star5">
                    <a:avLst/>
                  </a:prstGeom>
                  <a:solidFill>
                    <a:srgbClr val="FFFF00"/>
                  </a:solidFill>
                  <a:ln w="57150">
                    <a:solidFill>
                      <a:srgbClr val="FFC000"/>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dirty="0">
                      <a:solidFill>
                        <a:schemeClr val="tx1"/>
                      </a:solidFill>
                    </a:endParaRPr>
                  </a:p>
                </p:txBody>
              </p:sp>
            </p:grpSp>
            <p:sp>
              <p:nvSpPr>
                <p:cNvPr id="147" name="5-Point Star 146"/>
                <p:cNvSpPr/>
                <p:nvPr/>
              </p:nvSpPr>
              <p:spPr>
                <a:xfrm>
                  <a:off x="6617085" y="2348368"/>
                  <a:ext cx="181196" cy="192041"/>
                </a:xfrm>
                <a:prstGeom prst="star5">
                  <a:avLst/>
                </a:prstGeom>
                <a:solidFill>
                  <a:srgbClr val="FFFF00"/>
                </a:solidFill>
                <a:ln w="57150">
                  <a:solidFill>
                    <a:srgbClr val="FFC000"/>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dirty="0">
                    <a:solidFill>
                      <a:schemeClr val="tx1"/>
                    </a:solidFill>
                  </a:endParaRPr>
                </a:p>
              </p:txBody>
            </p:sp>
            <p:grpSp>
              <p:nvGrpSpPr>
                <p:cNvPr id="130" name="Group 129"/>
                <p:cNvGrpSpPr/>
                <p:nvPr/>
              </p:nvGrpSpPr>
              <p:grpSpPr>
                <a:xfrm>
                  <a:off x="7649554" y="3467391"/>
                  <a:ext cx="359676" cy="403182"/>
                  <a:chOff x="7649554" y="3752391"/>
                  <a:chExt cx="359676" cy="403182"/>
                </a:xfrm>
              </p:grpSpPr>
              <p:sp>
                <p:nvSpPr>
                  <p:cNvPr id="16" name="Oval 15"/>
                  <p:cNvSpPr/>
                  <p:nvPr/>
                </p:nvSpPr>
                <p:spPr>
                  <a:xfrm>
                    <a:off x="7649554" y="3752391"/>
                    <a:ext cx="359676" cy="403182"/>
                  </a:xfrm>
                  <a:prstGeom prst="ellipse">
                    <a:avLst/>
                  </a:prstGeom>
                  <a:solidFill>
                    <a:srgbClr val="00B0F0"/>
                  </a:solidFill>
                  <a:ln w="38100">
                    <a:solidFill>
                      <a:schemeClr val="tx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5-Point Star 147"/>
                  <p:cNvSpPr/>
                  <p:nvPr/>
                </p:nvSpPr>
                <p:spPr>
                  <a:xfrm>
                    <a:off x="7745784" y="3854657"/>
                    <a:ext cx="181196" cy="192041"/>
                  </a:xfrm>
                  <a:prstGeom prst="star5">
                    <a:avLst/>
                  </a:prstGeom>
                  <a:solidFill>
                    <a:srgbClr val="FFFF00"/>
                  </a:solidFill>
                  <a:ln w="57150">
                    <a:solidFill>
                      <a:srgbClr val="FFC000"/>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dirty="0">
                      <a:solidFill>
                        <a:schemeClr val="tx1"/>
                      </a:solidFill>
                    </a:endParaRPr>
                  </a:p>
                </p:txBody>
              </p:sp>
            </p:grpSp>
            <p:grpSp>
              <p:nvGrpSpPr>
                <p:cNvPr id="131" name="Group 130"/>
                <p:cNvGrpSpPr/>
                <p:nvPr/>
              </p:nvGrpSpPr>
              <p:grpSpPr>
                <a:xfrm>
                  <a:off x="7132288" y="4343977"/>
                  <a:ext cx="359676" cy="403182"/>
                  <a:chOff x="7132288" y="4438977"/>
                  <a:chExt cx="359676" cy="403182"/>
                </a:xfrm>
              </p:grpSpPr>
              <p:sp>
                <p:nvSpPr>
                  <p:cNvPr id="18" name="Oval 17"/>
                  <p:cNvSpPr/>
                  <p:nvPr/>
                </p:nvSpPr>
                <p:spPr>
                  <a:xfrm>
                    <a:off x="7132288" y="4438977"/>
                    <a:ext cx="359676" cy="403182"/>
                  </a:xfrm>
                  <a:prstGeom prst="ellipse">
                    <a:avLst/>
                  </a:prstGeom>
                  <a:solidFill>
                    <a:srgbClr val="00B0F0"/>
                  </a:solidFill>
                  <a:ln w="38100">
                    <a:solidFill>
                      <a:schemeClr val="tx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5-Point Star 148"/>
                  <p:cNvSpPr/>
                  <p:nvPr/>
                </p:nvSpPr>
                <p:spPr>
                  <a:xfrm>
                    <a:off x="7218372" y="4550373"/>
                    <a:ext cx="181196" cy="192041"/>
                  </a:xfrm>
                  <a:prstGeom prst="star5">
                    <a:avLst/>
                  </a:prstGeom>
                  <a:solidFill>
                    <a:srgbClr val="FFFF00"/>
                  </a:solidFill>
                  <a:ln w="57150">
                    <a:solidFill>
                      <a:srgbClr val="FFC000"/>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dirty="0">
                      <a:solidFill>
                        <a:schemeClr val="tx1"/>
                      </a:solidFill>
                    </a:endParaRPr>
                  </a:p>
                </p:txBody>
              </p:sp>
            </p:grpSp>
            <p:sp>
              <p:nvSpPr>
                <p:cNvPr id="150" name="5-Point Star 149"/>
                <p:cNvSpPr/>
                <p:nvPr/>
              </p:nvSpPr>
              <p:spPr>
                <a:xfrm>
                  <a:off x="8317839" y="5044224"/>
                  <a:ext cx="181196" cy="192041"/>
                </a:xfrm>
                <a:prstGeom prst="star5">
                  <a:avLst/>
                </a:prstGeom>
                <a:solidFill>
                  <a:srgbClr val="FFFF00"/>
                </a:solidFill>
                <a:ln w="57150">
                  <a:solidFill>
                    <a:srgbClr val="FFC000"/>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dirty="0">
                    <a:solidFill>
                      <a:schemeClr val="tx1"/>
                    </a:solidFill>
                  </a:endParaRPr>
                </a:p>
              </p:txBody>
            </p:sp>
            <p:sp>
              <p:nvSpPr>
                <p:cNvPr id="58" name="TextBox 57"/>
                <p:cNvSpPr txBox="1"/>
                <p:nvPr/>
              </p:nvSpPr>
              <p:spPr>
                <a:xfrm>
                  <a:off x="2030687" y="1270648"/>
                  <a:ext cx="653139" cy="523220"/>
                </a:xfrm>
                <a:prstGeom prst="rect">
                  <a:avLst/>
                </a:prstGeom>
                <a:noFill/>
              </p:spPr>
              <p:txBody>
                <a:bodyPr wrap="square" rtlCol="0">
                  <a:spAutoFit/>
                </a:bodyPr>
                <a:lstStyle/>
                <a:p>
                  <a:r>
                    <a:rPr lang="en-US" sz="1400" b="1" dirty="0"/>
                    <a:t>START HERE</a:t>
                  </a:r>
                </a:p>
              </p:txBody>
            </p:sp>
            <p:sp>
              <p:nvSpPr>
                <p:cNvPr id="60" name="Left Arrow 59"/>
                <p:cNvSpPr/>
                <p:nvPr/>
              </p:nvSpPr>
              <p:spPr>
                <a:xfrm>
                  <a:off x="1650682" y="1401270"/>
                  <a:ext cx="391886" cy="249382"/>
                </a:xfrm>
                <a:prstGeom prst="lef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0" name="Elbow Connector 69"/>
                <p:cNvCxnSpPr>
                  <a:stCxn id="7" idx="6"/>
                  <a:endCxn id="8" idx="2"/>
                </p:cNvCxnSpPr>
                <p:nvPr/>
              </p:nvCxnSpPr>
              <p:spPr>
                <a:xfrm flipV="1">
                  <a:off x="3188746" y="1832612"/>
                  <a:ext cx="687045" cy="596920"/>
                </a:xfrm>
                <a:prstGeom prst="bentConnector3">
                  <a:avLst>
                    <a:gd name="adj1" fmla="val 50000"/>
                  </a:avLst>
                </a:prstGeom>
                <a:ln w="38100">
                  <a:solidFill>
                    <a:schemeClr val="tx1"/>
                  </a:solidFill>
                  <a:tailEnd type="arrow"/>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cxnSp>
              <p:nvCxnSpPr>
                <p:cNvPr id="76" name="Elbow Connector 75"/>
                <p:cNvCxnSpPr>
                  <a:cxnSpLocks/>
                </p:cNvCxnSpPr>
                <p:nvPr/>
              </p:nvCxnSpPr>
              <p:spPr>
                <a:xfrm>
                  <a:off x="3188746" y="2440165"/>
                  <a:ext cx="692830" cy="576899"/>
                </a:xfrm>
                <a:prstGeom prst="bentConnector3">
                  <a:avLst>
                    <a:gd name="adj1" fmla="val 50000"/>
                  </a:avLst>
                </a:prstGeom>
                <a:ln w="38100">
                  <a:solidFill>
                    <a:schemeClr val="tx1"/>
                  </a:solidFill>
                  <a:tailEnd type="arrow"/>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cxnSp>
              <p:nvCxnSpPr>
                <p:cNvPr id="81" name="Elbow Connector 80"/>
                <p:cNvCxnSpPr>
                  <a:stCxn id="8" idx="6"/>
                  <a:endCxn id="71" idx="2"/>
                </p:cNvCxnSpPr>
                <p:nvPr/>
              </p:nvCxnSpPr>
              <p:spPr>
                <a:xfrm>
                  <a:off x="4235467" y="1832612"/>
                  <a:ext cx="770346" cy="604706"/>
                </a:xfrm>
                <a:prstGeom prst="bentConnector3">
                  <a:avLst>
                    <a:gd name="adj1" fmla="val 50000"/>
                  </a:avLst>
                </a:prstGeom>
                <a:ln w="38100">
                  <a:solidFill>
                    <a:schemeClr val="tx1"/>
                  </a:solidFill>
                  <a:tailEnd type="arrow"/>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cxnSp>
              <p:nvCxnSpPr>
                <p:cNvPr id="85" name="Elbow Connector 84"/>
                <p:cNvCxnSpPr>
                  <a:stCxn id="9" idx="6"/>
                  <a:endCxn id="71" idx="2"/>
                </p:cNvCxnSpPr>
                <p:nvPr/>
              </p:nvCxnSpPr>
              <p:spPr>
                <a:xfrm flipV="1">
                  <a:off x="4241252" y="2437318"/>
                  <a:ext cx="764561" cy="569113"/>
                </a:xfrm>
                <a:prstGeom prst="bentConnector3">
                  <a:avLst>
                    <a:gd name="adj1" fmla="val 50000"/>
                  </a:avLst>
                </a:prstGeom>
                <a:ln w="38100">
                  <a:solidFill>
                    <a:schemeClr val="tx1"/>
                  </a:solidFill>
                  <a:tailEnd type="arrow"/>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cxnSp>
              <p:nvCxnSpPr>
                <p:cNvPr id="93" name="Straight Arrow Connector 92"/>
                <p:cNvCxnSpPr>
                  <a:stCxn id="10" idx="6"/>
                  <a:endCxn id="12" idx="2"/>
                </p:cNvCxnSpPr>
                <p:nvPr/>
              </p:nvCxnSpPr>
              <p:spPr>
                <a:xfrm>
                  <a:off x="6091595" y="2442981"/>
                  <a:ext cx="429285" cy="4732"/>
                </a:xfrm>
                <a:prstGeom prst="straightConnector1">
                  <a:avLst/>
                </a:prstGeom>
                <a:ln w="38100">
                  <a:solidFill>
                    <a:schemeClr val="tx1"/>
                  </a:solidFill>
                  <a:tailEnd type="arrow"/>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cxnSp>
              <p:nvCxnSpPr>
                <p:cNvPr id="98" name="Elbow Connector 131"/>
                <p:cNvCxnSpPr>
                  <a:stCxn id="6" idx="4"/>
                  <a:endCxn id="10" idx="4"/>
                </p:cNvCxnSpPr>
                <p:nvPr/>
              </p:nvCxnSpPr>
              <p:spPr>
                <a:xfrm rot="16200000" flipH="1">
                  <a:off x="4028596" y="761411"/>
                  <a:ext cx="22534" cy="3743788"/>
                </a:xfrm>
                <a:prstGeom prst="bentConnector3">
                  <a:avLst>
                    <a:gd name="adj1" fmla="val 7174925"/>
                  </a:avLst>
                </a:prstGeom>
                <a:ln w="38100">
                  <a:solidFill>
                    <a:schemeClr val="tx1"/>
                  </a:solidFill>
                  <a:tailEnd type="arrow"/>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cxnSp>
              <p:nvCxnSpPr>
                <p:cNvPr id="104" name="Elbow Connector 131"/>
                <p:cNvCxnSpPr>
                  <a:stCxn id="7" idx="4"/>
                  <a:endCxn id="71" idx="4"/>
                </p:cNvCxnSpPr>
                <p:nvPr/>
              </p:nvCxnSpPr>
              <p:spPr>
                <a:xfrm rot="16200000" flipH="1">
                  <a:off x="4093386" y="1546644"/>
                  <a:ext cx="7786" cy="2176743"/>
                </a:xfrm>
                <a:prstGeom prst="bentConnector3">
                  <a:avLst>
                    <a:gd name="adj1" fmla="val 15387688"/>
                  </a:avLst>
                </a:prstGeom>
                <a:ln w="38100">
                  <a:solidFill>
                    <a:schemeClr val="tx1"/>
                  </a:solidFill>
                  <a:tailEnd type="arrow"/>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sp>
              <p:nvSpPr>
                <p:cNvPr id="114" name="TextBox 113"/>
                <p:cNvSpPr txBox="1"/>
                <p:nvPr/>
              </p:nvSpPr>
              <p:spPr>
                <a:xfrm>
                  <a:off x="9035138" y="4902515"/>
                  <a:ext cx="619500" cy="523220"/>
                </a:xfrm>
                <a:prstGeom prst="rect">
                  <a:avLst/>
                </a:prstGeom>
                <a:noFill/>
              </p:spPr>
              <p:txBody>
                <a:bodyPr wrap="square" rtlCol="0">
                  <a:spAutoFit/>
                </a:bodyPr>
                <a:lstStyle/>
                <a:p>
                  <a:r>
                    <a:rPr lang="en-US" sz="1400" b="1" dirty="0"/>
                    <a:t>END  HERE</a:t>
                  </a:r>
                </a:p>
              </p:txBody>
            </p:sp>
            <p:cxnSp>
              <p:nvCxnSpPr>
                <p:cNvPr id="118" name="Elbow Connector 117"/>
                <p:cNvCxnSpPr>
                  <a:stCxn id="18" idx="6"/>
                  <a:endCxn id="17" idx="0"/>
                </p:cNvCxnSpPr>
                <p:nvPr/>
              </p:nvCxnSpPr>
              <p:spPr>
                <a:xfrm>
                  <a:off x="7491964" y="4545568"/>
                  <a:ext cx="911190" cy="392736"/>
                </a:xfrm>
                <a:prstGeom prst="bentConnector2">
                  <a:avLst/>
                </a:prstGeom>
                <a:ln w="38100">
                  <a:solidFill>
                    <a:schemeClr val="tx1"/>
                  </a:solidFill>
                  <a:tailEnd type="arrow"/>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sp>
              <p:nvSpPr>
                <p:cNvPr id="116" name="Left Arrow 115"/>
                <p:cNvSpPr/>
                <p:nvPr/>
              </p:nvSpPr>
              <p:spPr>
                <a:xfrm>
                  <a:off x="8680860" y="5011388"/>
                  <a:ext cx="391887" cy="249381"/>
                </a:xfrm>
                <a:prstGeom prst="lef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sp>
        <p:nvSpPr>
          <p:cNvPr id="64" name="TextBox 63"/>
          <p:cNvSpPr txBox="1"/>
          <p:nvPr/>
        </p:nvSpPr>
        <p:spPr>
          <a:xfrm>
            <a:off x="10957034" y="189186"/>
            <a:ext cx="1008994" cy="307777"/>
          </a:xfrm>
          <a:prstGeom prst="rect">
            <a:avLst/>
          </a:prstGeom>
          <a:noFill/>
        </p:spPr>
        <p:txBody>
          <a:bodyPr wrap="square" rtlCol="0">
            <a:spAutoFit/>
          </a:bodyPr>
          <a:lstStyle/>
          <a:p>
            <a:pPr algn="ctr"/>
            <a:r>
              <a:rPr lang="en-US" sz="1400" b="1" dirty="0">
                <a:solidFill>
                  <a:schemeClr val="bg1"/>
                </a:solidFill>
              </a:rPr>
              <a:t>BACK</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4596685"/>
            <a:ext cx="9144000" cy="1633990"/>
          </a:xfrm>
        </p:spPr>
        <p:txBody>
          <a:bodyPr>
            <a:normAutofit/>
          </a:bodyPr>
          <a:lstStyle/>
          <a:p>
            <a:r>
              <a:rPr lang="en-US" sz="6000" b="1" dirty="0"/>
              <a:t>ANIMAL CARDS</a:t>
            </a:r>
            <a:endParaRPr lang="en-US" sz="3600" b="1" dirty="0">
              <a:solidFill>
                <a:srgbClr val="FF0000"/>
              </a:solidFill>
            </a:endParaRPr>
          </a:p>
          <a:p>
            <a:r>
              <a:rPr lang="en-US" sz="3600" b="1" dirty="0">
                <a:solidFill>
                  <a:srgbClr val="FF0000"/>
                </a:solidFill>
              </a:rPr>
              <a:t>COGNATE TRIBES (MINDSET DNA)</a:t>
            </a:r>
          </a:p>
        </p:txBody>
      </p:sp>
      <p:pic>
        <p:nvPicPr>
          <p:cNvPr id="4" name="Picture 3"/>
          <p:cNvPicPr>
            <a:picLocks noChangeAspect="1"/>
          </p:cNvPicPr>
          <p:nvPr/>
        </p:nvPicPr>
        <p:blipFill>
          <a:blip r:embed="rId2" cstate="print"/>
          <a:stretch>
            <a:fillRect/>
          </a:stretch>
        </p:blipFill>
        <p:spPr>
          <a:xfrm>
            <a:off x="2865175" y="597040"/>
            <a:ext cx="5837391" cy="3832122"/>
          </a:xfrm>
          <a:prstGeom prst="rect">
            <a:avLst/>
          </a:prstGeom>
          <a:effectLst>
            <a:outerShdw blurRad="50800" dist="38100" dir="8100000" algn="tr" rotWithShape="0">
              <a:prstClr val="black">
                <a:alpha val="40000"/>
              </a:prstClr>
            </a:outerShdw>
          </a:effectLst>
        </p:spPr>
      </p:pic>
      <p:pic>
        <p:nvPicPr>
          <p:cNvPr id="5" name="Picture 2"/>
          <p:cNvPicPr>
            <a:picLocks noChangeAspect="1" noChangeArrowheads="1"/>
          </p:cNvPicPr>
          <p:nvPr/>
        </p:nvPicPr>
        <p:blipFill>
          <a:blip r:embed="rId3" cstate="print"/>
          <a:srcRect/>
          <a:stretch>
            <a:fillRect/>
          </a:stretch>
        </p:blipFill>
        <p:spPr bwMode="auto">
          <a:xfrm>
            <a:off x="10858427" y="0"/>
            <a:ext cx="1188261" cy="3392486"/>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Group 27"/>
          <p:cNvGrpSpPr/>
          <p:nvPr/>
        </p:nvGrpSpPr>
        <p:grpSpPr>
          <a:xfrm>
            <a:off x="95250" y="263227"/>
            <a:ext cx="9880023" cy="6179150"/>
            <a:chOff x="95250" y="263227"/>
            <a:chExt cx="9880023" cy="6179150"/>
          </a:xfrm>
        </p:grpSpPr>
        <p:sp>
          <p:nvSpPr>
            <p:cNvPr id="4" name="Rounded Rectangle 3"/>
            <p:cNvSpPr/>
            <p:nvPr/>
          </p:nvSpPr>
          <p:spPr>
            <a:xfrm>
              <a:off x="4918364" y="1759531"/>
              <a:ext cx="2022764" cy="3172691"/>
            </a:xfrm>
            <a:prstGeom prst="roundRect">
              <a:avLst/>
            </a:prstGeom>
            <a:solidFill>
              <a:schemeClr val="bg1">
                <a:lumMod val="95000"/>
              </a:schemeClr>
            </a:solid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b="1" dirty="0">
                <a:solidFill>
                  <a:srgbClr val="FF0000"/>
                </a:solidFill>
              </a:endParaRPr>
            </a:p>
            <a:p>
              <a:pPr algn="ctr"/>
              <a:endParaRPr lang="en-GB" sz="1400" b="1" dirty="0">
                <a:solidFill>
                  <a:srgbClr val="FF0000"/>
                </a:solidFill>
              </a:endParaRPr>
            </a:p>
            <a:p>
              <a:pPr algn="ctr"/>
              <a:endParaRPr lang="en-GB" sz="1400" b="1" dirty="0">
                <a:solidFill>
                  <a:srgbClr val="FF0000"/>
                </a:solidFill>
              </a:endParaRPr>
            </a:p>
            <a:p>
              <a:pPr algn="ctr"/>
              <a:r>
                <a:rPr lang="en-GB" sz="1400" b="1" dirty="0">
                  <a:solidFill>
                    <a:srgbClr val="FF0000"/>
                  </a:solidFill>
                </a:rPr>
                <a:t>COGNATE TRIBE CARD TOPOLOGY</a:t>
              </a:r>
            </a:p>
            <a:p>
              <a:pPr algn="ctr"/>
              <a:endParaRPr lang="en-GB" sz="1400" b="1" dirty="0">
                <a:solidFill>
                  <a:srgbClr val="FF0000"/>
                </a:solidFill>
              </a:endParaRPr>
            </a:p>
            <a:p>
              <a:pPr algn="ctr"/>
              <a:r>
                <a:rPr lang="en-GB" sz="1400" b="1" dirty="0">
                  <a:solidFill>
                    <a:srgbClr val="FF0000"/>
                  </a:solidFill>
                </a:rPr>
                <a:t>ANIMAL CARDS</a:t>
              </a:r>
            </a:p>
            <a:p>
              <a:pPr algn="ctr"/>
              <a:r>
                <a:rPr lang="en-GB" sz="1100" b="1" dirty="0">
                  <a:solidFill>
                    <a:srgbClr val="FF0000"/>
                  </a:solidFill>
                </a:rPr>
                <a:t>(ENTERPRISE TYPOLOGY)</a:t>
              </a:r>
            </a:p>
            <a:p>
              <a:pPr algn="ctr"/>
              <a:endParaRPr lang="en-GB" sz="1100" b="1" dirty="0">
                <a:solidFill>
                  <a:srgbClr val="FF0000"/>
                </a:solidFill>
              </a:endParaRPr>
            </a:p>
            <a:p>
              <a:pPr algn="ctr"/>
              <a:r>
                <a:rPr lang="en-GB" sz="2400" b="1" dirty="0">
                  <a:solidFill>
                    <a:srgbClr val="FF0000"/>
                  </a:solidFill>
                </a:rPr>
                <a:t>MIND SET</a:t>
              </a:r>
            </a:p>
          </p:txBody>
        </p:sp>
        <p:sp>
          <p:nvSpPr>
            <p:cNvPr id="5" name="Rounded Rectangle 4"/>
            <p:cNvSpPr/>
            <p:nvPr/>
          </p:nvSpPr>
          <p:spPr>
            <a:xfrm>
              <a:off x="6858000" y="360212"/>
              <a:ext cx="1427018" cy="1025236"/>
            </a:xfrm>
            <a:prstGeom prst="roundRect">
              <a:avLst/>
            </a:prstGeom>
            <a:solidFill>
              <a:schemeClr val="bg1">
                <a:lumMod val="95000"/>
              </a:schemeClr>
            </a:solidFill>
            <a:ln w="762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solidFill>
                    <a:srgbClr val="FF0000"/>
                  </a:solidFill>
                </a:rPr>
                <a:t>2. </a:t>
              </a:r>
            </a:p>
            <a:p>
              <a:pPr algn="ctr"/>
              <a:r>
                <a:rPr lang="en-GB" sz="1200" b="1" dirty="0">
                  <a:solidFill>
                    <a:srgbClr val="FF0000"/>
                  </a:solidFill>
                </a:rPr>
                <a:t>MACRO / MICRO ENVIRONMENT ANALYSIS</a:t>
              </a:r>
            </a:p>
          </p:txBody>
        </p:sp>
        <p:sp>
          <p:nvSpPr>
            <p:cNvPr id="6" name="Rounded Rectangle 5"/>
            <p:cNvSpPr/>
            <p:nvPr/>
          </p:nvSpPr>
          <p:spPr>
            <a:xfrm>
              <a:off x="8548255" y="1939636"/>
              <a:ext cx="1427018" cy="1025236"/>
            </a:xfrm>
            <a:prstGeom prst="roundRect">
              <a:avLst/>
            </a:prstGeom>
            <a:solidFill>
              <a:schemeClr val="bg1"/>
            </a:solidFill>
            <a:ln w="762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solidFill>
                    <a:srgbClr val="FF0000"/>
                  </a:solidFill>
                </a:rPr>
                <a:t>3.</a:t>
              </a:r>
            </a:p>
            <a:p>
              <a:pPr algn="ctr"/>
              <a:r>
                <a:rPr lang="en-GB" sz="1200" b="1" dirty="0">
                  <a:solidFill>
                    <a:srgbClr val="FF0000"/>
                  </a:solidFill>
                </a:rPr>
                <a:t>START UP &amp; REGULATORY REQUIREMENTS</a:t>
              </a:r>
            </a:p>
          </p:txBody>
        </p:sp>
        <p:sp>
          <p:nvSpPr>
            <p:cNvPr id="7" name="Rounded Rectangle 6"/>
            <p:cNvSpPr/>
            <p:nvPr/>
          </p:nvSpPr>
          <p:spPr>
            <a:xfrm>
              <a:off x="8548255" y="3636824"/>
              <a:ext cx="1427018" cy="1025236"/>
            </a:xfrm>
            <a:prstGeom prst="roundRect">
              <a:avLst/>
            </a:prstGeom>
            <a:solidFill>
              <a:schemeClr val="bg1">
                <a:lumMod val="95000"/>
              </a:schemeClr>
            </a:solidFill>
            <a:ln w="762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solidFill>
                    <a:srgbClr val="FF0000"/>
                  </a:solidFill>
                </a:rPr>
                <a:t>4.</a:t>
              </a:r>
            </a:p>
            <a:p>
              <a:pPr algn="ctr"/>
              <a:r>
                <a:rPr lang="en-GB" sz="900" b="1" dirty="0">
                  <a:solidFill>
                    <a:srgbClr val="FF0000"/>
                  </a:solidFill>
                </a:rPr>
                <a:t>MARKETING STRATEGY (ENTRY/CONSOLIDATION/DOMINATION &amp; EXIT)</a:t>
              </a:r>
            </a:p>
          </p:txBody>
        </p:sp>
        <p:sp>
          <p:nvSpPr>
            <p:cNvPr id="8" name="Rounded Rectangle 7"/>
            <p:cNvSpPr/>
            <p:nvPr/>
          </p:nvSpPr>
          <p:spPr>
            <a:xfrm>
              <a:off x="6858000" y="5264736"/>
              <a:ext cx="1427018" cy="1025236"/>
            </a:xfrm>
            <a:prstGeom prst="roundRect">
              <a:avLst/>
            </a:prstGeom>
            <a:solidFill>
              <a:schemeClr val="bg1"/>
            </a:solidFill>
            <a:ln w="762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solidFill>
                    <a:srgbClr val="FF0000"/>
                  </a:solidFill>
                </a:rPr>
                <a:t>5.</a:t>
              </a:r>
            </a:p>
            <a:p>
              <a:pPr algn="ctr"/>
              <a:r>
                <a:rPr lang="en-GB" sz="1050" b="1" dirty="0">
                  <a:solidFill>
                    <a:srgbClr val="FF0000"/>
                  </a:solidFill>
                </a:rPr>
                <a:t>BRANDING, CULTURAL TRAITS &amp; TRENDS </a:t>
              </a:r>
            </a:p>
          </p:txBody>
        </p:sp>
        <p:sp>
          <p:nvSpPr>
            <p:cNvPr id="9" name="Rounded Rectangle 8"/>
            <p:cNvSpPr/>
            <p:nvPr/>
          </p:nvSpPr>
          <p:spPr>
            <a:xfrm>
              <a:off x="3491346" y="5264736"/>
              <a:ext cx="1427018" cy="1025236"/>
            </a:xfrm>
            <a:prstGeom prst="roundRect">
              <a:avLst/>
            </a:prstGeom>
            <a:solidFill>
              <a:schemeClr val="bg1"/>
            </a:solidFill>
            <a:ln w="762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solidFill>
                    <a:srgbClr val="FF0000"/>
                  </a:solidFill>
                </a:rPr>
                <a:t>7.</a:t>
              </a:r>
            </a:p>
            <a:p>
              <a:pPr algn="ctr"/>
              <a:r>
                <a:rPr lang="en-GB" sz="1050" b="1" dirty="0">
                  <a:solidFill>
                    <a:srgbClr val="FF0000"/>
                  </a:solidFill>
                </a:rPr>
                <a:t>ANALYTICS &amp; BIG DATA</a:t>
              </a:r>
            </a:p>
          </p:txBody>
        </p:sp>
        <p:sp>
          <p:nvSpPr>
            <p:cNvPr id="10" name="Rounded Rectangle 9"/>
            <p:cNvSpPr/>
            <p:nvPr/>
          </p:nvSpPr>
          <p:spPr>
            <a:xfrm>
              <a:off x="2133602" y="3581405"/>
              <a:ext cx="1427018" cy="1025236"/>
            </a:xfrm>
            <a:prstGeom prst="roundRect">
              <a:avLst/>
            </a:prstGeom>
            <a:solidFill>
              <a:schemeClr val="bg1">
                <a:lumMod val="95000"/>
              </a:schemeClr>
            </a:solidFill>
            <a:ln w="762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solidFill>
                    <a:srgbClr val="FF0000"/>
                  </a:solidFill>
                </a:rPr>
                <a:t>8.</a:t>
              </a:r>
            </a:p>
            <a:p>
              <a:pPr algn="ctr"/>
              <a:r>
                <a:rPr lang="en-GB" sz="1050" b="1" dirty="0">
                  <a:solidFill>
                    <a:srgbClr val="FF0000"/>
                  </a:solidFill>
                </a:rPr>
                <a:t>STRATEGY TOOLS: BUSINESS MODEL CANVAS, SWOT/PORTERS 5 FORCES ETC</a:t>
              </a:r>
            </a:p>
          </p:txBody>
        </p:sp>
        <p:sp>
          <p:nvSpPr>
            <p:cNvPr id="11" name="Rounded Rectangle 10"/>
            <p:cNvSpPr/>
            <p:nvPr/>
          </p:nvSpPr>
          <p:spPr>
            <a:xfrm>
              <a:off x="2133602" y="1939636"/>
              <a:ext cx="1427018" cy="1025236"/>
            </a:xfrm>
            <a:prstGeom prst="roundRect">
              <a:avLst/>
            </a:prstGeom>
            <a:solidFill>
              <a:schemeClr val="bg1"/>
            </a:solidFill>
            <a:ln w="762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solidFill>
                    <a:srgbClr val="FF0000"/>
                  </a:solidFill>
                </a:rPr>
                <a:t>9.</a:t>
              </a:r>
            </a:p>
            <a:p>
              <a:pPr algn="ctr"/>
              <a:r>
                <a:rPr lang="en-GB" sz="1050" b="1" dirty="0">
                  <a:solidFill>
                    <a:srgbClr val="FF0000"/>
                  </a:solidFill>
                </a:rPr>
                <a:t>RISK MANAGEMENT PROFILE</a:t>
              </a:r>
            </a:p>
          </p:txBody>
        </p:sp>
        <p:sp>
          <p:nvSpPr>
            <p:cNvPr id="12" name="Rounded Rectangle 11"/>
            <p:cNvSpPr/>
            <p:nvPr/>
          </p:nvSpPr>
          <p:spPr>
            <a:xfrm>
              <a:off x="3491348" y="360212"/>
              <a:ext cx="1427018" cy="1025236"/>
            </a:xfrm>
            <a:prstGeom prst="roundRect">
              <a:avLst/>
            </a:prstGeom>
            <a:solidFill>
              <a:schemeClr val="bg1">
                <a:lumMod val="95000"/>
              </a:schemeClr>
            </a:solidFill>
            <a:ln w="762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solidFill>
                    <a:srgbClr val="FF0000"/>
                  </a:solidFill>
                </a:rPr>
                <a:t>10.</a:t>
              </a:r>
            </a:p>
            <a:p>
              <a:pPr algn="ctr"/>
              <a:r>
                <a:rPr lang="en-GB" sz="1050" b="1" dirty="0">
                  <a:solidFill>
                    <a:srgbClr val="FF0000"/>
                  </a:solidFill>
                </a:rPr>
                <a:t>TRAINING / KNOWLEDGE AREAS</a:t>
              </a:r>
            </a:p>
          </p:txBody>
        </p:sp>
        <p:sp>
          <p:nvSpPr>
            <p:cNvPr id="13" name="Rounded Rectangle 12"/>
            <p:cNvSpPr/>
            <p:nvPr/>
          </p:nvSpPr>
          <p:spPr>
            <a:xfrm>
              <a:off x="5216237" y="263227"/>
              <a:ext cx="1427018" cy="1025236"/>
            </a:xfrm>
            <a:prstGeom prst="roundRect">
              <a:avLst/>
            </a:prstGeom>
            <a:solidFill>
              <a:schemeClr val="bg1"/>
            </a:solidFill>
            <a:ln w="762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solidFill>
                    <a:srgbClr val="FF0000"/>
                  </a:solidFill>
                </a:rPr>
                <a:t>1.</a:t>
              </a:r>
            </a:p>
            <a:p>
              <a:pPr algn="ctr"/>
              <a:r>
                <a:rPr lang="en-GB" sz="1050" b="1" dirty="0">
                  <a:solidFill>
                    <a:srgbClr val="FF0000"/>
                  </a:solidFill>
                </a:rPr>
                <a:t>DOMINANT SKILLS / HUMAN RESOURCES </a:t>
              </a:r>
            </a:p>
          </p:txBody>
        </p:sp>
        <p:sp>
          <p:nvSpPr>
            <p:cNvPr id="14" name="Rounded Rectangle 13"/>
            <p:cNvSpPr/>
            <p:nvPr/>
          </p:nvSpPr>
          <p:spPr>
            <a:xfrm>
              <a:off x="5216237" y="5417141"/>
              <a:ext cx="1427018" cy="1025236"/>
            </a:xfrm>
            <a:prstGeom prst="roundRect">
              <a:avLst/>
            </a:prstGeom>
            <a:solidFill>
              <a:schemeClr val="bg1">
                <a:lumMod val="95000"/>
              </a:schemeClr>
            </a:solidFill>
            <a:ln w="762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solidFill>
                    <a:srgbClr val="FF0000"/>
                  </a:solidFill>
                </a:rPr>
                <a:t>6.</a:t>
              </a:r>
            </a:p>
            <a:p>
              <a:pPr algn="ctr"/>
              <a:r>
                <a:rPr lang="en-GB" sz="1050" b="1" dirty="0">
                  <a:solidFill>
                    <a:srgbClr val="FF0000"/>
                  </a:solidFill>
                </a:rPr>
                <a:t>APPLICATION OF TECHNOLOGY (AI,ROBOTICS, IOT ETC)</a:t>
              </a:r>
            </a:p>
          </p:txBody>
        </p:sp>
        <p:cxnSp>
          <p:nvCxnSpPr>
            <p:cNvPr id="16" name="Elbow Connector 15"/>
            <p:cNvCxnSpPr>
              <a:stCxn id="4" idx="0"/>
              <a:endCxn id="13" idx="2"/>
            </p:cNvCxnSpPr>
            <p:nvPr/>
          </p:nvCxnSpPr>
          <p:spPr>
            <a:xfrm rot="5400000" flipH="1" flipV="1">
              <a:off x="5694212" y="1523997"/>
              <a:ext cx="471068" cy="12700"/>
            </a:xfrm>
            <a:prstGeom prst="bentConnector3">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Elbow Connector 17"/>
            <p:cNvCxnSpPr>
              <a:stCxn id="4" idx="0"/>
              <a:endCxn id="5" idx="2"/>
            </p:cNvCxnSpPr>
            <p:nvPr/>
          </p:nvCxnSpPr>
          <p:spPr>
            <a:xfrm rot="5400000" flipH="1" flipV="1">
              <a:off x="6563586" y="751609"/>
              <a:ext cx="374083" cy="1641763"/>
            </a:xfrm>
            <a:prstGeom prst="bentConnector3">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Elbow Connector 19"/>
            <p:cNvCxnSpPr>
              <a:stCxn id="4" idx="3"/>
              <a:endCxn id="6" idx="1"/>
            </p:cNvCxnSpPr>
            <p:nvPr/>
          </p:nvCxnSpPr>
          <p:spPr>
            <a:xfrm flipV="1">
              <a:off x="6941128" y="2452254"/>
              <a:ext cx="1607127" cy="893623"/>
            </a:xfrm>
            <a:prstGeom prst="bentConnector3">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Elbow Connector 21"/>
            <p:cNvCxnSpPr>
              <a:stCxn id="4" idx="3"/>
              <a:endCxn id="7" idx="1"/>
            </p:cNvCxnSpPr>
            <p:nvPr/>
          </p:nvCxnSpPr>
          <p:spPr>
            <a:xfrm>
              <a:off x="6941128" y="3345877"/>
              <a:ext cx="1607127" cy="803565"/>
            </a:xfrm>
            <a:prstGeom prst="bentConnector3">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Elbow Connector 24"/>
            <p:cNvCxnSpPr>
              <a:stCxn id="12" idx="2"/>
              <a:endCxn id="4" idx="0"/>
            </p:cNvCxnSpPr>
            <p:nvPr/>
          </p:nvCxnSpPr>
          <p:spPr>
            <a:xfrm rot="16200000" flipH="1">
              <a:off x="4880260" y="710044"/>
              <a:ext cx="374083" cy="1724889"/>
            </a:xfrm>
            <a:prstGeom prst="bent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Elbow Connector 28"/>
            <p:cNvCxnSpPr>
              <a:stCxn id="4" idx="2"/>
              <a:endCxn id="8" idx="0"/>
            </p:cNvCxnSpPr>
            <p:nvPr/>
          </p:nvCxnSpPr>
          <p:spPr>
            <a:xfrm rot="16200000" flipH="1">
              <a:off x="6584370" y="4277597"/>
              <a:ext cx="332514" cy="1641763"/>
            </a:xfrm>
            <a:prstGeom prst="bentConnector3">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Elbow Connector 30"/>
            <p:cNvCxnSpPr>
              <a:stCxn id="4" idx="2"/>
              <a:endCxn id="14" idx="0"/>
            </p:cNvCxnSpPr>
            <p:nvPr/>
          </p:nvCxnSpPr>
          <p:spPr>
            <a:xfrm rot="5400000">
              <a:off x="5687287" y="5174681"/>
              <a:ext cx="484919" cy="12700"/>
            </a:xfrm>
            <a:prstGeom prst="bentConnector3">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Elbow Connector 32"/>
            <p:cNvCxnSpPr>
              <a:stCxn id="9" idx="0"/>
              <a:endCxn id="4" idx="2"/>
            </p:cNvCxnSpPr>
            <p:nvPr/>
          </p:nvCxnSpPr>
          <p:spPr>
            <a:xfrm rot="5400000" flipH="1" flipV="1">
              <a:off x="4901043" y="4236034"/>
              <a:ext cx="332514" cy="1724891"/>
            </a:xfrm>
            <a:prstGeom prst="bent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Elbow Connector 40"/>
            <p:cNvCxnSpPr>
              <a:stCxn id="4" idx="1"/>
              <a:endCxn id="11" idx="3"/>
            </p:cNvCxnSpPr>
            <p:nvPr/>
          </p:nvCxnSpPr>
          <p:spPr>
            <a:xfrm rot="10800000">
              <a:off x="3560620" y="2452255"/>
              <a:ext cx="1357744" cy="893623"/>
            </a:xfrm>
            <a:prstGeom prst="bentConnector3">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Elbow Connector 41"/>
            <p:cNvCxnSpPr>
              <a:stCxn id="4" idx="1"/>
              <a:endCxn id="10" idx="3"/>
            </p:cNvCxnSpPr>
            <p:nvPr/>
          </p:nvCxnSpPr>
          <p:spPr>
            <a:xfrm rot="10800000" flipV="1">
              <a:off x="3560620" y="3345877"/>
              <a:ext cx="1357744" cy="748146"/>
            </a:xfrm>
            <a:prstGeom prst="bentConnector3">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95250" y="285750"/>
              <a:ext cx="2762250" cy="1200329"/>
            </a:xfrm>
            <a:prstGeom prst="rect">
              <a:avLst/>
            </a:prstGeom>
            <a:noFill/>
          </p:spPr>
          <p:txBody>
            <a:bodyPr wrap="square" rtlCol="0">
              <a:spAutoFit/>
            </a:bodyPr>
            <a:lstStyle/>
            <a:p>
              <a:r>
                <a:rPr lang="en-US" b="1" dirty="0"/>
                <a:t>THE CARDS HOLD INFORMATION ON THE PARTICULAR ANIMAL TRAIT (ENTERPRISE TYPE)</a:t>
              </a:r>
            </a:p>
          </p:txBody>
        </p:sp>
        <p:grpSp>
          <p:nvGrpSpPr>
            <p:cNvPr id="27" name="Group 26"/>
            <p:cNvGrpSpPr/>
            <p:nvPr/>
          </p:nvGrpSpPr>
          <p:grpSpPr>
            <a:xfrm>
              <a:off x="5070762" y="1991270"/>
              <a:ext cx="1721924" cy="823184"/>
              <a:chOff x="5396523" y="2181270"/>
              <a:chExt cx="929127" cy="350126"/>
            </a:xfrm>
          </p:grpSpPr>
          <p:pic>
            <p:nvPicPr>
              <p:cNvPr id="24" name="Picture 23"/>
              <p:cNvPicPr>
                <a:picLocks noChangeAspect="1"/>
              </p:cNvPicPr>
              <p:nvPr/>
            </p:nvPicPr>
            <p:blipFill>
              <a:blip r:embed="rId2" cstate="print"/>
              <a:stretch>
                <a:fillRect/>
              </a:stretch>
            </p:blipFill>
            <p:spPr>
              <a:xfrm>
                <a:off x="5396523" y="2186881"/>
                <a:ext cx="496150" cy="344515"/>
              </a:xfrm>
              <a:prstGeom prst="rect">
                <a:avLst/>
              </a:prstGeom>
              <a:effectLst>
                <a:outerShdw blurRad="50800" dist="38100" dir="8100000" algn="tr" rotWithShape="0">
                  <a:prstClr val="black">
                    <a:alpha val="40000"/>
                  </a:prstClr>
                </a:outerShdw>
              </a:effectLst>
            </p:spPr>
          </p:pic>
          <p:sp>
            <p:nvSpPr>
              <p:cNvPr id="26" name="TextBox 25"/>
              <p:cNvSpPr txBox="1"/>
              <p:nvPr/>
            </p:nvSpPr>
            <p:spPr>
              <a:xfrm>
                <a:off x="5857815" y="2181270"/>
                <a:ext cx="467835" cy="170179"/>
              </a:xfrm>
              <a:prstGeom prst="rect">
                <a:avLst/>
              </a:prstGeom>
              <a:noFill/>
            </p:spPr>
            <p:txBody>
              <a:bodyPr wrap="square" rtlCol="0">
                <a:spAutoFit/>
              </a:bodyPr>
              <a:lstStyle/>
              <a:p>
                <a:r>
                  <a:rPr lang="en-US" sz="1000" b="1" dirty="0">
                    <a:effectLst>
                      <a:outerShdw blurRad="38100" dist="38100" dir="2700000" algn="tl">
                        <a:srgbClr val="000000">
                          <a:alpha val="43137"/>
                        </a:srgbClr>
                      </a:outerShdw>
                    </a:effectLst>
                  </a:rPr>
                  <a:t>COGNATE TRIBE</a:t>
                </a:r>
              </a:p>
            </p:txBody>
          </p:sp>
        </p:grpSp>
      </p:grpSp>
    </p:spTree>
    <p:extLst>
      <p:ext uri="{BB962C8B-B14F-4D97-AF65-F5344CB8AC3E}">
        <p14:creationId xmlns:p14="http://schemas.microsoft.com/office/powerpoint/2010/main" val="8300273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Group 17"/>
          <p:cNvGrpSpPr/>
          <p:nvPr/>
        </p:nvGrpSpPr>
        <p:grpSpPr>
          <a:xfrm>
            <a:off x="1306286" y="769258"/>
            <a:ext cx="3207657" cy="5312228"/>
            <a:chOff x="1306286" y="769258"/>
            <a:chExt cx="3207657" cy="5312228"/>
          </a:xfrm>
        </p:grpSpPr>
        <p:grpSp>
          <p:nvGrpSpPr>
            <p:cNvPr id="4" name="Group 3"/>
            <p:cNvGrpSpPr/>
            <p:nvPr/>
          </p:nvGrpSpPr>
          <p:grpSpPr>
            <a:xfrm>
              <a:off x="1306286" y="769258"/>
              <a:ext cx="3207657" cy="5312228"/>
              <a:chOff x="1306286" y="769258"/>
              <a:chExt cx="3207657" cy="5312228"/>
            </a:xfrm>
          </p:grpSpPr>
          <p:sp>
            <p:nvSpPr>
              <p:cNvPr id="2" name="Rounded Rectangle 1"/>
              <p:cNvSpPr/>
              <p:nvPr/>
            </p:nvSpPr>
            <p:spPr>
              <a:xfrm>
                <a:off x="1306286" y="783771"/>
                <a:ext cx="3207657" cy="5297715"/>
              </a:xfrm>
              <a:prstGeom prst="roundRect">
                <a:avLst/>
              </a:prstGeom>
              <a:solidFill>
                <a:schemeClr val="bg1"/>
              </a:solidFill>
              <a:ln w="76200">
                <a:solidFill>
                  <a:schemeClr val="bg1">
                    <a:lumMod val="6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 Same Side Corner Rectangle 2"/>
              <p:cNvSpPr/>
              <p:nvPr/>
            </p:nvSpPr>
            <p:spPr>
              <a:xfrm>
                <a:off x="1306286" y="769258"/>
                <a:ext cx="3207657" cy="1146626"/>
              </a:xfrm>
              <a:prstGeom prst="round2SameRect">
                <a:avLst/>
              </a:prstGeom>
              <a:solidFill>
                <a:schemeClr val="tx1"/>
              </a:solidFill>
              <a:ln w="762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latin typeface="AR BONNIE" pitchFamily="2" charset="0"/>
                  </a:rPr>
                  <a:t>THE ANT</a:t>
                </a:r>
              </a:p>
            </p:txBody>
          </p:sp>
        </p:grpSp>
        <p:pic>
          <p:nvPicPr>
            <p:cNvPr id="1027" name="Picture 3"/>
            <p:cNvPicPr>
              <a:picLocks noChangeAspect="1" noChangeArrowheads="1"/>
            </p:cNvPicPr>
            <p:nvPr/>
          </p:nvPicPr>
          <p:blipFill>
            <a:blip r:embed="rId2" cstate="print"/>
            <a:srcRect/>
            <a:stretch>
              <a:fillRect/>
            </a:stretch>
          </p:blipFill>
          <p:spPr bwMode="auto">
            <a:xfrm>
              <a:off x="1728131" y="3187105"/>
              <a:ext cx="2452359" cy="1552411"/>
            </a:xfrm>
            <a:prstGeom prst="rect">
              <a:avLst/>
            </a:prstGeom>
            <a:noFill/>
            <a:ln w="9525">
              <a:noFill/>
              <a:miter lim="800000"/>
              <a:headEnd/>
              <a:tailEnd/>
            </a:ln>
          </p:spPr>
        </p:pic>
        <p:sp>
          <p:nvSpPr>
            <p:cNvPr id="12" name="TextBox 11"/>
            <p:cNvSpPr txBox="1"/>
            <p:nvPr/>
          </p:nvSpPr>
          <p:spPr>
            <a:xfrm>
              <a:off x="1658007" y="1988409"/>
              <a:ext cx="2380593" cy="769441"/>
            </a:xfrm>
            <a:prstGeom prst="rect">
              <a:avLst/>
            </a:prstGeom>
            <a:noFill/>
          </p:spPr>
          <p:txBody>
            <a:bodyPr wrap="square" rtlCol="0">
              <a:spAutoFit/>
            </a:bodyPr>
            <a:lstStyle/>
            <a:p>
              <a:pPr algn="ctr"/>
              <a:r>
                <a:rPr lang="en-US" sz="1100" b="1" dirty="0"/>
                <a:t>I AM A BUILDER OF ECONOMIES; I AM WEAK ON MY OWN BUT STRONG IN A GROUP. EVERYONE STARTS WITH ME!</a:t>
              </a:r>
            </a:p>
          </p:txBody>
        </p:sp>
        <p:sp>
          <p:nvSpPr>
            <p:cNvPr id="13" name="TextBox 12"/>
            <p:cNvSpPr txBox="1"/>
            <p:nvPr/>
          </p:nvSpPr>
          <p:spPr>
            <a:xfrm>
              <a:off x="2443656" y="2890345"/>
              <a:ext cx="851338" cy="400110"/>
            </a:xfrm>
            <a:prstGeom prst="rect">
              <a:avLst/>
            </a:prstGeom>
            <a:noFill/>
          </p:spPr>
          <p:txBody>
            <a:bodyPr wrap="square" rtlCol="0">
              <a:spAutoFit/>
            </a:bodyPr>
            <a:lstStyle/>
            <a:p>
              <a:pPr algn="ctr"/>
              <a:r>
                <a:rPr lang="en-US" sz="2000" b="1" dirty="0"/>
                <a:t>+10</a:t>
              </a:r>
            </a:p>
          </p:txBody>
        </p:sp>
      </p:grpSp>
      <p:grpSp>
        <p:nvGrpSpPr>
          <p:cNvPr id="19" name="Group 18">
            <a:extLst>
              <a:ext uri="{FF2B5EF4-FFF2-40B4-BE49-F238E27FC236}">
                <a16:creationId xmlns:a16="http://schemas.microsoft.com/office/drawing/2014/main" id="{F82E13DF-2FC9-4474-9E4E-6F12BEB1F8C4}"/>
              </a:ext>
            </a:extLst>
          </p:cNvPr>
          <p:cNvGrpSpPr/>
          <p:nvPr/>
        </p:nvGrpSpPr>
        <p:grpSpPr>
          <a:xfrm>
            <a:off x="1626918" y="5455007"/>
            <a:ext cx="2458179" cy="433348"/>
            <a:chOff x="1520043" y="5508172"/>
            <a:chExt cx="2458179" cy="433348"/>
          </a:xfrm>
        </p:grpSpPr>
        <p:grpSp>
          <p:nvGrpSpPr>
            <p:cNvPr id="20" name="Group 33">
              <a:extLst>
                <a:ext uri="{FF2B5EF4-FFF2-40B4-BE49-F238E27FC236}">
                  <a16:creationId xmlns:a16="http://schemas.microsoft.com/office/drawing/2014/main" id="{567F0F50-D19E-4F23-A94F-317841210EFE}"/>
                </a:ext>
              </a:extLst>
            </p:cNvPr>
            <p:cNvGrpSpPr/>
            <p:nvPr/>
          </p:nvGrpSpPr>
          <p:grpSpPr>
            <a:xfrm>
              <a:off x="2719424" y="5508172"/>
              <a:ext cx="1258798" cy="433348"/>
              <a:chOff x="2280049" y="5508172"/>
              <a:chExt cx="1258798" cy="433348"/>
            </a:xfrm>
          </p:grpSpPr>
          <p:sp>
            <p:nvSpPr>
              <p:cNvPr id="22" name="Oval 21">
                <a:extLst>
                  <a:ext uri="{FF2B5EF4-FFF2-40B4-BE49-F238E27FC236}">
                    <a16:creationId xmlns:a16="http://schemas.microsoft.com/office/drawing/2014/main" id="{E6AEA8A8-69CA-4706-B0E8-5C9D6990324E}"/>
                  </a:ext>
                </a:extLst>
              </p:cNvPr>
              <p:cNvSpPr/>
              <p:nvPr/>
            </p:nvSpPr>
            <p:spPr>
              <a:xfrm>
                <a:off x="2280049" y="5605153"/>
                <a:ext cx="285008" cy="308759"/>
              </a:xfrm>
              <a:prstGeom prst="ellipse">
                <a:avLst/>
              </a:prstGeom>
              <a:solidFill>
                <a:schemeClr val="tx1"/>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6FEC6358-9823-4DF6-A6BC-3618707068FC}"/>
                  </a:ext>
                </a:extLst>
              </p:cNvPr>
              <p:cNvSpPr/>
              <p:nvPr/>
            </p:nvSpPr>
            <p:spPr>
              <a:xfrm>
                <a:off x="2432447" y="5508172"/>
                <a:ext cx="285008" cy="308759"/>
              </a:xfrm>
              <a:prstGeom prst="ellipse">
                <a:avLst/>
              </a:prstGeom>
              <a:solidFill>
                <a:srgbClr val="7030A0"/>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209FCD0-162B-4576-A331-15C6BA86CA62}"/>
                  </a:ext>
                </a:extLst>
              </p:cNvPr>
              <p:cNvSpPr/>
              <p:nvPr/>
            </p:nvSpPr>
            <p:spPr>
              <a:xfrm>
                <a:off x="2549225" y="5601194"/>
                <a:ext cx="285008" cy="308759"/>
              </a:xfrm>
              <a:prstGeom prst="ellipse">
                <a:avLst/>
              </a:prstGeom>
              <a:solidFill>
                <a:schemeClr val="tx1"/>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Equal 43">
                <a:extLst>
                  <a:ext uri="{FF2B5EF4-FFF2-40B4-BE49-F238E27FC236}">
                    <a16:creationId xmlns:a16="http://schemas.microsoft.com/office/drawing/2014/main" id="{CA7885FC-2EA0-4180-8A88-D7F8F54C91C6}"/>
                  </a:ext>
                </a:extLst>
              </p:cNvPr>
              <p:cNvSpPr/>
              <p:nvPr/>
            </p:nvSpPr>
            <p:spPr>
              <a:xfrm>
                <a:off x="2838190" y="5640777"/>
                <a:ext cx="320636" cy="237507"/>
              </a:xfrm>
              <a:prstGeom prst="mathEqual">
                <a:avLst/>
              </a:prstGeom>
              <a:solidFill>
                <a:schemeClr val="tx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0" name="TextBox 29">
                <a:extLst>
                  <a:ext uri="{FF2B5EF4-FFF2-40B4-BE49-F238E27FC236}">
                    <a16:creationId xmlns:a16="http://schemas.microsoft.com/office/drawing/2014/main" id="{A386CDDB-084B-428E-B299-9F6AB52051FC}"/>
                  </a:ext>
                </a:extLst>
              </p:cNvPr>
              <p:cNvSpPr txBox="1"/>
              <p:nvPr/>
            </p:nvSpPr>
            <p:spPr>
              <a:xfrm>
                <a:off x="3075710" y="5572188"/>
                <a:ext cx="463137" cy="369332"/>
              </a:xfrm>
              <a:prstGeom prst="rect">
                <a:avLst/>
              </a:prstGeom>
              <a:noFill/>
            </p:spPr>
            <p:txBody>
              <a:bodyPr wrap="square" rtlCol="0">
                <a:spAutoFit/>
              </a:bodyPr>
              <a:lstStyle/>
              <a:p>
                <a:r>
                  <a:rPr lang="en-US" b="1" dirty="0"/>
                  <a:t>x3 </a:t>
                </a:r>
              </a:p>
            </p:txBody>
          </p:sp>
        </p:grpSp>
        <p:sp>
          <p:nvSpPr>
            <p:cNvPr id="21" name="TextBox 20">
              <a:extLst>
                <a:ext uri="{FF2B5EF4-FFF2-40B4-BE49-F238E27FC236}">
                  <a16:creationId xmlns:a16="http://schemas.microsoft.com/office/drawing/2014/main" id="{BF5220D6-B349-4E88-8E68-9FD15EA0C07F}"/>
                </a:ext>
              </a:extLst>
            </p:cNvPr>
            <p:cNvSpPr txBox="1"/>
            <p:nvPr/>
          </p:nvSpPr>
          <p:spPr>
            <a:xfrm>
              <a:off x="1520043" y="5627683"/>
              <a:ext cx="1389409" cy="246221"/>
            </a:xfrm>
            <a:prstGeom prst="rect">
              <a:avLst/>
            </a:prstGeom>
            <a:noFill/>
          </p:spPr>
          <p:txBody>
            <a:bodyPr wrap="square" rtlCol="0">
              <a:spAutoFit/>
            </a:bodyPr>
            <a:lstStyle/>
            <a:p>
              <a:r>
                <a:rPr lang="en-US" sz="1000" b="1" dirty="0"/>
                <a:t>TO OPTIMIZE CARD :  </a:t>
              </a:r>
            </a:p>
          </p:txBody>
        </p:sp>
      </p:grpSp>
      <p:graphicFrame>
        <p:nvGraphicFramePr>
          <p:cNvPr id="5" name="Table 6">
            <a:extLst>
              <a:ext uri="{FF2B5EF4-FFF2-40B4-BE49-F238E27FC236}">
                <a16:creationId xmlns:a16="http://schemas.microsoft.com/office/drawing/2014/main" id="{DE9222D6-4513-44C9-A08C-C07C64EC900D}"/>
              </a:ext>
            </a:extLst>
          </p:cNvPr>
          <p:cNvGraphicFramePr>
            <a:graphicFrameLocks noGrp="1"/>
          </p:cNvGraphicFramePr>
          <p:nvPr>
            <p:extLst>
              <p:ext uri="{D42A27DB-BD31-4B8C-83A1-F6EECF244321}">
                <p14:modId xmlns:p14="http://schemas.microsoft.com/office/powerpoint/2010/main" val="2179540249"/>
              </p:ext>
            </p:extLst>
          </p:nvPr>
        </p:nvGraphicFramePr>
        <p:xfrm>
          <a:off x="4865663" y="1123716"/>
          <a:ext cx="5926383" cy="3312160"/>
        </p:xfrm>
        <a:graphic>
          <a:graphicData uri="http://schemas.openxmlformats.org/drawingml/2006/table">
            <a:tbl>
              <a:tblPr firstRow="1" bandRow="1">
                <a:tableStyleId>{5940675A-B579-460E-94D1-54222C63F5DA}</a:tableStyleId>
              </a:tblPr>
              <a:tblGrid>
                <a:gridCol w="1975461">
                  <a:extLst>
                    <a:ext uri="{9D8B030D-6E8A-4147-A177-3AD203B41FA5}">
                      <a16:colId xmlns:a16="http://schemas.microsoft.com/office/drawing/2014/main" val="1547217571"/>
                    </a:ext>
                  </a:extLst>
                </a:gridCol>
                <a:gridCol w="1975461">
                  <a:extLst>
                    <a:ext uri="{9D8B030D-6E8A-4147-A177-3AD203B41FA5}">
                      <a16:colId xmlns:a16="http://schemas.microsoft.com/office/drawing/2014/main" val="2833921746"/>
                    </a:ext>
                  </a:extLst>
                </a:gridCol>
                <a:gridCol w="1975461">
                  <a:extLst>
                    <a:ext uri="{9D8B030D-6E8A-4147-A177-3AD203B41FA5}">
                      <a16:colId xmlns:a16="http://schemas.microsoft.com/office/drawing/2014/main" val="53535338"/>
                    </a:ext>
                  </a:extLst>
                </a:gridCol>
              </a:tblGrid>
              <a:tr h="370840">
                <a:tc>
                  <a:txBody>
                    <a:bodyPr/>
                    <a:lstStyle/>
                    <a:p>
                      <a:pPr algn="ctr"/>
                      <a:r>
                        <a:rPr lang="en-US" b="1" dirty="0"/>
                        <a:t>CORPORATE PERSONA</a:t>
                      </a:r>
                    </a:p>
                  </a:txBody>
                  <a:tcPr anchor="ctr">
                    <a:solidFill>
                      <a:schemeClr val="accent1">
                        <a:lumMod val="60000"/>
                        <a:lumOff val="40000"/>
                      </a:schemeClr>
                    </a:solidFill>
                  </a:tcPr>
                </a:tc>
                <a:tc>
                  <a:txBody>
                    <a:bodyPr/>
                    <a:lstStyle/>
                    <a:p>
                      <a:pPr algn="ctr"/>
                      <a:r>
                        <a:rPr lang="en-US" b="1" dirty="0"/>
                        <a:t>MIND SET </a:t>
                      </a:r>
                    </a:p>
                  </a:txBody>
                  <a:tcPr anchor="ctr">
                    <a:solidFill>
                      <a:schemeClr val="accent1">
                        <a:lumMod val="60000"/>
                        <a:lumOff val="40000"/>
                      </a:schemeClr>
                    </a:solidFill>
                  </a:tcPr>
                </a:tc>
                <a:tc>
                  <a:txBody>
                    <a:bodyPr/>
                    <a:lstStyle/>
                    <a:p>
                      <a:pPr algn="ctr"/>
                      <a:r>
                        <a:rPr lang="en-US" b="1" dirty="0"/>
                        <a:t>BOX ANALYSIS</a:t>
                      </a:r>
                    </a:p>
                  </a:txBody>
                  <a:tcPr anchor="ctr">
                    <a:solidFill>
                      <a:schemeClr val="accent1">
                        <a:lumMod val="60000"/>
                        <a:lumOff val="40000"/>
                      </a:schemeClr>
                    </a:solidFill>
                  </a:tcPr>
                </a:tc>
                <a:extLst>
                  <a:ext uri="{0D108BD9-81ED-4DB2-BD59-A6C34878D82A}">
                    <a16:rowId xmlns:a16="http://schemas.microsoft.com/office/drawing/2014/main" val="2819750649"/>
                  </a:ext>
                </a:extLst>
              </a:tr>
              <a:tr h="370840">
                <a:tc>
                  <a:txBody>
                    <a:bodyPr/>
                    <a:lstStyle/>
                    <a:p>
                      <a:pPr algn="ctr"/>
                      <a:r>
                        <a:rPr lang="en-US" sz="1100" b="1" dirty="0"/>
                        <a:t>BUILDER OF BUSINESSES </a:t>
                      </a:r>
                    </a:p>
                  </a:txBody>
                  <a:tcPr anchor="ctr"/>
                </a:tc>
                <a:tc>
                  <a:txBody>
                    <a:bodyPr/>
                    <a:lstStyle/>
                    <a:p>
                      <a:pPr algn="ctr"/>
                      <a:r>
                        <a:rPr lang="en-US" sz="1100" b="1" dirty="0"/>
                        <a:t>LIKES NEW THINGS AND EXPERIANCES AND PROJECTS  </a:t>
                      </a:r>
                    </a:p>
                  </a:txBody>
                  <a:tcPr anchor="ctr"/>
                </a:tc>
                <a:tc rowSpan="6">
                  <a:txBody>
                    <a:bodyPr/>
                    <a:lstStyle/>
                    <a:p>
                      <a:pPr algn="ctr"/>
                      <a:endParaRPr lang="en-US" sz="1100" b="1" dirty="0"/>
                    </a:p>
                    <a:p>
                      <a:pPr algn="ctr"/>
                      <a:r>
                        <a:rPr lang="en-US" sz="1100" b="1" dirty="0"/>
                        <a:t>LIKES TO BUILD BOXES</a:t>
                      </a:r>
                    </a:p>
                    <a:p>
                      <a:pPr algn="ctr"/>
                      <a:endParaRPr lang="en-US" sz="1100" b="1" dirty="0"/>
                    </a:p>
                    <a:p>
                      <a:pPr algn="ctr"/>
                      <a:r>
                        <a:rPr lang="en-US" sz="1100" b="1" dirty="0"/>
                        <a:t>LIKES TO THINK OUTSIDE THE BOX</a:t>
                      </a:r>
                    </a:p>
                    <a:p>
                      <a:pPr algn="ctr"/>
                      <a:endParaRPr lang="en-US" sz="1100" b="1" dirty="0"/>
                    </a:p>
                    <a:p>
                      <a:pPr algn="ctr"/>
                      <a:r>
                        <a:rPr lang="en-US" sz="1100" b="1" dirty="0"/>
                        <a:t>NOT COMFORTABLE IN LARGE BOXES </a:t>
                      </a:r>
                    </a:p>
                    <a:p>
                      <a:pPr algn="ctr"/>
                      <a:endParaRPr lang="en-US" sz="1100" b="1" dirty="0"/>
                    </a:p>
                    <a:p>
                      <a:pPr algn="ctr"/>
                      <a:r>
                        <a:rPr lang="en-US" sz="1100" b="1" dirty="0"/>
                        <a:t>NEEDS TO EVOLVE MINDSET TO SCALE BOXES</a:t>
                      </a:r>
                    </a:p>
                  </a:txBody>
                  <a:tcPr anchor="ctr"/>
                </a:tc>
                <a:extLst>
                  <a:ext uri="{0D108BD9-81ED-4DB2-BD59-A6C34878D82A}">
                    <a16:rowId xmlns:a16="http://schemas.microsoft.com/office/drawing/2014/main" val="2987475413"/>
                  </a:ext>
                </a:extLst>
              </a:tr>
              <a:tr h="370840">
                <a:tc>
                  <a:txBody>
                    <a:bodyPr/>
                    <a:lstStyle/>
                    <a:p>
                      <a:pPr algn="ctr"/>
                      <a:r>
                        <a:rPr lang="en-US" sz="1100" b="1" dirty="0"/>
                        <a:t>THRIVES IN HARSH ENVIRONMENTS</a:t>
                      </a:r>
                    </a:p>
                  </a:txBody>
                  <a:tcPr anchor="ctr"/>
                </a:tc>
                <a:tc>
                  <a:txBody>
                    <a:bodyPr/>
                    <a:lstStyle/>
                    <a:p>
                      <a:pPr algn="ctr"/>
                      <a:r>
                        <a:rPr lang="en-US" sz="1100" b="1" dirty="0"/>
                        <a:t>BREACKS RULES, MAKES RULES </a:t>
                      </a:r>
                    </a:p>
                  </a:txBody>
                  <a:tcPr anchor="ctr"/>
                </a:tc>
                <a:tc vMerge="1">
                  <a:txBody>
                    <a:bodyPr/>
                    <a:lstStyle/>
                    <a:p>
                      <a:endParaRPr lang="en-US" dirty="0"/>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218776686"/>
                  </a:ext>
                </a:extLst>
              </a:tr>
              <a:tr h="370840">
                <a:tc>
                  <a:txBody>
                    <a:bodyPr/>
                    <a:lstStyle/>
                    <a:p>
                      <a:pPr algn="ctr"/>
                      <a:r>
                        <a:rPr lang="en-US" sz="1100" b="1" dirty="0"/>
                        <a:t>START UP INDUSTRY EXPERIANCED</a:t>
                      </a:r>
                    </a:p>
                  </a:txBody>
                  <a:tcPr anchor="ctr"/>
                </a:tc>
                <a:tc>
                  <a:txBody>
                    <a:bodyPr/>
                    <a:lstStyle/>
                    <a:p>
                      <a:pPr algn="ctr"/>
                      <a:r>
                        <a:rPr lang="en-US" sz="1100" b="1" dirty="0"/>
                        <a:t>CHARISMATIC – A STORYTELLER </a:t>
                      </a:r>
                    </a:p>
                  </a:txBody>
                  <a:tcPr anchor="ctr"/>
                </a:tc>
                <a:tc vMerge="1">
                  <a:txBody>
                    <a:bodyPr/>
                    <a:lstStyle/>
                    <a:p>
                      <a:endParaRPr lang="en-US" dirty="0"/>
                    </a:p>
                  </a:txBody>
                  <a:tcPr/>
                </a:tc>
                <a:extLst>
                  <a:ext uri="{0D108BD9-81ED-4DB2-BD59-A6C34878D82A}">
                    <a16:rowId xmlns:a16="http://schemas.microsoft.com/office/drawing/2014/main" val="4207697039"/>
                  </a:ext>
                </a:extLst>
              </a:tr>
              <a:tr h="370840">
                <a:tc>
                  <a:txBody>
                    <a:bodyPr/>
                    <a:lstStyle/>
                    <a:p>
                      <a:pPr algn="ctr"/>
                      <a:r>
                        <a:rPr lang="en-US" sz="1100" b="1" dirty="0"/>
                        <a:t>PROCESS EXPERIANCED</a:t>
                      </a:r>
                    </a:p>
                  </a:txBody>
                  <a:tcPr anchor="ctr"/>
                </a:tc>
                <a:tc>
                  <a:txBody>
                    <a:bodyPr/>
                    <a:lstStyle/>
                    <a:p>
                      <a:pPr algn="ctr"/>
                      <a:r>
                        <a:rPr lang="en-US" sz="1100" b="1" dirty="0"/>
                        <a:t>A COMMUNITY BUILDER</a:t>
                      </a:r>
                    </a:p>
                  </a:txBody>
                  <a:tcPr anchor="ctr"/>
                </a:tc>
                <a:tc vMerge="1">
                  <a:txBody>
                    <a:bodyPr/>
                    <a:lstStyle/>
                    <a:p>
                      <a:endParaRPr lang="en-US" dirty="0"/>
                    </a:p>
                  </a:txBody>
                  <a:tcPr/>
                </a:tc>
                <a:extLst>
                  <a:ext uri="{0D108BD9-81ED-4DB2-BD59-A6C34878D82A}">
                    <a16:rowId xmlns:a16="http://schemas.microsoft.com/office/drawing/2014/main" val="729901320"/>
                  </a:ext>
                </a:extLst>
              </a:tr>
              <a:tr h="370840">
                <a:tc>
                  <a:txBody>
                    <a:bodyPr/>
                    <a:lstStyle/>
                    <a:p>
                      <a:pPr algn="ctr"/>
                      <a:r>
                        <a:rPr lang="en-US" sz="1100" b="1" dirty="0"/>
                        <a:t>START AND RESTART CAPABLE</a:t>
                      </a:r>
                    </a:p>
                  </a:txBody>
                  <a:tcPr anchor="ctr"/>
                </a:tc>
                <a:tc>
                  <a:txBody>
                    <a:bodyPr/>
                    <a:lstStyle/>
                    <a:p>
                      <a:pPr algn="ctr"/>
                      <a:r>
                        <a:rPr lang="en-US" sz="1100" b="1" dirty="0"/>
                        <a:t>MAY NOT BE COMFORTABLE IN A STRUCTURED ENVIRONMENT</a:t>
                      </a:r>
                    </a:p>
                  </a:txBody>
                  <a:tcPr anchor="ctr">
                    <a:solidFill>
                      <a:srgbClr val="FFC000"/>
                    </a:solidFill>
                  </a:tcPr>
                </a:tc>
                <a:tc vMerge="1">
                  <a:txBody>
                    <a:bodyPr/>
                    <a:lstStyle/>
                    <a:p>
                      <a:endParaRPr lang="en-US" dirty="0"/>
                    </a:p>
                  </a:txBody>
                  <a:tcPr/>
                </a:tc>
                <a:extLst>
                  <a:ext uri="{0D108BD9-81ED-4DB2-BD59-A6C34878D82A}">
                    <a16:rowId xmlns:a16="http://schemas.microsoft.com/office/drawing/2014/main" val="1042100184"/>
                  </a:ext>
                </a:extLst>
              </a:tr>
              <a:tr h="370840">
                <a:tc>
                  <a:txBody>
                    <a:bodyPr/>
                    <a:lstStyle/>
                    <a:p>
                      <a:pPr algn="ctr"/>
                      <a:r>
                        <a:rPr lang="en-US" sz="1100" b="1" dirty="0"/>
                        <a:t>TEAM BUILDER (MAGNETIC PERSONALITY)</a:t>
                      </a:r>
                    </a:p>
                  </a:txBody>
                  <a:tcPr anchor="ctr"/>
                </a:tc>
                <a:tc>
                  <a:txBody>
                    <a:bodyPr/>
                    <a:lstStyle/>
                    <a:p>
                      <a:pPr algn="ctr"/>
                      <a:r>
                        <a:rPr lang="en-US" sz="1100" b="1" dirty="0"/>
                        <a:t>MAY NOT BE ABLE TO SCALE PAST A CERTAIN THRESHOLD</a:t>
                      </a:r>
                    </a:p>
                  </a:txBody>
                  <a:tcPr anchor="ctr">
                    <a:solidFill>
                      <a:srgbClr val="FFC000"/>
                    </a:solidFill>
                  </a:tcPr>
                </a:tc>
                <a:tc vMerge="1">
                  <a:txBody>
                    <a:bodyPr/>
                    <a:lstStyle/>
                    <a:p>
                      <a:endParaRPr lang="en-US" dirty="0"/>
                    </a:p>
                  </a:txBody>
                  <a:tcPr/>
                </a:tc>
                <a:extLst>
                  <a:ext uri="{0D108BD9-81ED-4DB2-BD59-A6C34878D82A}">
                    <a16:rowId xmlns:a16="http://schemas.microsoft.com/office/drawing/2014/main" val="983259082"/>
                  </a:ext>
                </a:extLst>
              </a:tr>
            </a:tbl>
          </a:graphicData>
        </a:graphic>
      </p:graphicFrame>
      <p:graphicFrame>
        <p:nvGraphicFramePr>
          <p:cNvPr id="7" name="Table 7">
            <a:extLst>
              <a:ext uri="{FF2B5EF4-FFF2-40B4-BE49-F238E27FC236}">
                <a16:creationId xmlns:a16="http://schemas.microsoft.com/office/drawing/2014/main" id="{28532177-05BC-4CD8-8DD7-A4D863E23EF6}"/>
              </a:ext>
            </a:extLst>
          </p:cNvPr>
          <p:cNvGraphicFramePr>
            <a:graphicFrameLocks noGrp="1"/>
          </p:cNvGraphicFramePr>
          <p:nvPr/>
        </p:nvGraphicFramePr>
        <p:xfrm>
          <a:off x="4865663" y="4713591"/>
          <a:ext cx="5926384" cy="944880"/>
        </p:xfrm>
        <a:graphic>
          <a:graphicData uri="http://schemas.openxmlformats.org/drawingml/2006/table">
            <a:tbl>
              <a:tblPr firstRow="1" bandRow="1">
                <a:tableStyleId>{5C22544A-7EE6-4342-B048-85BDC9FD1C3A}</a:tableStyleId>
              </a:tblPr>
              <a:tblGrid>
                <a:gridCol w="2963192">
                  <a:extLst>
                    <a:ext uri="{9D8B030D-6E8A-4147-A177-3AD203B41FA5}">
                      <a16:colId xmlns:a16="http://schemas.microsoft.com/office/drawing/2014/main" val="1028654853"/>
                    </a:ext>
                  </a:extLst>
                </a:gridCol>
                <a:gridCol w="2963192">
                  <a:extLst>
                    <a:ext uri="{9D8B030D-6E8A-4147-A177-3AD203B41FA5}">
                      <a16:colId xmlns:a16="http://schemas.microsoft.com/office/drawing/2014/main" val="2159636558"/>
                    </a:ext>
                  </a:extLst>
                </a:gridCol>
              </a:tblGrid>
              <a:tr h="370840">
                <a:tc>
                  <a:txBody>
                    <a:bodyPr/>
                    <a:lstStyle/>
                    <a:p>
                      <a:pPr algn="ctr"/>
                      <a:r>
                        <a:rPr lang="en-US" dirty="0">
                          <a:solidFill>
                            <a:srgbClr val="C00000"/>
                          </a:solidFill>
                        </a:rPr>
                        <a:t>INSIGHT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400" dirty="0">
                          <a:solidFill>
                            <a:srgbClr val="C00000"/>
                          </a:solidFill>
                        </a:rPr>
                        <a:t>MULTI INDUSTRY EXPERIENCE CREATES OPPORTUNITIES FOR INNOVATION. THEY MIGHT NOT REALIZE THIS THOUGH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823397659"/>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010427" y="1914437"/>
            <a:ext cx="8312727" cy="3740727"/>
          </a:xfrm>
          <a:prstGeom prst="rect">
            <a:avLst/>
          </a:prstGeom>
          <a:solidFill>
            <a:schemeClr val="bg1"/>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ANT</a:t>
            </a:r>
          </a:p>
          <a:p>
            <a:pPr algn="ctr"/>
            <a:endParaRPr lang="en-GB" dirty="0">
              <a:solidFill>
                <a:srgbClr val="FF0000"/>
              </a:solidFill>
            </a:endParaRPr>
          </a:p>
          <a:p>
            <a:pPr algn="ctr"/>
            <a:r>
              <a:rPr lang="en-GB" cap="small" dirty="0">
                <a:solidFill>
                  <a:srgbClr val="FF0000"/>
                </a:solidFill>
              </a:rPr>
              <a:t>You are interested in Small Enterprises or start ups, you either plan to start your own business one day or you have already started. You have dreams of appearing on the cover of Fortune or Times Magazine, you are not satisfied with where you are right now. You have the heart of a creator</a:t>
            </a:r>
          </a:p>
        </p:txBody>
      </p:sp>
      <p:sp>
        <p:nvSpPr>
          <p:cNvPr id="6" name="Heart 5"/>
          <p:cNvSpPr/>
          <p:nvPr/>
        </p:nvSpPr>
        <p:spPr>
          <a:xfrm>
            <a:off x="8142652" y="4607475"/>
            <a:ext cx="914400" cy="914400"/>
          </a:xfrm>
          <a:prstGeom prst="hear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 name="Picture 3"/>
          <p:cNvPicPr>
            <a:picLocks noChangeAspect="1" noChangeArrowheads="1"/>
          </p:cNvPicPr>
          <p:nvPr/>
        </p:nvPicPr>
        <p:blipFill>
          <a:blip r:embed="rId2" cstate="print"/>
          <a:srcRect/>
          <a:stretch>
            <a:fillRect/>
          </a:stretch>
        </p:blipFill>
        <p:spPr bwMode="auto">
          <a:xfrm>
            <a:off x="4008877" y="1379328"/>
            <a:ext cx="2452359" cy="1552411"/>
          </a:xfrm>
          <a:prstGeom prst="rect">
            <a:avLst/>
          </a:prstGeom>
          <a:noFill/>
          <a:ln w="9525">
            <a:noFill/>
            <a:miter lim="800000"/>
            <a:headEnd/>
            <a:tailEnd/>
          </a:ln>
        </p:spPr>
      </p:pic>
    </p:spTree>
    <p:extLst>
      <p:ext uri="{BB962C8B-B14F-4D97-AF65-F5344CB8AC3E}">
        <p14:creationId xmlns:p14="http://schemas.microsoft.com/office/powerpoint/2010/main" val="39320065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Group 17"/>
          <p:cNvGrpSpPr/>
          <p:nvPr/>
        </p:nvGrpSpPr>
        <p:grpSpPr>
          <a:xfrm>
            <a:off x="1306286" y="769258"/>
            <a:ext cx="3207657" cy="5312228"/>
            <a:chOff x="1306286" y="769258"/>
            <a:chExt cx="3207657" cy="5312228"/>
          </a:xfrm>
        </p:grpSpPr>
        <p:grpSp>
          <p:nvGrpSpPr>
            <p:cNvPr id="4" name="Group 3"/>
            <p:cNvGrpSpPr/>
            <p:nvPr/>
          </p:nvGrpSpPr>
          <p:grpSpPr>
            <a:xfrm>
              <a:off x="1306286" y="769258"/>
              <a:ext cx="3207657" cy="5312228"/>
              <a:chOff x="1306286" y="769258"/>
              <a:chExt cx="3207657" cy="5312228"/>
            </a:xfrm>
          </p:grpSpPr>
          <p:sp>
            <p:nvSpPr>
              <p:cNvPr id="2" name="Rounded Rectangle 1"/>
              <p:cNvSpPr/>
              <p:nvPr/>
            </p:nvSpPr>
            <p:spPr>
              <a:xfrm>
                <a:off x="1306286" y="783771"/>
                <a:ext cx="3207657" cy="5297715"/>
              </a:xfrm>
              <a:prstGeom prst="roundRect">
                <a:avLst/>
              </a:prstGeom>
              <a:solidFill>
                <a:schemeClr val="bg1"/>
              </a:solidFill>
              <a:ln w="76200">
                <a:solidFill>
                  <a:schemeClr val="bg1">
                    <a:lumMod val="6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 Same Side Corner Rectangle 2"/>
              <p:cNvSpPr/>
              <p:nvPr/>
            </p:nvSpPr>
            <p:spPr>
              <a:xfrm>
                <a:off x="1306286" y="769258"/>
                <a:ext cx="3207657" cy="1146626"/>
              </a:xfrm>
              <a:prstGeom prst="round2SameRect">
                <a:avLst/>
              </a:prstGeom>
              <a:solidFill>
                <a:schemeClr val="tx1"/>
              </a:solidFill>
              <a:ln w="762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latin typeface="AR BONNIE" pitchFamily="2" charset="0"/>
                  </a:rPr>
                  <a:t>THE BUTTERFLY</a:t>
                </a:r>
              </a:p>
            </p:txBody>
          </p:sp>
        </p:grpSp>
        <p:sp>
          <p:nvSpPr>
            <p:cNvPr id="12" name="TextBox 11"/>
            <p:cNvSpPr txBox="1"/>
            <p:nvPr/>
          </p:nvSpPr>
          <p:spPr>
            <a:xfrm>
              <a:off x="1679615" y="1989268"/>
              <a:ext cx="2380593" cy="430887"/>
            </a:xfrm>
            <a:prstGeom prst="rect">
              <a:avLst/>
            </a:prstGeom>
            <a:noFill/>
          </p:spPr>
          <p:txBody>
            <a:bodyPr wrap="square" rtlCol="0">
              <a:spAutoFit/>
            </a:bodyPr>
            <a:lstStyle/>
            <a:p>
              <a:pPr algn="ctr"/>
              <a:r>
                <a:rPr lang="en-US" sz="1100" b="1" dirty="0"/>
                <a:t>I AM EXCLUSIVE, EXPENSIVE, CUSTOMIZED AND RARE!</a:t>
              </a:r>
            </a:p>
          </p:txBody>
        </p:sp>
        <p:sp>
          <p:nvSpPr>
            <p:cNvPr id="13" name="TextBox 12"/>
            <p:cNvSpPr txBox="1"/>
            <p:nvPr/>
          </p:nvSpPr>
          <p:spPr>
            <a:xfrm>
              <a:off x="2443656" y="2612045"/>
              <a:ext cx="851338" cy="400110"/>
            </a:xfrm>
            <a:prstGeom prst="rect">
              <a:avLst/>
            </a:prstGeom>
            <a:noFill/>
          </p:spPr>
          <p:txBody>
            <a:bodyPr wrap="square" rtlCol="0">
              <a:spAutoFit/>
            </a:bodyPr>
            <a:lstStyle/>
            <a:p>
              <a:pPr algn="ctr"/>
              <a:r>
                <a:rPr lang="en-US" sz="2000" b="1" dirty="0"/>
                <a:t>+10</a:t>
              </a:r>
            </a:p>
          </p:txBody>
        </p:sp>
        <p:pic>
          <p:nvPicPr>
            <p:cNvPr id="3074" name="Picture 2"/>
            <p:cNvPicPr>
              <a:picLocks noChangeAspect="1" noChangeArrowheads="1"/>
            </p:cNvPicPr>
            <p:nvPr/>
          </p:nvPicPr>
          <p:blipFill>
            <a:blip r:embed="rId2" cstate="print"/>
            <a:srcRect/>
            <a:stretch>
              <a:fillRect/>
            </a:stretch>
          </p:blipFill>
          <p:spPr bwMode="auto">
            <a:xfrm>
              <a:off x="1620222" y="3048947"/>
              <a:ext cx="2462302" cy="2074458"/>
            </a:xfrm>
            <a:prstGeom prst="rect">
              <a:avLst/>
            </a:prstGeom>
            <a:noFill/>
            <a:ln w="9525">
              <a:noFill/>
              <a:miter lim="800000"/>
              <a:headEnd/>
              <a:tailEnd/>
            </a:ln>
          </p:spPr>
        </p:pic>
      </p:grpSp>
      <p:grpSp>
        <p:nvGrpSpPr>
          <p:cNvPr id="19" name="Group 18">
            <a:extLst>
              <a:ext uri="{FF2B5EF4-FFF2-40B4-BE49-F238E27FC236}">
                <a16:creationId xmlns:a16="http://schemas.microsoft.com/office/drawing/2014/main" id="{90DCE663-30C5-4D9D-8A5F-D36F06C290E3}"/>
              </a:ext>
            </a:extLst>
          </p:cNvPr>
          <p:cNvGrpSpPr/>
          <p:nvPr/>
        </p:nvGrpSpPr>
        <p:grpSpPr>
          <a:xfrm>
            <a:off x="1637551" y="5476273"/>
            <a:ext cx="2458179" cy="433348"/>
            <a:chOff x="1520043" y="5508172"/>
            <a:chExt cx="2458179" cy="433348"/>
          </a:xfrm>
        </p:grpSpPr>
        <p:grpSp>
          <p:nvGrpSpPr>
            <p:cNvPr id="20" name="Group 33">
              <a:extLst>
                <a:ext uri="{FF2B5EF4-FFF2-40B4-BE49-F238E27FC236}">
                  <a16:creationId xmlns:a16="http://schemas.microsoft.com/office/drawing/2014/main" id="{C4D48F1F-B236-4230-B536-661E1600EA0E}"/>
                </a:ext>
              </a:extLst>
            </p:cNvPr>
            <p:cNvGrpSpPr/>
            <p:nvPr/>
          </p:nvGrpSpPr>
          <p:grpSpPr>
            <a:xfrm>
              <a:off x="2719424" y="5508172"/>
              <a:ext cx="1258798" cy="433348"/>
              <a:chOff x="2280049" y="5508172"/>
              <a:chExt cx="1258798" cy="433348"/>
            </a:xfrm>
          </p:grpSpPr>
          <p:sp>
            <p:nvSpPr>
              <p:cNvPr id="22" name="Oval 21">
                <a:extLst>
                  <a:ext uri="{FF2B5EF4-FFF2-40B4-BE49-F238E27FC236}">
                    <a16:creationId xmlns:a16="http://schemas.microsoft.com/office/drawing/2014/main" id="{F46BE1D3-50C5-4F93-90DD-8E8B4837A8F6}"/>
                  </a:ext>
                </a:extLst>
              </p:cNvPr>
              <p:cNvSpPr/>
              <p:nvPr/>
            </p:nvSpPr>
            <p:spPr>
              <a:xfrm>
                <a:off x="2280049" y="5605153"/>
                <a:ext cx="285008" cy="308759"/>
              </a:xfrm>
              <a:prstGeom prst="ellipse">
                <a:avLst/>
              </a:prstGeom>
              <a:solidFill>
                <a:schemeClr val="tx1"/>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70CA1770-C47B-4ED2-BFA7-F51803B36BAF}"/>
                  </a:ext>
                </a:extLst>
              </p:cNvPr>
              <p:cNvSpPr/>
              <p:nvPr/>
            </p:nvSpPr>
            <p:spPr>
              <a:xfrm>
                <a:off x="2432447" y="5508172"/>
                <a:ext cx="285008" cy="308759"/>
              </a:xfrm>
              <a:prstGeom prst="ellipse">
                <a:avLst/>
              </a:prstGeom>
              <a:solidFill>
                <a:srgbClr val="7030A0"/>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592CD4A1-EC70-4CE2-8B94-30CF6F9B25C0}"/>
                  </a:ext>
                </a:extLst>
              </p:cNvPr>
              <p:cNvSpPr/>
              <p:nvPr/>
            </p:nvSpPr>
            <p:spPr>
              <a:xfrm>
                <a:off x="2549225" y="5601194"/>
                <a:ext cx="285008" cy="308759"/>
              </a:xfrm>
              <a:prstGeom prst="ellipse">
                <a:avLst/>
              </a:prstGeom>
              <a:solidFill>
                <a:schemeClr val="tx1"/>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Equal 43">
                <a:extLst>
                  <a:ext uri="{FF2B5EF4-FFF2-40B4-BE49-F238E27FC236}">
                    <a16:creationId xmlns:a16="http://schemas.microsoft.com/office/drawing/2014/main" id="{07CE628D-3A6F-49F3-BACB-B376E4847ECB}"/>
                  </a:ext>
                </a:extLst>
              </p:cNvPr>
              <p:cNvSpPr/>
              <p:nvPr/>
            </p:nvSpPr>
            <p:spPr>
              <a:xfrm>
                <a:off x="2838190" y="5640777"/>
                <a:ext cx="320636" cy="237507"/>
              </a:xfrm>
              <a:prstGeom prst="mathEqual">
                <a:avLst/>
              </a:prstGeom>
              <a:solidFill>
                <a:schemeClr val="tx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6" name="TextBox 25">
                <a:extLst>
                  <a:ext uri="{FF2B5EF4-FFF2-40B4-BE49-F238E27FC236}">
                    <a16:creationId xmlns:a16="http://schemas.microsoft.com/office/drawing/2014/main" id="{41BB3287-DD95-4207-9B92-EC6FFFF8D1DE}"/>
                  </a:ext>
                </a:extLst>
              </p:cNvPr>
              <p:cNvSpPr txBox="1"/>
              <p:nvPr/>
            </p:nvSpPr>
            <p:spPr>
              <a:xfrm>
                <a:off x="3075710" y="5572188"/>
                <a:ext cx="463137" cy="369332"/>
              </a:xfrm>
              <a:prstGeom prst="rect">
                <a:avLst/>
              </a:prstGeom>
              <a:noFill/>
            </p:spPr>
            <p:txBody>
              <a:bodyPr wrap="square" rtlCol="0">
                <a:spAutoFit/>
              </a:bodyPr>
              <a:lstStyle/>
              <a:p>
                <a:r>
                  <a:rPr lang="en-US" b="1" dirty="0"/>
                  <a:t>x3 </a:t>
                </a:r>
              </a:p>
            </p:txBody>
          </p:sp>
        </p:grpSp>
        <p:sp>
          <p:nvSpPr>
            <p:cNvPr id="21" name="TextBox 20">
              <a:extLst>
                <a:ext uri="{FF2B5EF4-FFF2-40B4-BE49-F238E27FC236}">
                  <a16:creationId xmlns:a16="http://schemas.microsoft.com/office/drawing/2014/main" id="{E01C5B8F-D469-4635-A4C6-042E8F13FDD4}"/>
                </a:ext>
              </a:extLst>
            </p:cNvPr>
            <p:cNvSpPr txBox="1"/>
            <p:nvPr/>
          </p:nvSpPr>
          <p:spPr>
            <a:xfrm>
              <a:off x="1520043" y="5627683"/>
              <a:ext cx="1389409" cy="246221"/>
            </a:xfrm>
            <a:prstGeom prst="rect">
              <a:avLst/>
            </a:prstGeom>
            <a:noFill/>
          </p:spPr>
          <p:txBody>
            <a:bodyPr wrap="square" rtlCol="0">
              <a:spAutoFit/>
            </a:bodyPr>
            <a:lstStyle/>
            <a:p>
              <a:r>
                <a:rPr lang="en-US" sz="1000" b="1" dirty="0"/>
                <a:t>TO OPTIMIZE CARD :  </a:t>
              </a:r>
            </a:p>
          </p:txBody>
        </p:sp>
      </p:grpSp>
      <p:graphicFrame>
        <p:nvGraphicFramePr>
          <p:cNvPr id="27" name="Table 6">
            <a:extLst>
              <a:ext uri="{FF2B5EF4-FFF2-40B4-BE49-F238E27FC236}">
                <a16:creationId xmlns:a16="http://schemas.microsoft.com/office/drawing/2014/main" id="{29905272-1E25-48FF-B1CD-054685C6FC0A}"/>
              </a:ext>
            </a:extLst>
          </p:cNvPr>
          <p:cNvGraphicFramePr>
            <a:graphicFrameLocks noGrp="1"/>
          </p:cNvGraphicFramePr>
          <p:nvPr/>
        </p:nvGraphicFramePr>
        <p:xfrm>
          <a:off x="4865663" y="730311"/>
          <a:ext cx="5926383" cy="3982720"/>
        </p:xfrm>
        <a:graphic>
          <a:graphicData uri="http://schemas.openxmlformats.org/drawingml/2006/table">
            <a:tbl>
              <a:tblPr firstRow="1" bandRow="1">
                <a:tableStyleId>{5940675A-B579-460E-94D1-54222C63F5DA}</a:tableStyleId>
              </a:tblPr>
              <a:tblGrid>
                <a:gridCol w="1975461">
                  <a:extLst>
                    <a:ext uri="{9D8B030D-6E8A-4147-A177-3AD203B41FA5}">
                      <a16:colId xmlns:a16="http://schemas.microsoft.com/office/drawing/2014/main" val="1547217571"/>
                    </a:ext>
                  </a:extLst>
                </a:gridCol>
                <a:gridCol w="1975461">
                  <a:extLst>
                    <a:ext uri="{9D8B030D-6E8A-4147-A177-3AD203B41FA5}">
                      <a16:colId xmlns:a16="http://schemas.microsoft.com/office/drawing/2014/main" val="2833921746"/>
                    </a:ext>
                  </a:extLst>
                </a:gridCol>
                <a:gridCol w="1975461">
                  <a:extLst>
                    <a:ext uri="{9D8B030D-6E8A-4147-A177-3AD203B41FA5}">
                      <a16:colId xmlns:a16="http://schemas.microsoft.com/office/drawing/2014/main" val="53535338"/>
                    </a:ext>
                  </a:extLst>
                </a:gridCol>
              </a:tblGrid>
              <a:tr h="370840">
                <a:tc>
                  <a:txBody>
                    <a:bodyPr/>
                    <a:lstStyle/>
                    <a:p>
                      <a:pPr algn="ctr"/>
                      <a:r>
                        <a:rPr lang="en-US" b="1" dirty="0"/>
                        <a:t>CORPORATE PERSONA</a:t>
                      </a:r>
                    </a:p>
                  </a:txBody>
                  <a:tcPr anchor="ctr">
                    <a:solidFill>
                      <a:schemeClr val="accent1">
                        <a:lumMod val="60000"/>
                        <a:lumOff val="40000"/>
                      </a:schemeClr>
                    </a:solidFill>
                  </a:tcPr>
                </a:tc>
                <a:tc>
                  <a:txBody>
                    <a:bodyPr/>
                    <a:lstStyle/>
                    <a:p>
                      <a:pPr algn="ctr"/>
                      <a:r>
                        <a:rPr lang="en-US" b="1" dirty="0"/>
                        <a:t>MIND SET </a:t>
                      </a:r>
                    </a:p>
                  </a:txBody>
                  <a:tcPr anchor="ctr">
                    <a:solidFill>
                      <a:schemeClr val="accent1">
                        <a:lumMod val="60000"/>
                        <a:lumOff val="40000"/>
                      </a:schemeClr>
                    </a:solidFill>
                  </a:tcPr>
                </a:tc>
                <a:tc>
                  <a:txBody>
                    <a:bodyPr/>
                    <a:lstStyle/>
                    <a:p>
                      <a:pPr algn="ctr"/>
                      <a:r>
                        <a:rPr lang="en-US" b="1" dirty="0"/>
                        <a:t>BOX ANALYSIS</a:t>
                      </a:r>
                    </a:p>
                  </a:txBody>
                  <a:tcPr anchor="ctr">
                    <a:solidFill>
                      <a:schemeClr val="accent1">
                        <a:lumMod val="60000"/>
                        <a:lumOff val="40000"/>
                      </a:schemeClr>
                    </a:solidFill>
                  </a:tcPr>
                </a:tc>
                <a:extLst>
                  <a:ext uri="{0D108BD9-81ED-4DB2-BD59-A6C34878D82A}">
                    <a16:rowId xmlns:a16="http://schemas.microsoft.com/office/drawing/2014/main" val="2819750649"/>
                  </a:ext>
                </a:extLst>
              </a:tr>
              <a:tr h="370840">
                <a:tc>
                  <a:txBody>
                    <a:bodyPr/>
                    <a:lstStyle/>
                    <a:p>
                      <a:pPr algn="ctr"/>
                      <a:r>
                        <a:rPr lang="en-US" sz="1100" b="1" dirty="0"/>
                        <a:t>EXCLUSIVE PRODUCTS</a:t>
                      </a:r>
                    </a:p>
                  </a:txBody>
                  <a:tcPr anchor="ctr"/>
                </a:tc>
                <a:tc>
                  <a:txBody>
                    <a:bodyPr/>
                    <a:lstStyle/>
                    <a:p>
                      <a:pPr algn="ctr"/>
                      <a:r>
                        <a:rPr lang="en-US" sz="1100" b="1" dirty="0"/>
                        <a:t>VALUE ENHANCER  </a:t>
                      </a:r>
                    </a:p>
                  </a:txBody>
                  <a:tcPr anchor="ctr"/>
                </a:tc>
                <a:tc rowSpan="6">
                  <a:txBody>
                    <a:bodyPr/>
                    <a:lstStyle/>
                    <a:p>
                      <a:pPr algn="ctr"/>
                      <a:endParaRPr lang="en-US" sz="1100" b="1" dirty="0"/>
                    </a:p>
                    <a:p>
                      <a:pPr algn="ctr"/>
                      <a:r>
                        <a:rPr lang="en-US" sz="1100" b="1" dirty="0"/>
                        <a:t>LIKES EXCLUSIVE BOXES</a:t>
                      </a:r>
                    </a:p>
                    <a:p>
                      <a:pPr algn="ctr"/>
                      <a:endParaRPr lang="en-US" sz="1100" b="1" dirty="0"/>
                    </a:p>
                    <a:p>
                      <a:pPr algn="ctr"/>
                      <a:r>
                        <a:rPr lang="en-US" sz="1100" b="1" dirty="0"/>
                        <a:t>IS NOT COMFORTABLE WITH OUTSIDE THE BOX THINKING</a:t>
                      </a:r>
                    </a:p>
                    <a:p>
                      <a:pPr algn="ctr"/>
                      <a:endParaRPr lang="en-US" sz="1100" b="1" dirty="0"/>
                    </a:p>
                    <a:p>
                      <a:pPr algn="ctr"/>
                      <a:r>
                        <a:rPr lang="en-US" sz="1100" b="1" dirty="0"/>
                        <a:t>VERY COMFORTABLE IN LARGE BOXES IF THERE IS CLOSE ACCESS TO THE MANAGEMENT CARDE</a:t>
                      </a:r>
                    </a:p>
                    <a:p>
                      <a:pPr algn="ctr"/>
                      <a:endParaRPr lang="en-US" sz="1100" b="1" dirty="0"/>
                    </a:p>
                  </a:txBody>
                  <a:tcPr anchor="ctr"/>
                </a:tc>
                <a:extLst>
                  <a:ext uri="{0D108BD9-81ED-4DB2-BD59-A6C34878D82A}">
                    <a16:rowId xmlns:a16="http://schemas.microsoft.com/office/drawing/2014/main" val="2987475413"/>
                  </a:ext>
                </a:extLst>
              </a:tr>
              <a:tr h="370840">
                <a:tc>
                  <a:txBody>
                    <a:bodyPr/>
                    <a:lstStyle/>
                    <a:p>
                      <a:pPr algn="ctr"/>
                      <a:r>
                        <a:rPr lang="en-US" sz="1100" b="1" dirty="0"/>
                        <a:t>THRIVES IN AN UPPER CLASS CONSCIUS ENVIRNMENT </a:t>
                      </a:r>
                    </a:p>
                  </a:txBody>
                  <a:tcPr anchor="ctr"/>
                </a:tc>
                <a:tc>
                  <a:txBody>
                    <a:bodyPr/>
                    <a:lstStyle/>
                    <a:p>
                      <a:pPr algn="ctr"/>
                      <a:r>
                        <a:rPr lang="en-US" sz="1100" b="1" dirty="0"/>
                        <a:t>SPECIAL TREATMENT </a:t>
                      </a:r>
                    </a:p>
                  </a:txBody>
                  <a:tcPr anchor="ctr"/>
                </a:tc>
                <a:tc vMerge="1">
                  <a:txBody>
                    <a:bodyPr/>
                    <a:lstStyle/>
                    <a:p>
                      <a:endParaRPr lang="en-US" dirty="0"/>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218776686"/>
                  </a:ext>
                </a:extLst>
              </a:tr>
              <a:tr h="370840">
                <a:tc>
                  <a:txBody>
                    <a:bodyPr/>
                    <a:lstStyle/>
                    <a:p>
                      <a:pPr algn="ctr"/>
                      <a:r>
                        <a:rPr lang="en-US" sz="1100" b="1" dirty="0"/>
                        <a:t>LUXURY GOODS OR SERVICES INDUSTRY EXPERIANCED</a:t>
                      </a:r>
                    </a:p>
                  </a:txBody>
                  <a:tcPr anchor="ctr"/>
                </a:tc>
                <a:tc>
                  <a:txBody>
                    <a:bodyPr/>
                    <a:lstStyle/>
                    <a:p>
                      <a:pPr algn="ctr"/>
                      <a:r>
                        <a:rPr lang="en-US" sz="1100" b="1" dirty="0"/>
                        <a:t>POPU;AR AND FLASHY</a:t>
                      </a:r>
                    </a:p>
                  </a:txBody>
                  <a:tcPr anchor="ctr"/>
                </a:tc>
                <a:tc vMerge="1">
                  <a:txBody>
                    <a:bodyPr/>
                    <a:lstStyle/>
                    <a:p>
                      <a:endParaRPr lang="en-US" dirty="0"/>
                    </a:p>
                  </a:txBody>
                  <a:tcPr/>
                </a:tc>
                <a:extLst>
                  <a:ext uri="{0D108BD9-81ED-4DB2-BD59-A6C34878D82A}">
                    <a16:rowId xmlns:a16="http://schemas.microsoft.com/office/drawing/2014/main" val="4207697039"/>
                  </a:ext>
                </a:extLst>
              </a:tr>
              <a:tr h="370840">
                <a:tc>
                  <a:txBody>
                    <a:bodyPr/>
                    <a:lstStyle/>
                    <a:p>
                      <a:pPr algn="ctr"/>
                      <a:r>
                        <a:rPr lang="en-US" sz="1100" b="1" dirty="0"/>
                        <a:t>IRRATIONAL MARKETING &amp; SALES EXPERIANCE</a:t>
                      </a:r>
                    </a:p>
                  </a:txBody>
                  <a:tcPr anchor="ctr"/>
                </a:tc>
                <a:tc>
                  <a:txBody>
                    <a:bodyPr/>
                    <a:lstStyle/>
                    <a:p>
                      <a:pPr algn="ctr"/>
                      <a:r>
                        <a:rPr lang="en-US" sz="1100" b="1" dirty="0"/>
                        <a:t>SMALL MARKETS, SMALL COMMUNITIES HIGH NET WORTH</a:t>
                      </a:r>
                    </a:p>
                  </a:txBody>
                  <a:tcPr anchor="ctr"/>
                </a:tc>
                <a:tc vMerge="1">
                  <a:txBody>
                    <a:bodyPr/>
                    <a:lstStyle/>
                    <a:p>
                      <a:endParaRPr lang="en-US" dirty="0"/>
                    </a:p>
                  </a:txBody>
                  <a:tcPr/>
                </a:tc>
                <a:extLst>
                  <a:ext uri="{0D108BD9-81ED-4DB2-BD59-A6C34878D82A}">
                    <a16:rowId xmlns:a16="http://schemas.microsoft.com/office/drawing/2014/main" val="729901320"/>
                  </a:ext>
                </a:extLst>
              </a:tr>
              <a:tr h="370840">
                <a:tc>
                  <a:txBody>
                    <a:bodyPr/>
                    <a:lstStyle/>
                    <a:p>
                      <a:pPr algn="ctr"/>
                      <a:r>
                        <a:rPr lang="en-US" sz="1100" b="1" dirty="0"/>
                        <a:t>FAMILIAR WITH THE UNIQUE DEMANDS OF HIGH-END CUSTOMERS</a:t>
                      </a:r>
                    </a:p>
                  </a:txBody>
                  <a:tcPr anchor="ctr"/>
                </a:tc>
                <a:tc>
                  <a:txBody>
                    <a:bodyPr/>
                    <a:lstStyle/>
                    <a:p>
                      <a:pPr algn="ctr"/>
                      <a:r>
                        <a:rPr lang="en-US" sz="1100" b="1" dirty="0"/>
                        <a:t>IS NOT COMFORTABLE FACING MASS MARKETS</a:t>
                      </a:r>
                    </a:p>
                  </a:txBody>
                  <a:tcPr anchor="ctr">
                    <a:solidFill>
                      <a:srgbClr val="FFC000"/>
                    </a:solidFill>
                  </a:tcPr>
                </a:tc>
                <a:tc vMerge="1">
                  <a:txBody>
                    <a:bodyPr/>
                    <a:lstStyle/>
                    <a:p>
                      <a:endParaRPr lang="en-US" dirty="0"/>
                    </a:p>
                  </a:txBody>
                  <a:tcPr/>
                </a:tc>
                <a:extLst>
                  <a:ext uri="{0D108BD9-81ED-4DB2-BD59-A6C34878D82A}">
                    <a16:rowId xmlns:a16="http://schemas.microsoft.com/office/drawing/2014/main" val="1042100184"/>
                  </a:ext>
                </a:extLst>
              </a:tr>
              <a:tr h="370840">
                <a:tc>
                  <a:txBody>
                    <a:bodyPr/>
                    <a:lstStyle/>
                    <a:p>
                      <a:pPr algn="ctr"/>
                      <a:r>
                        <a:rPr lang="en-US" sz="1100" b="1" dirty="0"/>
                        <a:t>TEAM PLAYER (MUST BE THE TOP TEAM THOUGH)</a:t>
                      </a:r>
                    </a:p>
                  </a:txBody>
                  <a:tcPr anchor="ctr"/>
                </a:tc>
                <a:tc>
                  <a:txBody>
                    <a:bodyPr/>
                    <a:lstStyle/>
                    <a:p>
                      <a:pPr algn="ctr"/>
                      <a:r>
                        <a:rPr lang="en-US" sz="1100" b="1" dirty="0"/>
                        <a:t>NOT COMFORTABLE WITH ADVERSITY OR FAILED PROJECTS (ANYTHING THAT MIGHT CAUSE A CLASS DOWNGRADE)</a:t>
                      </a:r>
                    </a:p>
                  </a:txBody>
                  <a:tcPr anchor="ctr">
                    <a:solidFill>
                      <a:srgbClr val="FFC000"/>
                    </a:solidFill>
                  </a:tcPr>
                </a:tc>
                <a:tc vMerge="1">
                  <a:txBody>
                    <a:bodyPr/>
                    <a:lstStyle/>
                    <a:p>
                      <a:endParaRPr lang="en-US" dirty="0"/>
                    </a:p>
                  </a:txBody>
                  <a:tcPr/>
                </a:tc>
                <a:extLst>
                  <a:ext uri="{0D108BD9-81ED-4DB2-BD59-A6C34878D82A}">
                    <a16:rowId xmlns:a16="http://schemas.microsoft.com/office/drawing/2014/main" val="983259082"/>
                  </a:ext>
                </a:extLst>
              </a:tr>
            </a:tbl>
          </a:graphicData>
        </a:graphic>
      </p:graphicFrame>
      <p:graphicFrame>
        <p:nvGraphicFramePr>
          <p:cNvPr id="29" name="Table 7">
            <a:extLst>
              <a:ext uri="{FF2B5EF4-FFF2-40B4-BE49-F238E27FC236}">
                <a16:creationId xmlns:a16="http://schemas.microsoft.com/office/drawing/2014/main" id="{971D5ECE-AF05-4488-8547-0DFBEB4C6A2D}"/>
              </a:ext>
            </a:extLst>
          </p:cNvPr>
          <p:cNvGraphicFramePr>
            <a:graphicFrameLocks noGrp="1"/>
          </p:cNvGraphicFramePr>
          <p:nvPr/>
        </p:nvGraphicFramePr>
        <p:xfrm>
          <a:off x="4865663" y="4894349"/>
          <a:ext cx="5926384" cy="944880"/>
        </p:xfrm>
        <a:graphic>
          <a:graphicData uri="http://schemas.openxmlformats.org/drawingml/2006/table">
            <a:tbl>
              <a:tblPr firstRow="1" bandRow="1">
                <a:tableStyleId>{5C22544A-7EE6-4342-B048-85BDC9FD1C3A}</a:tableStyleId>
              </a:tblPr>
              <a:tblGrid>
                <a:gridCol w="2963192">
                  <a:extLst>
                    <a:ext uri="{9D8B030D-6E8A-4147-A177-3AD203B41FA5}">
                      <a16:colId xmlns:a16="http://schemas.microsoft.com/office/drawing/2014/main" val="1028654853"/>
                    </a:ext>
                  </a:extLst>
                </a:gridCol>
                <a:gridCol w="2963192">
                  <a:extLst>
                    <a:ext uri="{9D8B030D-6E8A-4147-A177-3AD203B41FA5}">
                      <a16:colId xmlns:a16="http://schemas.microsoft.com/office/drawing/2014/main" val="2159636558"/>
                    </a:ext>
                  </a:extLst>
                </a:gridCol>
              </a:tblGrid>
              <a:tr h="370840">
                <a:tc>
                  <a:txBody>
                    <a:bodyPr/>
                    <a:lstStyle/>
                    <a:p>
                      <a:pPr algn="ctr"/>
                      <a:r>
                        <a:rPr lang="en-US" dirty="0">
                          <a:solidFill>
                            <a:srgbClr val="C00000"/>
                          </a:solidFill>
                        </a:rPr>
                        <a:t>INSIGHT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400" dirty="0">
                          <a:solidFill>
                            <a:srgbClr val="C00000"/>
                          </a:solidFill>
                        </a:rPr>
                        <a:t>MULTI INDUSTRY EXPERIENCE CREATES OPPORTUNITIES FOR INNOVATION. THEY MIGHT NOT REALIZE THIS THOUGH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823397659"/>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09820" y="1956478"/>
            <a:ext cx="8312727" cy="3740727"/>
          </a:xfrm>
          <a:prstGeom prst="rect">
            <a:avLst/>
          </a:prstGeom>
          <a:solidFill>
            <a:schemeClr val="bg1"/>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BUTTERFLY</a:t>
            </a:r>
          </a:p>
          <a:p>
            <a:pPr algn="ctr"/>
            <a:endParaRPr lang="en-GB" cap="small" dirty="0">
              <a:solidFill>
                <a:srgbClr val="FF0000"/>
              </a:solidFill>
            </a:endParaRPr>
          </a:p>
          <a:p>
            <a:pPr algn="ctr"/>
            <a:r>
              <a:rPr lang="en-US" cap="small" dirty="0">
                <a:solidFill>
                  <a:srgbClr val="FF0000"/>
                </a:solidFill>
              </a:rPr>
              <a:t>You are interested in Luxury and Exclusive Enterprises. You appreciate the finer things and understand that not everyone can get them. You are either planning to work in a Luxury/exclusive product/service Firm or already working in one. You are fascinated by class and privileged and how exclusivity is generated. You have a Royal Heart. </a:t>
            </a:r>
            <a:br>
              <a:rPr lang="en-US" cap="small" dirty="0">
                <a:solidFill>
                  <a:srgbClr val="FF0000"/>
                </a:solidFill>
              </a:rPr>
            </a:br>
            <a:endParaRPr lang="en-GB" cap="small" dirty="0">
              <a:solidFill>
                <a:srgbClr val="FF0000"/>
              </a:solidFill>
            </a:endParaRPr>
          </a:p>
        </p:txBody>
      </p:sp>
      <p:sp>
        <p:nvSpPr>
          <p:cNvPr id="6" name="Heart 5"/>
          <p:cNvSpPr/>
          <p:nvPr/>
        </p:nvSpPr>
        <p:spPr>
          <a:xfrm>
            <a:off x="8436942" y="4670536"/>
            <a:ext cx="914400" cy="914400"/>
          </a:xfrm>
          <a:prstGeom prst="heart">
            <a:avLst/>
          </a:prstGeom>
          <a:solidFill>
            <a:srgbClr val="7030A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 name="Picture 2"/>
          <p:cNvPicPr>
            <a:picLocks noChangeAspect="1" noChangeArrowheads="1"/>
          </p:cNvPicPr>
          <p:nvPr/>
        </p:nvPicPr>
        <p:blipFill>
          <a:blip r:embed="rId2" cstate="print"/>
          <a:srcRect/>
          <a:stretch>
            <a:fillRect/>
          </a:stretch>
        </p:blipFill>
        <p:spPr bwMode="auto">
          <a:xfrm>
            <a:off x="4247808" y="730398"/>
            <a:ext cx="2462302" cy="2074458"/>
          </a:xfrm>
          <a:prstGeom prst="rect">
            <a:avLst/>
          </a:prstGeom>
          <a:noFill/>
          <a:ln w="9525">
            <a:noFill/>
            <a:miter lim="800000"/>
            <a:headEnd/>
            <a:tailEnd/>
          </a:ln>
        </p:spPr>
      </p:pic>
    </p:spTree>
    <p:extLst>
      <p:ext uri="{BB962C8B-B14F-4D97-AF65-F5344CB8AC3E}">
        <p14:creationId xmlns:p14="http://schemas.microsoft.com/office/powerpoint/2010/main" val="37518316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Group 17"/>
          <p:cNvGrpSpPr/>
          <p:nvPr/>
        </p:nvGrpSpPr>
        <p:grpSpPr>
          <a:xfrm>
            <a:off x="1306286" y="769258"/>
            <a:ext cx="3207657" cy="5312228"/>
            <a:chOff x="1306286" y="769258"/>
            <a:chExt cx="3207657" cy="5312228"/>
          </a:xfrm>
        </p:grpSpPr>
        <p:grpSp>
          <p:nvGrpSpPr>
            <p:cNvPr id="4" name="Group 3"/>
            <p:cNvGrpSpPr/>
            <p:nvPr/>
          </p:nvGrpSpPr>
          <p:grpSpPr>
            <a:xfrm>
              <a:off x="1306286" y="769258"/>
              <a:ext cx="3207657" cy="5312228"/>
              <a:chOff x="1306286" y="769258"/>
              <a:chExt cx="3207657" cy="5312228"/>
            </a:xfrm>
          </p:grpSpPr>
          <p:sp>
            <p:nvSpPr>
              <p:cNvPr id="2" name="Rounded Rectangle 1"/>
              <p:cNvSpPr/>
              <p:nvPr/>
            </p:nvSpPr>
            <p:spPr>
              <a:xfrm>
                <a:off x="1306286" y="783771"/>
                <a:ext cx="3207657" cy="5297715"/>
              </a:xfrm>
              <a:prstGeom prst="roundRect">
                <a:avLst/>
              </a:prstGeom>
              <a:solidFill>
                <a:schemeClr val="bg1"/>
              </a:solidFill>
              <a:ln w="76200">
                <a:solidFill>
                  <a:schemeClr val="bg1">
                    <a:lumMod val="6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 Same Side Corner Rectangle 2"/>
              <p:cNvSpPr/>
              <p:nvPr/>
            </p:nvSpPr>
            <p:spPr>
              <a:xfrm>
                <a:off x="1306286" y="769258"/>
                <a:ext cx="3207657" cy="1146626"/>
              </a:xfrm>
              <a:prstGeom prst="round2SameRect">
                <a:avLst/>
              </a:prstGeom>
              <a:solidFill>
                <a:schemeClr val="tx1"/>
              </a:solidFill>
              <a:ln w="762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latin typeface="AR BONNIE" pitchFamily="2" charset="0"/>
                  </a:rPr>
                  <a:t>THE BUMBLE BEE</a:t>
                </a:r>
              </a:p>
            </p:txBody>
          </p:sp>
        </p:grpSp>
        <p:sp>
          <p:nvSpPr>
            <p:cNvPr id="12" name="TextBox 11"/>
            <p:cNvSpPr txBox="1"/>
            <p:nvPr/>
          </p:nvSpPr>
          <p:spPr>
            <a:xfrm>
              <a:off x="1677057" y="2003201"/>
              <a:ext cx="2380593" cy="430887"/>
            </a:xfrm>
            <a:prstGeom prst="rect">
              <a:avLst/>
            </a:prstGeom>
            <a:noFill/>
          </p:spPr>
          <p:txBody>
            <a:bodyPr wrap="square" rtlCol="0">
              <a:spAutoFit/>
            </a:bodyPr>
            <a:lstStyle/>
            <a:p>
              <a:pPr algn="ctr"/>
              <a:r>
                <a:rPr lang="en-US" sz="1100" b="1" dirty="0"/>
                <a:t>I AM A GIVER AND A PROPAGATOR OF SOCIAL GOOD!</a:t>
              </a:r>
            </a:p>
          </p:txBody>
        </p:sp>
        <p:sp>
          <p:nvSpPr>
            <p:cNvPr id="13" name="TextBox 12"/>
            <p:cNvSpPr txBox="1"/>
            <p:nvPr/>
          </p:nvSpPr>
          <p:spPr>
            <a:xfrm>
              <a:off x="2431781" y="2675595"/>
              <a:ext cx="851338" cy="400110"/>
            </a:xfrm>
            <a:prstGeom prst="rect">
              <a:avLst/>
            </a:prstGeom>
            <a:noFill/>
          </p:spPr>
          <p:txBody>
            <a:bodyPr wrap="square" rtlCol="0">
              <a:spAutoFit/>
            </a:bodyPr>
            <a:lstStyle/>
            <a:p>
              <a:pPr algn="ctr"/>
              <a:r>
                <a:rPr lang="en-US" sz="2000" b="1" dirty="0"/>
                <a:t>+10</a:t>
              </a:r>
            </a:p>
          </p:txBody>
        </p:sp>
        <p:pic>
          <p:nvPicPr>
            <p:cNvPr id="16" name="Picture 2"/>
            <p:cNvPicPr>
              <a:picLocks noChangeAspect="1" noChangeArrowheads="1"/>
            </p:cNvPicPr>
            <p:nvPr/>
          </p:nvPicPr>
          <p:blipFill>
            <a:blip r:embed="rId2" cstate="print"/>
            <a:srcRect/>
            <a:stretch>
              <a:fillRect/>
            </a:stretch>
          </p:blipFill>
          <p:spPr bwMode="auto">
            <a:xfrm>
              <a:off x="1677348" y="3216956"/>
              <a:ext cx="2463378" cy="1993749"/>
            </a:xfrm>
            <a:prstGeom prst="rect">
              <a:avLst/>
            </a:prstGeom>
            <a:noFill/>
            <a:ln w="9525">
              <a:noFill/>
              <a:miter lim="800000"/>
              <a:headEnd/>
              <a:tailEnd/>
            </a:ln>
          </p:spPr>
        </p:pic>
      </p:grpSp>
      <p:grpSp>
        <p:nvGrpSpPr>
          <p:cNvPr id="19" name="Group 18">
            <a:extLst>
              <a:ext uri="{FF2B5EF4-FFF2-40B4-BE49-F238E27FC236}">
                <a16:creationId xmlns:a16="http://schemas.microsoft.com/office/drawing/2014/main" id="{AD7103B8-D35E-4FBE-884E-48EF333EA1ED}"/>
              </a:ext>
            </a:extLst>
          </p:cNvPr>
          <p:cNvGrpSpPr/>
          <p:nvPr/>
        </p:nvGrpSpPr>
        <p:grpSpPr>
          <a:xfrm>
            <a:off x="1648184" y="5465640"/>
            <a:ext cx="2458179" cy="433348"/>
            <a:chOff x="1520043" y="5508172"/>
            <a:chExt cx="2458179" cy="433348"/>
          </a:xfrm>
        </p:grpSpPr>
        <p:grpSp>
          <p:nvGrpSpPr>
            <p:cNvPr id="20" name="Group 33">
              <a:extLst>
                <a:ext uri="{FF2B5EF4-FFF2-40B4-BE49-F238E27FC236}">
                  <a16:creationId xmlns:a16="http://schemas.microsoft.com/office/drawing/2014/main" id="{3D5C2F4C-650C-4FAB-A9DC-7CAC01AB4ADE}"/>
                </a:ext>
              </a:extLst>
            </p:cNvPr>
            <p:cNvGrpSpPr/>
            <p:nvPr/>
          </p:nvGrpSpPr>
          <p:grpSpPr>
            <a:xfrm>
              <a:off x="2719424" y="5508172"/>
              <a:ext cx="1258798" cy="433348"/>
              <a:chOff x="2280049" y="5508172"/>
              <a:chExt cx="1258798" cy="433348"/>
            </a:xfrm>
          </p:grpSpPr>
          <p:sp>
            <p:nvSpPr>
              <p:cNvPr id="22" name="Oval 21">
                <a:extLst>
                  <a:ext uri="{FF2B5EF4-FFF2-40B4-BE49-F238E27FC236}">
                    <a16:creationId xmlns:a16="http://schemas.microsoft.com/office/drawing/2014/main" id="{06A4D28F-0618-4F95-AE2A-0FD3B9FD2756}"/>
                  </a:ext>
                </a:extLst>
              </p:cNvPr>
              <p:cNvSpPr/>
              <p:nvPr/>
            </p:nvSpPr>
            <p:spPr>
              <a:xfrm>
                <a:off x="2280049" y="5605153"/>
                <a:ext cx="285008" cy="308759"/>
              </a:xfrm>
              <a:prstGeom prst="ellipse">
                <a:avLst/>
              </a:prstGeom>
              <a:solidFill>
                <a:schemeClr val="tx1"/>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A73D2E2F-15BD-4031-BB91-9C40121F08E0}"/>
                  </a:ext>
                </a:extLst>
              </p:cNvPr>
              <p:cNvSpPr/>
              <p:nvPr/>
            </p:nvSpPr>
            <p:spPr>
              <a:xfrm>
                <a:off x="2432447" y="5508172"/>
                <a:ext cx="285008" cy="308759"/>
              </a:xfrm>
              <a:prstGeom prst="ellipse">
                <a:avLst/>
              </a:prstGeom>
              <a:solidFill>
                <a:srgbClr val="7030A0"/>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5F3C2D2E-069E-4492-89B4-252B1E210AC8}"/>
                  </a:ext>
                </a:extLst>
              </p:cNvPr>
              <p:cNvSpPr/>
              <p:nvPr/>
            </p:nvSpPr>
            <p:spPr>
              <a:xfrm>
                <a:off x="2549225" y="5601194"/>
                <a:ext cx="285008" cy="308759"/>
              </a:xfrm>
              <a:prstGeom prst="ellipse">
                <a:avLst/>
              </a:prstGeom>
              <a:solidFill>
                <a:schemeClr val="tx1"/>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Equal 43">
                <a:extLst>
                  <a:ext uri="{FF2B5EF4-FFF2-40B4-BE49-F238E27FC236}">
                    <a16:creationId xmlns:a16="http://schemas.microsoft.com/office/drawing/2014/main" id="{F3E78D45-7125-4D73-96FF-8F7F994FDB24}"/>
                  </a:ext>
                </a:extLst>
              </p:cNvPr>
              <p:cNvSpPr/>
              <p:nvPr/>
            </p:nvSpPr>
            <p:spPr>
              <a:xfrm>
                <a:off x="2838190" y="5640777"/>
                <a:ext cx="320636" cy="237507"/>
              </a:xfrm>
              <a:prstGeom prst="mathEqual">
                <a:avLst/>
              </a:prstGeom>
              <a:solidFill>
                <a:schemeClr val="tx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6" name="TextBox 25">
                <a:extLst>
                  <a:ext uri="{FF2B5EF4-FFF2-40B4-BE49-F238E27FC236}">
                    <a16:creationId xmlns:a16="http://schemas.microsoft.com/office/drawing/2014/main" id="{F5F215AF-F494-4171-82A4-49DD10ACC6F1}"/>
                  </a:ext>
                </a:extLst>
              </p:cNvPr>
              <p:cNvSpPr txBox="1"/>
              <p:nvPr/>
            </p:nvSpPr>
            <p:spPr>
              <a:xfrm>
                <a:off x="3075710" y="5572188"/>
                <a:ext cx="463137" cy="369332"/>
              </a:xfrm>
              <a:prstGeom prst="rect">
                <a:avLst/>
              </a:prstGeom>
              <a:noFill/>
            </p:spPr>
            <p:txBody>
              <a:bodyPr wrap="square" rtlCol="0">
                <a:spAutoFit/>
              </a:bodyPr>
              <a:lstStyle/>
              <a:p>
                <a:r>
                  <a:rPr lang="en-US" b="1" dirty="0"/>
                  <a:t>x3 </a:t>
                </a:r>
              </a:p>
            </p:txBody>
          </p:sp>
        </p:grpSp>
        <p:sp>
          <p:nvSpPr>
            <p:cNvPr id="21" name="TextBox 20">
              <a:extLst>
                <a:ext uri="{FF2B5EF4-FFF2-40B4-BE49-F238E27FC236}">
                  <a16:creationId xmlns:a16="http://schemas.microsoft.com/office/drawing/2014/main" id="{FF99A39C-1C54-42B7-A90B-A9DB41956AB0}"/>
                </a:ext>
              </a:extLst>
            </p:cNvPr>
            <p:cNvSpPr txBox="1"/>
            <p:nvPr/>
          </p:nvSpPr>
          <p:spPr>
            <a:xfrm>
              <a:off x="1520043" y="5627683"/>
              <a:ext cx="1389409" cy="246221"/>
            </a:xfrm>
            <a:prstGeom prst="rect">
              <a:avLst/>
            </a:prstGeom>
            <a:noFill/>
          </p:spPr>
          <p:txBody>
            <a:bodyPr wrap="square" rtlCol="0">
              <a:spAutoFit/>
            </a:bodyPr>
            <a:lstStyle/>
            <a:p>
              <a:r>
                <a:rPr lang="en-US" sz="1000" b="1" dirty="0"/>
                <a:t>TO OPTIMIZE CARD :  </a:t>
              </a:r>
            </a:p>
          </p:txBody>
        </p:sp>
      </p:grpSp>
      <p:graphicFrame>
        <p:nvGraphicFramePr>
          <p:cNvPr id="27" name="Table 6">
            <a:extLst>
              <a:ext uri="{FF2B5EF4-FFF2-40B4-BE49-F238E27FC236}">
                <a16:creationId xmlns:a16="http://schemas.microsoft.com/office/drawing/2014/main" id="{F1E9DC29-C68F-4FC1-A903-5FB1CA92B1CC}"/>
              </a:ext>
            </a:extLst>
          </p:cNvPr>
          <p:cNvGraphicFramePr>
            <a:graphicFrameLocks noGrp="1"/>
          </p:cNvGraphicFramePr>
          <p:nvPr/>
        </p:nvGraphicFramePr>
        <p:xfrm>
          <a:off x="4865663" y="730311"/>
          <a:ext cx="5926383" cy="3479800"/>
        </p:xfrm>
        <a:graphic>
          <a:graphicData uri="http://schemas.openxmlformats.org/drawingml/2006/table">
            <a:tbl>
              <a:tblPr firstRow="1" bandRow="1">
                <a:tableStyleId>{5940675A-B579-460E-94D1-54222C63F5DA}</a:tableStyleId>
              </a:tblPr>
              <a:tblGrid>
                <a:gridCol w="1975461">
                  <a:extLst>
                    <a:ext uri="{9D8B030D-6E8A-4147-A177-3AD203B41FA5}">
                      <a16:colId xmlns:a16="http://schemas.microsoft.com/office/drawing/2014/main" val="1547217571"/>
                    </a:ext>
                  </a:extLst>
                </a:gridCol>
                <a:gridCol w="1975461">
                  <a:extLst>
                    <a:ext uri="{9D8B030D-6E8A-4147-A177-3AD203B41FA5}">
                      <a16:colId xmlns:a16="http://schemas.microsoft.com/office/drawing/2014/main" val="2833921746"/>
                    </a:ext>
                  </a:extLst>
                </a:gridCol>
                <a:gridCol w="1975461">
                  <a:extLst>
                    <a:ext uri="{9D8B030D-6E8A-4147-A177-3AD203B41FA5}">
                      <a16:colId xmlns:a16="http://schemas.microsoft.com/office/drawing/2014/main" val="53535338"/>
                    </a:ext>
                  </a:extLst>
                </a:gridCol>
              </a:tblGrid>
              <a:tr h="370840">
                <a:tc>
                  <a:txBody>
                    <a:bodyPr/>
                    <a:lstStyle/>
                    <a:p>
                      <a:pPr algn="ctr"/>
                      <a:r>
                        <a:rPr lang="en-US" b="1" dirty="0"/>
                        <a:t>CORPORATE PERSONA</a:t>
                      </a:r>
                    </a:p>
                  </a:txBody>
                  <a:tcPr anchor="ctr">
                    <a:solidFill>
                      <a:schemeClr val="accent1">
                        <a:lumMod val="60000"/>
                        <a:lumOff val="40000"/>
                      </a:schemeClr>
                    </a:solidFill>
                  </a:tcPr>
                </a:tc>
                <a:tc>
                  <a:txBody>
                    <a:bodyPr/>
                    <a:lstStyle/>
                    <a:p>
                      <a:pPr algn="ctr"/>
                      <a:r>
                        <a:rPr lang="en-US" b="1" dirty="0"/>
                        <a:t>MIND SET </a:t>
                      </a:r>
                    </a:p>
                  </a:txBody>
                  <a:tcPr anchor="ctr">
                    <a:solidFill>
                      <a:schemeClr val="accent1">
                        <a:lumMod val="60000"/>
                        <a:lumOff val="40000"/>
                      </a:schemeClr>
                    </a:solidFill>
                  </a:tcPr>
                </a:tc>
                <a:tc>
                  <a:txBody>
                    <a:bodyPr/>
                    <a:lstStyle/>
                    <a:p>
                      <a:pPr algn="ctr"/>
                      <a:r>
                        <a:rPr lang="en-US" b="1" dirty="0"/>
                        <a:t>BOX ANALYSIS</a:t>
                      </a:r>
                    </a:p>
                  </a:txBody>
                  <a:tcPr anchor="ctr">
                    <a:solidFill>
                      <a:schemeClr val="accent1">
                        <a:lumMod val="60000"/>
                        <a:lumOff val="40000"/>
                      </a:schemeClr>
                    </a:solidFill>
                  </a:tcPr>
                </a:tc>
                <a:extLst>
                  <a:ext uri="{0D108BD9-81ED-4DB2-BD59-A6C34878D82A}">
                    <a16:rowId xmlns:a16="http://schemas.microsoft.com/office/drawing/2014/main" val="2819750649"/>
                  </a:ext>
                </a:extLst>
              </a:tr>
              <a:tr h="370840">
                <a:tc>
                  <a:txBody>
                    <a:bodyPr/>
                    <a:lstStyle/>
                    <a:p>
                      <a:pPr algn="ctr"/>
                      <a:r>
                        <a:rPr lang="en-US" sz="1100" b="1" dirty="0"/>
                        <a:t>NOT FOR PROFIT / GOVERNMENTAL </a:t>
                      </a:r>
                    </a:p>
                  </a:txBody>
                  <a:tcPr anchor="ctr"/>
                </a:tc>
                <a:tc>
                  <a:txBody>
                    <a:bodyPr/>
                    <a:lstStyle/>
                    <a:p>
                      <a:pPr algn="ctr"/>
                      <a:r>
                        <a:rPr lang="en-US" sz="1100" b="1" dirty="0"/>
                        <a:t>A GIVER </a:t>
                      </a:r>
                    </a:p>
                  </a:txBody>
                  <a:tcPr anchor="ctr"/>
                </a:tc>
                <a:tc rowSpan="6">
                  <a:txBody>
                    <a:bodyPr/>
                    <a:lstStyle/>
                    <a:p>
                      <a:pPr algn="ctr"/>
                      <a:endParaRPr lang="en-US" sz="1100" b="1" dirty="0"/>
                    </a:p>
                    <a:p>
                      <a:pPr algn="ctr"/>
                      <a:r>
                        <a:rPr lang="en-US" sz="1100" b="1" dirty="0"/>
                        <a:t>LIKES PORPOSEFUL BOXES</a:t>
                      </a:r>
                    </a:p>
                    <a:p>
                      <a:pPr algn="ctr"/>
                      <a:endParaRPr lang="en-US" sz="1100" b="1" dirty="0"/>
                    </a:p>
                    <a:p>
                      <a:pPr algn="ctr"/>
                      <a:r>
                        <a:rPr lang="en-US" sz="1100" b="1" dirty="0"/>
                        <a:t>LIKES TO BUILD BOXES</a:t>
                      </a:r>
                    </a:p>
                    <a:p>
                      <a:pPr algn="ctr"/>
                      <a:endParaRPr lang="en-US" sz="1100" b="1" dirty="0"/>
                    </a:p>
                    <a:p>
                      <a:pPr algn="ctr"/>
                      <a:r>
                        <a:rPr lang="en-US" sz="1100" b="1" dirty="0"/>
                        <a:t>NOT COMFORTABLE IN LARGE BOXES </a:t>
                      </a:r>
                    </a:p>
                    <a:p>
                      <a:pPr algn="ctr"/>
                      <a:endParaRPr lang="en-US" sz="1100" b="1" dirty="0"/>
                    </a:p>
                  </a:txBody>
                  <a:tcPr anchor="ctr"/>
                </a:tc>
                <a:extLst>
                  <a:ext uri="{0D108BD9-81ED-4DB2-BD59-A6C34878D82A}">
                    <a16:rowId xmlns:a16="http://schemas.microsoft.com/office/drawing/2014/main" val="2987475413"/>
                  </a:ext>
                </a:extLst>
              </a:tr>
              <a:tr h="370840">
                <a:tc>
                  <a:txBody>
                    <a:bodyPr/>
                    <a:lstStyle/>
                    <a:p>
                      <a:pPr algn="ctr"/>
                      <a:r>
                        <a:rPr lang="en-US" sz="1100" b="1" dirty="0"/>
                        <a:t>THRIVES IN AN IMPACT DRIVEN ENVIRONMENT</a:t>
                      </a:r>
                    </a:p>
                  </a:txBody>
                  <a:tcPr anchor="ctr"/>
                </a:tc>
                <a:tc>
                  <a:txBody>
                    <a:bodyPr/>
                    <a:lstStyle/>
                    <a:p>
                      <a:pPr algn="ctr"/>
                      <a:r>
                        <a:rPr lang="en-US" sz="1100" b="1" dirty="0"/>
                        <a:t>WANTS TO THE SOCIETY</a:t>
                      </a:r>
                    </a:p>
                  </a:txBody>
                  <a:tcPr anchor="ctr"/>
                </a:tc>
                <a:tc vMerge="1">
                  <a:txBody>
                    <a:bodyPr/>
                    <a:lstStyle/>
                    <a:p>
                      <a:endParaRPr lang="en-US" dirty="0"/>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218776686"/>
                  </a:ext>
                </a:extLst>
              </a:tr>
              <a:tr h="370840">
                <a:tc>
                  <a:txBody>
                    <a:bodyPr/>
                    <a:lstStyle/>
                    <a:p>
                      <a:pPr algn="ctr"/>
                      <a:r>
                        <a:rPr lang="en-US" sz="1100" b="1" dirty="0"/>
                        <a:t>PRODUCTS AND OR GOODS THAT ARE INTANGIBLE</a:t>
                      </a:r>
                    </a:p>
                  </a:txBody>
                  <a:tcPr anchor="ctr"/>
                </a:tc>
                <a:tc>
                  <a:txBody>
                    <a:bodyPr/>
                    <a:lstStyle/>
                    <a:p>
                      <a:pPr algn="ctr"/>
                      <a:r>
                        <a:rPr lang="en-US" sz="1100" b="1" dirty="0"/>
                        <a:t>OPINIONATED </a:t>
                      </a:r>
                    </a:p>
                  </a:txBody>
                  <a:tcPr anchor="ctr"/>
                </a:tc>
                <a:tc vMerge="1">
                  <a:txBody>
                    <a:bodyPr/>
                    <a:lstStyle/>
                    <a:p>
                      <a:endParaRPr lang="en-US" dirty="0"/>
                    </a:p>
                  </a:txBody>
                  <a:tcPr/>
                </a:tc>
                <a:extLst>
                  <a:ext uri="{0D108BD9-81ED-4DB2-BD59-A6C34878D82A}">
                    <a16:rowId xmlns:a16="http://schemas.microsoft.com/office/drawing/2014/main" val="4207697039"/>
                  </a:ext>
                </a:extLst>
              </a:tr>
              <a:tr h="370840">
                <a:tc>
                  <a:txBody>
                    <a:bodyPr/>
                    <a:lstStyle/>
                    <a:p>
                      <a:pPr algn="ctr"/>
                      <a:r>
                        <a:rPr lang="en-US" sz="1100" b="1" dirty="0"/>
                        <a:t>PURPOSE DRIVEN OUTCOMES </a:t>
                      </a:r>
                    </a:p>
                  </a:txBody>
                  <a:tcPr anchor="ctr"/>
                </a:tc>
                <a:tc>
                  <a:txBody>
                    <a:bodyPr/>
                    <a:lstStyle/>
                    <a:p>
                      <a:pPr algn="ctr"/>
                      <a:r>
                        <a:rPr lang="en-US" sz="1100" b="1" dirty="0"/>
                        <a:t>EVANGELIST ON A MISSION</a:t>
                      </a:r>
                    </a:p>
                  </a:txBody>
                  <a:tcPr anchor="ctr"/>
                </a:tc>
                <a:tc vMerge="1">
                  <a:txBody>
                    <a:bodyPr/>
                    <a:lstStyle/>
                    <a:p>
                      <a:endParaRPr lang="en-US" dirty="0"/>
                    </a:p>
                  </a:txBody>
                  <a:tcPr/>
                </a:tc>
                <a:extLst>
                  <a:ext uri="{0D108BD9-81ED-4DB2-BD59-A6C34878D82A}">
                    <a16:rowId xmlns:a16="http://schemas.microsoft.com/office/drawing/2014/main" val="729901320"/>
                  </a:ext>
                </a:extLst>
              </a:tr>
              <a:tr h="370840">
                <a:tc>
                  <a:txBody>
                    <a:bodyPr/>
                    <a:lstStyle/>
                    <a:p>
                      <a:pPr algn="ctr"/>
                      <a:r>
                        <a:rPr lang="en-US" sz="1100" b="1" dirty="0"/>
                        <a:t>PEOPLE CENTRIC PROGRAMS</a:t>
                      </a:r>
                    </a:p>
                  </a:txBody>
                  <a:tcPr anchor="ctr"/>
                </a:tc>
                <a:tc>
                  <a:txBody>
                    <a:bodyPr/>
                    <a:lstStyle/>
                    <a:p>
                      <a:pPr algn="ctr"/>
                      <a:r>
                        <a:rPr lang="en-US" sz="1100" b="1" dirty="0"/>
                        <a:t>MAY NOT BE COMFORTABLE WITH PURELY PROFIT-MAKING OBJECTIVES</a:t>
                      </a:r>
                    </a:p>
                  </a:txBody>
                  <a:tcPr anchor="ctr">
                    <a:solidFill>
                      <a:srgbClr val="FFC000"/>
                    </a:solidFill>
                  </a:tcPr>
                </a:tc>
                <a:tc vMerge="1">
                  <a:txBody>
                    <a:bodyPr/>
                    <a:lstStyle/>
                    <a:p>
                      <a:endParaRPr lang="en-US" dirty="0"/>
                    </a:p>
                  </a:txBody>
                  <a:tcPr/>
                </a:tc>
                <a:extLst>
                  <a:ext uri="{0D108BD9-81ED-4DB2-BD59-A6C34878D82A}">
                    <a16:rowId xmlns:a16="http://schemas.microsoft.com/office/drawing/2014/main" val="1042100184"/>
                  </a:ext>
                </a:extLst>
              </a:tr>
              <a:tr h="370840">
                <a:tc>
                  <a:txBody>
                    <a:bodyPr/>
                    <a:lstStyle/>
                    <a:p>
                      <a:pPr algn="ctr"/>
                      <a:r>
                        <a:rPr lang="en-US" sz="1100" b="1" dirty="0"/>
                        <a:t>TEAM PLAYER (IF THE TEAM ACTS LIKE A FAMILY)</a:t>
                      </a:r>
                    </a:p>
                  </a:txBody>
                  <a:tcPr anchor="ctr"/>
                </a:tc>
                <a:tc>
                  <a:txBody>
                    <a:bodyPr/>
                    <a:lstStyle/>
                    <a:p>
                      <a:pPr algn="ctr"/>
                      <a:r>
                        <a:rPr lang="en-US" sz="1100" b="1" dirty="0"/>
                        <a:t>NOT COMFORTABLE WITH BACK-END WORK, WANTS TO BE IN THE FRONT LINES </a:t>
                      </a:r>
                    </a:p>
                  </a:txBody>
                  <a:tcPr anchor="ctr">
                    <a:solidFill>
                      <a:srgbClr val="FFC000"/>
                    </a:solidFill>
                  </a:tcPr>
                </a:tc>
                <a:tc vMerge="1">
                  <a:txBody>
                    <a:bodyPr/>
                    <a:lstStyle/>
                    <a:p>
                      <a:endParaRPr lang="en-US" dirty="0"/>
                    </a:p>
                  </a:txBody>
                  <a:tcPr/>
                </a:tc>
                <a:extLst>
                  <a:ext uri="{0D108BD9-81ED-4DB2-BD59-A6C34878D82A}">
                    <a16:rowId xmlns:a16="http://schemas.microsoft.com/office/drawing/2014/main" val="983259082"/>
                  </a:ext>
                </a:extLst>
              </a:tr>
            </a:tbl>
          </a:graphicData>
        </a:graphic>
      </p:graphicFrame>
      <p:graphicFrame>
        <p:nvGraphicFramePr>
          <p:cNvPr id="29" name="Table 7">
            <a:extLst>
              <a:ext uri="{FF2B5EF4-FFF2-40B4-BE49-F238E27FC236}">
                <a16:creationId xmlns:a16="http://schemas.microsoft.com/office/drawing/2014/main" id="{DEA1E9AA-4059-42FC-A98E-D8377B739A12}"/>
              </a:ext>
            </a:extLst>
          </p:cNvPr>
          <p:cNvGraphicFramePr>
            <a:graphicFrameLocks noGrp="1"/>
          </p:cNvGraphicFramePr>
          <p:nvPr/>
        </p:nvGraphicFramePr>
        <p:xfrm>
          <a:off x="4865663" y="4713591"/>
          <a:ext cx="5926384" cy="944880"/>
        </p:xfrm>
        <a:graphic>
          <a:graphicData uri="http://schemas.openxmlformats.org/drawingml/2006/table">
            <a:tbl>
              <a:tblPr firstRow="1" bandRow="1">
                <a:tableStyleId>{5C22544A-7EE6-4342-B048-85BDC9FD1C3A}</a:tableStyleId>
              </a:tblPr>
              <a:tblGrid>
                <a:gridCol w="2963192">
                  <a:extLst>
                    <a:ext uri="{9D8B030D-6E8A-4147-A177-3AD203B41FA5}">
                      <a16:colId xmlns:a16="http://schemas.microsoft.com/office/drawing/2014/main" val="1028654853"/>
                    </a:ext>
                  </a:extLst>
                </a:gridCol>
                <a:gridCol w="2963192">
                  <a:extLst>
                    <a:ext uri="{9D8B030D-6E8A-4147-A177-3AD203B41FA5}">
                      <a16:colId xmlns:a16="http://schemas.microsoft.com/office/drawing/2014/main" val="2159636558"/>
                    </a:ext>
                  </a:extLst>
                </a:gridCol>
              </a:tblGrid>
              <a:tr h="370840">
                <a:tc>
                  <a:txBody>
                    <a:bodyPr/>
                    <a:lstStyle/>
                    <a:p>
                      <a:pPr algn="ctr"/>
                      <a:r>
                        <a:rPr lang="en-US" dirty="0">
                          <a:solidFill>
                            <a:srgbClr val="C00000"/>
                          </a:solidFill>
                        </a:rPr>
                        <a:t>INSIGHT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400" dirty="0">
                          <a:solidFill>
                            <a:srgbClr val="C00000"/>
                          </a:solidFill>
                        </a:rPr>
                        <a:t>MULTI INDUSTRY EXPERIENCE CREATES OPPORTUNITIES FOR INNOVATION. THEY MIGHT NOT REALIZE THIS THOUGH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823397659"/>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09820" y="1956478"/>
            <a:ext cx="8312727" cy="3740727"/>
          </a:xfrm>
          <a:prstGeom prst="rect">
            <a:avLst/>
          </a:prstGeom>
          <a:solidFill>
            <a:schemeClr val="bg1"/>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cap="small" dirty="0">
                <a:solidFill>
                  <a:srgbClr val="FF0000"/>
                </a:solidFill>
              </a:rPr>
              <a:t>BUMBLE BEE</a:t>
            </a:r>
          </a:p>
          <a:p>
            <a:pPr algn="ctr"/>
            <a:endParaRPr lang="en-GB" cap="small" dirty="0">
              <a:solidFill>
                <a:srgbClr val="FF0000"/>
              </a:solidFill>
            </a:endParaRPr>
          </a:p>
          <a:p>
            <a:pPr algn="ctr"/>
            <a:r>
              <a:rPr lang="en-US" cap="small" dirty="0">
                <a:solidFill>
                  <a:srgbClr val="FF0000"/>
                </a:solidFill>
              </a:rPr>
              <a:t>You are interested in Benevolent Enterprises. You are willing to give and share to help the less privileged and you hold yourself up to a high standard of ethical and moral values. You are either planning to work in an NGO or Social Enterprise or are already working in one. You may be also Planning to integrate a give back Campaign for your Enterprise or have already done so. You have a Crusaders Heart. </a:t>
            </a:r>
            <a:br>
              <a:rPr lang="en-US" cap="small" dirty="0">
                <a:solidFill>
                  <a:srgbClr val="FF0000"/>
                </a:solidFill>
              </a:rPr>
            </a:br>
            <a:endParaRPr lang="en-GB" cap="small" dirty="0">
              <a:solidFill>
                <a:srgbClr val="FF0000"/>
              </a:solidFill>
            </a:endParaRPr>
          </a:p>
        </p:txBody>
      </p:sp>
      <p:sp>
        <p:nvSpPr>
          <p:cNvPr id="6" name="Heart 5"/>
          <p:cNvSpPr/>
          <p:nvPr/>
        </p:nvSpPr>
        <p:spPr>
          <a:xfrm>
            <a:off x="8436942" y="4670536"/>
            <a:ext cx="914400" cy="914400"/>
          </a:xfrm>
          <a:prstGeom prst="hear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 name="Picture 2"/>
          <p:cNvPicPr>
            <a:picLocks noChangeAspect="1" noChangeArrowheads="1"/>
          </p:cNvPicPr>
          <p:nvPr/>
        </p:nvPicPr>
        <p:blipFill>
          <a:blip r:embed="rId2" cstate="print"/>
          <a:srcRect/>
          <a:stretch>
            <a:fillRect/>
          </a:stretch>
        </p:blipFill>
        <p:spPr bwMode="auto">
          <a:xfrm>
            <a:off x="4268353" y="661720"/>
            <a:ext cx="2463378" cy="1993749"/>
          </a:xfrm>
          <a:prstGeom prst="rect">
            <a:avLst/>
          </a:prstGeom>
          <a:noFill/>
          <a:ln w="9525">
            <a:noFill/>
            <a:miter lim="800000"/>
            <a:headEnd/>
            <a:tailEnd/>
          </a:ln>
        </p:spPr>
      </p:pic>
    </p:spTree>
    <p:extLst>
      <p:ext uri="{BB962C8B-B14F-4D97-AF65-F5344CB8AC3E}">
        <p14:creationId xmlns:p14="http://schemas.microsoft.com/office/powerpoint/2010/main" val="8366610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Group 17"/>
          <p:cNvGrpSpPr/>
          <p:nvPr/>
        </p:nvGrpSpPr>
        <p:grpSpPr>
          <a:xfrm>
            <a:off x="1306286" y="769258"/>
            <a:ext cx="3207657" cy="5312228"/>
            <a:chOff x="1306286" y="769258"/>
            <a:chExt cx="3207657" cy="5312228"/>
          </a:xfrm>
        </p:grpSpPr>
        <p:grpSp>
          <p:nvGrpSpPr>
            <p:cNvPr id="4" name="Group 3"/>
            <p:cNvGrpSpPr/>
            <p:nvPr/>
          </p:nvGrpSpPr>
          <p:grpSpPr>
            <a:xfrm>
              <a:off x="1306286" y="769258"/>
              <a:ext cx="3207657" cy="5312228"/>
              <a:chOff x="1306286" y="769258"/>
              <a:chExt cx="3207657" cy="5312228"/>
            </a:xfrm>
          </p:grpSpPr>
          <p:sp>
            <p:nvSpPr>
              <p:cNvPr id="2" name="Rounded Rectangle 1"/>
              <p:cNvSpPr/>
              <p:nvPr/>
            </p:nvSpPr>
            <p:spPr>
              <a:xfrm>
                <a:off x="1306286" y="783771"/>
                <a:ext cx="3207657" cy="5297715"/>
              </a:xfrm>
              <a:prstGeom prst="roundRect">
                <a:avLst/>
              </a:prstGeom>
              <a:solidFill>
                <a:schemeClr val="bg1"/>
              </a:solidFill>
              <a:ln w="76200">
                <a:solidFill>
                  <a:schemeClr val="bg1">
                    <a:lumMod val="6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 Same Side Corner Rectangle 2"/>
              <p:cNvSpPr/>
              <p:nvPr/>
            </p:nvSpPr>
            <p:spPr>
              <a:xfrm>
                <a:off x="1306286" y="769258"/>
                <a:ext cx="3207657" cy="1146626"/>
              </a:xfrm>
              <a:prstGeom prst="round2SameRect">
                <a:avLst/>
              </a:prstGeom>
              <a:solidFill>
                <a:schemeClr val="tx1"/>
              </a:solidFill>
              <a:ln w="762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latin typeface="AR BONNIE" pitchFamily="2" charset="0"/>
                  </a:rPr>
                  <a:t>THE CHEETAH</a:t>
                </a:r>
              </a:p>
            </p:txBody>
          </p:sp>
        </p:grpSp>
        <p:sp>
          <p:nvSpPr>
            <p:cNvPr id="12" name="TextBox 11"/>
            <p:cNvSpPr txBox="1"/>
            <p:nvPr/>
          </p:nvSpPr>
          <p:spPr>
            <a:xfrm>
              <a:off x="1665967" y="2016564"/>
              <a:ext cx="2380593" cy="600164"/>
            </a:xfrm>
            <a:prstGeom prst="rect">
              <a:avLst/>
            </a:prstGeom>
            <a:noFill/>
          </p:spPr>
          <p:txBody>
            <a:bodyPr wrap="square" rtlCol="0">
              <a:spAutoFit/>
            </a:bodyPr>
            <a:lstStyle/>
            <a:p>
              <a:pPr algn="ctr"/>
              <a:r>
                <a:rPr lang="en-US" sz="1100" b="1" dirty="0"/>
                <a:t>I AM SWIFT, FLEXIBLE AND SMART, I HUNT LARGE ANIMALS. KNOWLEDGE IS MY PRODUCT.</a:t>
              </a:r>
            </a:p>
          </p:txBody>
        </p:sp>
        <p:sp>
          <p:nvSpPr>
            <p:cNvPr id="13" name="TextBox 12"/>
            <p:cNvSpPr txBox="1"/>
            <p:nvPr/>
          </p:nvSpPr>
          <p:spPr>
            <a:xfrm>
              <a:off x="2443656" y="2846370"/>
              <a:ext cx="851338" cy="400110"/>
            </a:xfrm>
            <a:prstGeom prst="rect">
              <a:avLst/>
            </a:prstGeom>
            <a:noFill/>
          </p:spPr>
          <p:txBody>
            <a:bodyPr wrap="square" rtlCol="0">
              <a:spAutoFit/>
            </a:bodyPr>
            <a:lstStyle/>
            <a:p>
              <a:pPr algn="ctr"/>
              <a:r>
                <a:rPr lang="en-US" sz="2000" b="1" dirty="0"/>
                <a:t>+10</a:t>
              </a:r>
            </a:p>
          </p:txBody>
        </p:sp>
        <p:pic>
          <p:nvPicPr>
            <p:cNvPr id="4098" name="Picture 2"/>
            <p:cNvPicPr>
              <a:picLocks noChangeAspect="1" noChangeArrowheads="1"/>
            </p:cNvPicPr>
            <p:nvPr/>
          </p:nvPicPr>
          <p:blipFill>
            <a:blip r:embed="rId2" cstate="print"/>
            <a:srcRect/>
            <a:stretch>
              <a:fillRect/>
            </a:stretch>
          </p:blipFill>
          <p:spPr bwMode="auto">
            <a:xfrm>
              <a:off x="1514904" y="3579979"/>
              <a:ext cx="2688609" cy="1402988"/>
            </a:xfrm>
            <a:prstGeom prst="rect">
              <a:avLst/>
            </a:prstGeom>
            <a:noFill/>
            <a:ln w="9525">
              <a:noFill/>
              <a:miter lim="800000"/>
              <a:headEnd/>
              <a:tailEnd/>
            </a:ln>
          </p:spPr>
        </p:pic>
      </p:grpSp>
      <p:grpSp>
        <p:nvGrpSpPr>
          <p:cNvPr id="19" name="Group 18">
            <a:extLst>
              <a:ext uri="{FF2B5EF4-FFF2-40B4-BE49-F238E27FC236}">
                <a16:creationId xmlns:a16="http://schemas.microsoft.com/office/drawing/2014/main" id="{C36EC72B-37A8-4FAD-8EC6-54961604D6B0}"/>
              </a:ext>
            </a:extLst>
          </p:cNvPr>
          <p:cNvGrpSpPr/>
          <p:nvPr/>
        </p:nvGrpSpPr>
        <p:grpSpPr>
          <a:xfrm>
            <a:off x="1626918" y="5465640"/>
            <a:ext cx="2458179" cy="433348"/>
            <a:chOff x="1520043" y="5508172"/>
            <a:chExt cx="2458179" cy="433348"/>
          </a:xfrm>
        </p:grpSpPr>
        <p:grpSp>
          <p:nvGrpSpPr>
            <p:cNvPr id="20" name="Group 33">
              <a:extLst>
                <a:ext uri="{FF2B5EF4-FFF2-40B4-BE49-F238E27FC236}">
                  <a16:creationId xmlns:a16="http://schemas.microsoft.com/office/drawing/2014/main" id="{182377F1-84BC-4A9E-B4A2-BA60D9A66524}"/>
                </a:ext>
              </a:extLst>
            </p:cNvPr>
            <p:cNvGrpSpPr/>
            <p:nvPr/>
          </p:nvGrpSpPr>
          <p:grpSpPr>
            <a:xfrm>
              <a:off x="2719424" y="5508172"/>
              <a:ext cx="1258798" cy="433348"/>
              <a:chOff x="2280049" y="5508172"/>
              <a:chExt cx="1258798" cy="433348"/>
            </a:xfrm>
          </p:grpSpPr>
          <p:sp>
            <p:nvSpPr>
              <p:cNvPr id="22" name="Oval 21">
                <a:extLst>
                  <a:ext uri="{FF2B5EF4-FFF2-40B4-BE49-F238E27FC236}">
                    <a16:creationId xmlns:a16="http://schemas.microsoft.com/office/drawing/2014/main" id="{40C6284C-7C63-4865-B4E0-451CF9470494}"/>
                  </a:ext>
                </a:extLst>
              </p:cNvPr>
              <p:cNvSpPr/>
              <p:nvPr/>
            </p:nvSpPr>
            <p:spPr>
              <a:xfrm>
                <a:off x="2280049" y="5605153"/>
                <a:ext cx="285008" cy="308759"/>
              </a:xfrm>
              <a:prstGeom prst="ellipse">
                <a:avLst/>
              </a:prstGeom>
              <a:solidFill>
                <a:schemeClr val="tx1"/>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C32DCA99-BDF1-49EE-A873-B4707976059D}"/>
                  </a:ext>
                </a:extLst>
              </p:cNvPr>
              <p:cNvSpPr/>
              <p:nvPr/>
            </p:nvSpPr>
            <p:spPr>
              <a:xfrm>
                <a:off x="2432447" y="5508172"/>
                <a:ext cx="285008" cy="308759"/>
              </a:xfrm>
              <a:prstGeom prst="ellipse">
                <a:avLst/>
              </a:prstGeom>
              <a:solidFill>
                <a:srgbClr val="7030A0"/>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3CAB78AA-41A0-4968-BE82-952C16DA6908}"/>
                  </a:ext>
                </a:extLst>
              </p:cNvPr>
              <p:cNvSpPr/>
              <p:nvPr/>
            </p:nvSpPr>
            <p:spPr>
              <a:xfrm>
                <a:off x="2549225" y="5601194"/>
                <a:ext cx="285008" cy="308759"/>
              </a:xfrm>
              <a:prstGeom prst="ellipse">
                <a:avLst/>
              </a:prstGeom>
              <a:solidFill>
                <a:schemeClr val="tx1"/>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Equal 43">
                <a:extLst>
                  <a:ext uri="{FF2B5EF4-FFF2-40B4-BE49-F238E27FC236}">
                    <a16:creationId xmlns:a16="http://schemas.microsoft.com/office/drawing/2014/main" id="{67011F79-7FEB-48E2-8FE6-B489E9C0A942}"/>
                  </a:ext>
                </a:extLst>
              </p:cNvPr>
              <p:cNvSpPr/>
              <p:nvPr/>
            </p:nvSpPr>
            <p:spPr>
              <a:xfrm>
                <a:off x="2838190" y="5640777"/>
                <a:ext cx="320636" cy="237507"/>
              </a:xfrm>
              <a:prstGeom prst="mathEqual">
                <a:avLst/>
              </a:prstGeom>
              <a:solidFill>
                <a:schemeClr val="tx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6" name="TextBox 25">
                <a:extLst>
                  <a:ext uri="{FF2B5EF4-FFF2-40B4-BE49-F238E27FC236}">
                    <a16:creationId xmlns:a16="http://schemas.microsoft.com/office/drawing/2014/main" id="{8FA7BE58-E8A9-4757-85B2-0456DF7403DF}"/>
                  </a:ext>
                </a:extLst>
              </p:cNvPr>
              <p:cNvSpPr txBox="1"/>
              <p:nvPr/>
            </p:nvSpPr>
            <p:spPr>
              <a:xfrm>
                <a:off x="3075710" y="5572188"/>
                <a:ext cx="463137" cy="369332"/>
              </a:xfrm>
              <a:prstGeom prst="rect">
                <a:avLst/>
              </a:prstGeom>
              <a:noFill/>
            </p:spPr>
            <p:txBody>
              <a:bodyPr wrap="square" rtlCol="0">
                <a:spAutoFit/>
              </a:bodyPr>
              <a:lstStyle/>
              <a:p>
                <a:r>
                  <a:rPr lang="en-US" b="1" dirty="0"/>
                  <a:t>x3 </a:t>
                </a:r>
              </a:p>
            </p:txBody>
          </p:sp>
        </p:grpSp>
        <p:sp>
          <p:nvSpPr>
            <p:cNvPr id="21" name="TextBox 20">
              <a:extLst>
                <a:ext uri="{FF2B5EF4-FFF2-40B4-BE49-F238E27FC236}">
                  <a16:creationId xmlns:a16="http://schemas.microsoft.com/office/drawing/2014/main" id="{B893AF80-CE14-4F22-90A3-E09DB279E3AD}"/>
                </a:ext>
              </a:extLst>
            </p:cNvPr>
            <p:cNvSpPr txBox="1"/>
            <p:nvPr/>
          </p:nvSpPr>
          <p:spPr>
            <a:xfrm>
              <a:off x="1520043" y="5627683"/>
              <a:ext cx="1389409" cy="246221"/>
            </a:xfrm>
            <a:prstGeom prst="rect">
              <a:avLst/>
            </a:prstGeom>
            <a:noFill/>
          </p:spPr>
          <p:txBody>
            <a:bodyPr wrap="square" rtlCol="0">
              <a:spAutoFit/>
            </a:bodyPr>
            <a:lstStyle/>
            <a:p>
              <a:r>
                <a:rPr lang="en-US" sz="1000" b="1" dirty="0"/>
                <a:t>TO OPTIMIZE CARD :  </a:t>
              </a:r>
            </a:p>
          </p:txBody>
        </p:sp>
      </p:grpSp>
      <p:graphicFrame>
        <p:nvGraphicFramePr>
          <p:cNvPr id="27" name="Table 6">
            <a:extLst>
              <a:ext uri="{FF2B5EF4-FFF2-40B4-BE49-F238E27FC236}">
                <a16:creationId xmlns:a16="http://schemas.microsoft.com/office/drawing/2014/main" id="{31E1A0B8-B440-41B6-8077-3366EDE8BCE4}"/>
              </a:ext>
            </a:extLst>
          </p:cNvPr>
          <p:cNvGraphicFramePr>
            <a:graphicFrameLocks noGrp="1"/>
          </p:cNvGraphicFramePr>
          <p:nvPr/>
        </p:nvGraphicFramePr>
        <p:xfrm>
          <a:off x="4865663" y="730311"/>
          <a:ext cx="5926383" cy="3256280"/>
        </p:xfrm>
        <a:graphic>
          <a:graphicData uri="http://schemas.openxmlformats.org/drawingml/2006/table">
            <a:tbl>
              <a:tblPr firstRow="1" bandRow="1">
                <a:tableStyleId>{5940675A-B579-460E-94D1-54222C63F5DA}</a:tableStyleId>
              </a:tblPr>
              <a:tblGrid>
                <a:gridCol w="1975461">
                  <a:extLst>
                    <a:ext uri="{9D8B030D-6E8A-4147-A177-3AD203B41FA5}">
                      <a16:colId xmlns:a16="http://schemas.microsoft.com/office/drawing/2014/main" val="1547217571"/>
                    </a:ext>
                  </a:extLst>
                </a:gridCol>
                <a:gridCol w="1975461">
                  <a:extLst>
                    <a:ext uri="{9D8B030D-6E8A-4147-A177-3AD203B41FA5}">
                      <a16:colId xmlns:a16="http://schemas.microsoft.com/office/drawing/2014/main" val="2833921746"/>
                    </a:ext>
                  </a:extLst>
                </a:gridCol>
                <a:gridCol w="1975461">
                  <a:extLst>
                    <a:ext uri="{9D8B030D-6E8A-4147-A177-3AD203B41FA5}">
                      <a16:colId xmlns:a16="http://schemas.microsoft.com/office/drawing/2014/main" val="53535338"/>
                    </a:ext>
                  </a:extLst>
                </a:gridCol>
              </a:tblGrid>
              <a:tr h="370840">
                <a:tc>
                  <a:txBody>
                    <a:bodyPr/>
                    <a:lstStyle/>
                    <a:p>
                      <a:pPr algn="ctr"/>
                      <a:r>
                        <a:rPr lang="en-US" b="1" dirty="0"/>
                        <a:t>CORPORATE PERSONA</a:t>
                      </a:r>
                    </a:p>
                  </a:txBody>
                  <a:tcPr anchor="ctr">
                    <a:solidFill>
                      <a:schemeClr val="accent1">
                        <a:lumMod val="60000"/>
                        <a:lumOff val="40000"/>
                      </a:schemeClr>
                    </a:solidFill>
                  </a:tcPr>
                </a:tc>
                <a:tc>
                  <a:txBody>
                    <a:bodyPr/>
                    <a:lstStyle/>
                    <a:p>
                      <a:pPr algn="ctr"/>
                      <a:r>
                        <a:rPr lang="en-US" b="1" dirty="0"/>
                        <a:t>MIND SET </a:t>
                      </a:r>
                    </a:p>
                  </a:txBody>
                  <a:tcPr anchor="ctr">
                    <a:solidFill>
                      <a:schemeClr val="accent1">
                        <a:lumMod val="60000"/>
                        <a:lumOff val="40000"/>
                      </a:schemeClr>
                    </a:solidFill>
                  </a:tcPr>
                </a:tc>
                <a:tc>
                  <a:txBody>
                    <a:bodyPr/>
                    <a:lstStyle/>
                    <a:p>
                      <a:pPr algn="ctr"/>
                      <a:r>
                        <a:rPr lang="en-US" b="1" dirty="0"/>
                        <a:t>BOX ANALYSIS</a:t>
                      </a:r>
                    </a:p>
                  </a:txBody>
                  <a:tcPr anchor="ctr">
                    <a:solidFill>
                      <a:schemeClr val="accent1">
                        <a:lumMod val="60000"/>
                        <a:lumOff val="40000"/>
                      </a:schemeClr>
                    </a:solidFill>
                  </a:tcPr>
                </a:tc>
                <a:extLst>
                  <a:ext uri="{0D108BD9-81ED-4DB2-BD59-A6C34878D82A}">
                    <a16:rowId xmlns:a16="http://schemas.microsoft.com/office/drawing/2014/main" val="2819750649"/>
                  </a:ext>
                </a:extLst>
              </a:tr>
              <a:tr h="370840">
                <a:tc>
                  <a:txBody>
                    <a:bodyPr/>
                    <a:lstStyle/>
                    <a:p>
                      <a:pPr algn="ctr"/>
                      <a:r>
                        <a:rPr lang="en-US" sz="1100" b="1" dirty="0"/>
                        <a:t>PROFESSIONAL ENVIRONMENT</a:t>
                      </a:r>
                    </a:p>
                  </a:txBody>
                  <a:tcPr anchor="ctr"/>
                </a:tc>
                <a:tc>
                  <a:txBody>
                    <a:bodyPr/>
                    <a:lstStyle/>
                    <a:p>
                      <a:pPr algn="ctr"/>
                      <a:r>
                        <a:rPr lang="en-US" sz="1100" b="1" dirty="0"/>
                        <a:t>A PHILOSOPHER</a:t>
                      </a:r>
                    </a:p>
                  </a:txBody>
                  <a:tcPr anchor="ctr"/>
                </a:tc>
                <a:tc rowSpan="6">
                  <a:txBody>
                    <a:bodyPr/>
                    <a:lstStyle/>
                    <a:p>
                      <a:pPr algn="ctr"/>
                      <a:endParaRPr lang="en-US" sz="1100" b="1" dirty="0"/>
                    </a:p>
                    <a:p>
                      <a:pPr algn="ctr"/>
                      <a:r>
                        <a:rPr lang="en-US" sz="1100" b="1" dirty="0"/>
                        <a:t>LIKES THINKING OUTSIDE THE BOX</a:t>
                      </a:r>
                    </a:p>
                    <a:p>
                      <a:pPr algn="ctr"/>
                      <a:endParaRPr lang="en-US" sz="1100" b="1" dirty="0"/>
                    </a:p>
                    <a:p>
                      <a:pPr algn="ctr"/>
                      <a:r>
                        <a:rPr lang="en-US" sz="1100" b="1" dirty="0"/>
                        <a:t>DOES NOT LIKE CLOSED BOXES</a:t>
                      </a:r>
                    </a:p>
                    <a:p>
                      <a:pPr algn="ctr"/>
                      <a:endParaRPr lang="en-US" sz="1100" b="1" dirty="0"/>
                    </a:p>
                    <a:p>
                      <a:pPr algn="ctr"/>
                      <a:r>
                        <a:rPr lang="en-US" sz="1100" b="1" dirty="0"/>
                        <a:t>LIKES BUILDING NEW BOXES</a:t>
                      </a:r>
                    </a:p>
                    <a:p>
                      <a:pPr algn="ctr"/>
                      <a:endParaRPr lang="en-US" sz="1100" b="1" dirty="0"/>
                    </a:p>
                    <a:p>
                      <a:pPr algn="ctr"/>
                      <a:r>
                        <a:rPr lang="en-US" sz="1100" b="1" dirty="0"/>
                        <a:t>HAS A LOT OF UN-COMPLETED BOXES LYING AROUND</a:t>
                      </a:r>
                    </a:p>
                    <a:p>
                      <a:pPr algn="ctr"/>
                      <a:endParaRPr lang="en-US" sz="1100" b="1" dirty="0"/>
                    </a:p>
                    <a:p>
                      <a:pPr algn="ctr"/>
                      <a:endParaRPr lang="en-US" sz="1100" b="1" dirty="0"/>
                    </a:p>
                    <a:p>
                      <a:pPr algn="ctr"/>
                      <a:endParaRPr lang="en-US" sz="1100" b="1" dirty="0"/>
                    </a:p>
                  </a:txBody>
                  <a:tcPr anchor="ctr"/>
                </a:tc>
                <a:extLst>
                  <a:ext uri="{0D108BD9-81ED-4DB2-BD59-A6C34878D82A}">
                    <a16:rowId xmlns:a16="http://schemas.microsoft.com/office/drawing/2014/main" val="2987475413"/>
                  </a:ext>
                </a:extLst>
              </a:tr>
              <a:tr h="370840">
                <a:tc>
                  <a:txBody>
                    <a:bodyPr/>
                    <a:lstStyle/>
                    <a:p>
                      <a:pPr algn="ctr"/>
                      <a:r>
                        <a:rPr lang="en-US" sz="1100" b="1" dirty="0"/>
                        <a:t>THRIVES IN ORGANIZED FAST PACED ENVIRONMENTS </a:t>
                      </a:r>
                    </a:p>
                  </a:txBody>
                  <a:tcPr anchor="ctr"/>
                </a:tc>
                <a:tc>
                  <a:txBody>
                    <a:bodyPr/>
                    <a:lstStyle/>
                    <a:p>
                      <a:pPr algn="ctr"/>
                      <a:r>
                        <a:rPr lang="en-US" sz="1100" b="1" dirty="0"/>
                        <a:t>A TEACHER </a:t>
                      </a:r>
                    </a:p>
                  </a:txBody>
                  <a:tcPr anchor="ctr"/>
                </a:tc>
                <a:tc vMerge="1">
                  <a:txBody>
                    <a:bodyPr/>
                    <a:lstStyle/>
                    <a:p>
                      <a:endParaRPr lang="en-US" dirty="0"/>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218776686"/>
                  </a:ext>
                </a:extLst>
              </a:tr>
              <a:tr h="370840">
                <a:tc>
                  <a:txBody>
                    <a:bodyPr/>
                    <a:lstStyle/>
                    <a:p>
                      <a:pPr algn="ctr"/>
                      <a:r>
                        <a:rPr lang="en-US" sz="1100" b="1" dirty="0"/>
                        <a:t>PROCESS DRIVEN OUTCOMES</a:t>
                      </a:r>
                    </a:p>
                  </a:txBody>
                  <a:tcPr anchor="ctr"/>
                </a:tc>
                <a:tc>
                  <a:txBody>
                    <a:bodyPr/>
                    <a:lstStyle/>
                    <a:p>
                      <a:pPr algn="ctr"/>
                      <a:r>
                        <a:rPr lang="en-US" sz="1100" b="1" dirty="0"/>
                        <a:t>THEORY DRIVEN</a:t>
                      </a:r>
                    </a:p>
                  </a:txBody>
                  <a:tcPr anchor="ctr"/>
                </a:tc>
                <a:tc vMerge="1">
                  <a:txBody>
                    <a:bodyPr/>
                    <a:lstStyle/>
                    <a:p>
                      <a:endParaRPr lang="en-US" dirty="0"/>
                    </a:p>
                  </a:txBody>
                  <a:tcPr/>
                </a:tc>
                <a:extLst>
                  <a:ext uri="{0D108BD9-81ED-4DB2-BD59-A6C34878D82A}">
                    <a16:rowId xmlns:a16="http://schemas.microsoft.com/office/drawing/2014/main" val="4207697039"/>
                  </a:ext>
                </a:extLst>
              </a:tr>
              <a:tr h="370840">
                <a:tc>
                  <a:txBody>
                    <a:bodyPr/>
                    <a:lstStyle/>
                    <a:p>
                      <a:pPr algn="ctr"/>
                      <a:r>
                        <a:rPr lang="en-US" sz="1100" b="1" dirty="0"/>
                        <a:t>HIGH MOTIVATION DRIVEN </a:t>
                      </a:r>
                    </a:p>
                  </a:txBody>
                  <a:tcPr anchor="ctr"/>
                </a:tc>
                <a:tc>
                  <a:txBody>
                    <a:bodyPr/>
                    <a:lstStyle/>
                    <a:p>
                      <a:pPr algn="ctr"/>
                      <a:r>
                        <a:rPr lang="en-US" sz="1100" b="1" dirty="0"/>
                        <a:t>TINKERER</a:t>
                      </a:r>
                    </a:p>
                  </a:txBody>
                  <a:tcPr anchor="ctr"/>
                </a:tc>
                <a:tc vMerge="1">
                  <a:txBody>
                    <a:bodyPr/>
                    <a:lstStyle/>
                    <a:p>
                      <a:endParaRPr lang="en-US" dirty="0"/>
                    </a:p>
                  </a:txBody>
                  <a:tcPr/>
                </a:tc>
                <a:extLst>
                  <a:ext uri="{0D108BD9-81ED-4DB2-BD59-A6C34878D82A}">
                    <a16:rowId xmlns:a16="http://schemas.microsoft.com/office/drawing/2014/main" val="729901320"/>
                  </a:ext>
                </a:extLst>
              </a:tr>
              <a:tr h="370840">
                <a:tc>
                  <a:txBody>
                    <a:bodyPr/>
                    <a:lstStyle/>
                    <a:p>
                      <a:pPr algn="ctr"/>
                      <a:r>
                        <a:rPr lang="en-US" sz="1100" b="1" dirty="0"/>
                        <a:t>KNOWLEDGE DRIVEN</a:t>
                      </a:r>
                    </a:p>
                  </a:txBody>
                  <a:tcPr anchor="ctr"/>
                </a:tc>
                <a:tc>
                  <a:txBody>
                    <a:bodyPr/>
                    <a:lstStyle/>
                    <a:p>
                      <a:pPr algn="ctr"/>
                      <a:r>
                        <a:rPr lang="en-US" sz="1100" b="1" dirty="0"/>
                        <a:t>MUST ALWAYS BE INNOVATING NOT STRONG ON IMPLEMENTATION</a:t>
                      </a:r>
                    </a:p>
                  </a:txBody>
                  <a:tcPr anchor="ctr">
                    <a:solidFill>
                      <a:srgbClr val="FFC000"/>
                    </a:solidFill>
                  </a:tcPr>
                </a:tc>
                <a:tc vMerge="1">
                  <a:txBody>
                    <a:bodyPr/>
                    <a:lstStyle/>
                    <a:p>
                      <a:endParaRPr lang="en-US" dirty="0"/>
                    </a:p>
                  </a:txBody>
                  <a:tcPr/>
                </a:tc>
                <a:extLst>
                  <a:ext uri="{0D108BD9-81ED-4DB2-BD59-A6C34878D82A}">
                    <a16:rowId xmlns:a16="http://schemas.microsoft.com/office/drawing/2014/main" val="1042100184"/>
                  </a:ext>
                </a:extLst>
              </a:tr>
              <a:tr h="370840">
                <a:tc>
                  <a:txBody>
                    <a:bodyPr/>
                    <a:lstStyle/>
                    <a:p>
                      <a:pPr algn="ctr"/>
                      <a:r>
                        <a:rPr lang="en-US" sz="1100" b="1" dirty="0"/>
                        <a:t>TEAM PLAYER (COMPARATIVE SKILL SETS)</a:t>
                      </a:r>
                    </a:p>
                  </a:txBody>
                  <a:tcPr anchor="ctr"/>
                </a:tc>
                <a:tc>
                  <a:txBody>
                    <a:bodyPr/>
                    <a:lstStyle/>
                    <a:p>
                      <a:pPr algn="ctr"/>
                      <a:r>
                        <a:rPr lang="en-US" sz="1100" b="1" dirty="0"/>
                        <a:t>GETS EASILY BORED WITH BACK-END PROCESSES</a:t>
                      </a:r>
                    </a:p>
                  </a:txBody>
                  <a:tcPr anchor="ctr">
                    <a:solidFill>
                      <a:srgbClr val="FFC000"/>
                    </a:solidFill>
                  </a:tcPr>
                </a:tc>
                <a:tc vMerge="1">
                  <a:txBody>
                    <a:bodyPr/>
                    <a:lstStyle/>
                    <a:p>
                      <a:endParaRPr lang="en-US" dirty="0"/>
                    </a:p>
                  </a:txBody>
                  <a:tcPr/>
                </a:tc>
                <a:extLst>
                  <a:ext uri="{0D108BD9-81ED-4DB2-BD59-A6C34878D82A}">
                    <a16:rowId xmlns:a16="http://schemas.microsoft.com/office/drawing/2014/main" val="983259082"/>
                  </a:ext>
                </a:extLst>
              </a:tr>
            </a:tbl>
          </a:graphicData>
        </a:graphic>
      </p:graphicFrame>
      <p:graphicFrame>
        <p:nvGraphicFramePr>
          <p:cNvPr id="29" name="Table 7">
            <a:extLst>
              <a:ext uri="{FF2B5EF4-FFF2-40B4-BE49-F238E27FC236}">
                <a16:creationId xmlns:a16="http://schemas.microsoft.com/office/drawing/2014/main" id="{ACA1BE1A-DD27-43C2-8A6A-0382CC5D60FA}"/>
              </a:ext>
            </a:extLst>
          </p:cNvPr>
          <p:cNvGraphicFramePr>
            <a:graphicFrameLocks noGrp="1"/>
          </p:cNvGraphicFramePr>
          <p:nvPr/>
        </p:nvGraphicFramePr>
        <p:xfrm>
          <a:off x="4865663" y="4713591"/>
          <a:ext cx="5926384" cy="944880"/>
        </p:xfrm>
        <a:graphic>
          <a:graphicData uri="http://schemas.openxmlformats.org/drawingml/2006/table">
            <a:tbl>
              <a:tblPr firstRow="1" bandRow="1">
                <a:tableStyleId>{5C22544A-7EE6-4342-B048-85BDC9FD1C3A}</a:tableStyleId>
              </a:tblPr>
              <a:tblGrid>
                <a:gridCol w="2963192">
                  <a:extLst>
                    <a:ext uri="{9D8B030D-6E8A-4147-A177-3AD203B41FA5}">
                      <a16:colId xmlns:a16="http://schemas.microsoft.com/office/drawing/2014/main" val="1028654853"/>
                    </a:ext>
                  </a:extLst>
                </a:gridCol>
                <a:gridCol w="2963192">
                  <a:extLst>
                    <a:ext uri="{9D8B030D-6E8A-4147-A177-3AD203B41FA5}">
                      <a16:colId xmlns:a16="http://schemas.microsoft.com/office/drawing/2014/main" val="2159636558"/>
                    </a:ext>
                  </a:extLst>
                </a:gridCol>
              </a:tblGrid>
              <a:tr h="370840">
                <a:tc>
                  <a:txBody>
                    <a:bodyPr/>
                    <a:lstStyle/>
                    <a:p>
                      <a:pPr algn="ctr"/>
                      <a:r>
                        <a:rPr lang="en-US" dirty="0">
                          <a:solidFill>
                            <a:srgbClr val="C00000"/>
                          </a:solidFill>
                        </a:rPr>
                        <a:t>INSIGHT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400" dirty="0">
                          <a:solidFill>
                            <a:srgbClr val="C00000"/>
                          </a:solidFill>
                        </a:rPr>
                        <a:t>MULTI INDUSTRY EXPERIENCE CREATES OPPORTUNITIES FOR INNOVATION. THEY MIGHT NOT REALIZE THIS THOUGH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823397659"/>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09820" y="1956478"/>
            <a:ext cx="8312727" cy="3740727"/>
          </a:xfrm>
          <a:prstGeom prst="rect">
            <a:avLst/>
          </a:prstGeom>
          <a:solidFill>
            <a:schemeClr val="bg1"/>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cap="small" dirty="0">
                <a:solidFill>
                  <a:srgbClr val="FF0000"/>
                </a:solidFill>
              </a:rPr>
              <a:t>CHEETAH</a:t>
            </a:r>
          </a:p>
          <a:p>
            <a:pPr algn="ctr"/>
            <a:endParaRPr lang="en-GB" cap="small" dirty="0">
              <a:solidFill>
                <a:srgbClr val="FF0000"/>
              </a:solidFill>
            </a:endParaRPr>
          </a:p>
          <a:p>
            <a:pPr algn="ctr"/>
            <a:r>
              <a:rPr lang="en-US" cap="small" dirty="0">
                <a:solidFill>
                  <a:srgbClr val="FF0000"/>
                </a:solidFill>
              </a:rPr>
              <a:t>You are interested in Knowledge Enterprises, and you see yourself as a maverick with ideas that will change the world. You are either planning to work in a Knowledge Firm or You are already working in one. An unconventional thinker and like puzzles and intelligent discourse. You do not suffer fools gladly. You have a Teachers heart.</a:t>
            </a:r>
            <a:br>
              <a:rPr lang="en-US" cap="small" dirty="0">
                <a:solidFill>
                  <a:srgbClr val="FF0000"/>
                </a:solidFill>
              </a:rPr>
            </a:br>
            <a:endParaRPr lang="en-GB" cap="small" dirty="0">
              <a:solidFill>
                <a:srgbClr val="FF0000"/>
              </a:solidFill>
            </a:endParaRPr>
          </a:p>
        </p:txBody>
      </p:sp>
      <p:sp>
        <p:nvSpPr>
          <p:cNvPr id="6" name="Heart 5"/>
          <p:cNvSpPr/>
          <p:nvPr/>
        </p:nvSpPr>
        <p:spPr>
          <a:xfrm>
            <a:off x="8436942" y="4670536"/>
            <a:ext cx="914400" cy="914400"/>
          </a:xfrm>
          <a:prstGeom prst="hear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 name="Picture 2"/>
          <p:cNvPicPr>
            <a:picLocks noChangeAspect="1" noChangeArrowheads="1"/>
          </p:cNvPicPr>
          <p:nvPr/>
        </p:nvPicPr>
        <p:blipFill>
          <a:blip r:embed="rId2" cstate="print"/>
          <a:srcRect/>
          <a:stretch>
            <a:fillRect/>
          </a:stretch>
        </p:blipFill>
        <p:spPr bwMode="auto">
          <a:xfrm>
            <a:off x="4195039" y="1302513"/>
            <a:ext cx="2688609" cy="1402988"/>
          </a:xfrm>
          <a:prstGeom prst="rect">
            <a:avLst/>
          </a:prstGeom>
          <a:noFill/>
          <a:ln w="9525">
            <a:noFill/>
            <a:miter lim="800000"/>
            <a:headEnd/>
            <a:tailEnd/>
          </a:ln>
        </p:spPr>
      </p:pic>
    </p:spTree>
    <p:extLst>
      <p:ext uri="{BB962C8B-B14F-4D97-AF65-F5344CB8AC3E}">
        <p14:creationId xmlns:p14="http://schemas.microsoft.com/office/powerpoint/2010/main" val="39894166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Group 17"/>
          <p:cNvGrpSpPr/>
          <p:nvPr/>
        </p:nvGrpSpPr>
        <p:grpSpPr>
          <a:xfrm>
            <a:off x="1306286" y="769258"/>
            <a:ext cx="3207657" cy="5312228"/>
            <a:chOff x="1306286" y="769258"/>
            <a:chExt cx="3207657" cy="5312228"/>
          </a:xfrm>
        </p:grpSpPr>
        <p:grpSp>
          <p:nvGrpSpPr>
            <p:cNvPr id="4" name="Group 3"/>
            <p:cNvGrpSpPr/>
            <p:nvPr/>
          </p:nvGrpSpPr>
          <p:grpSpPr>
            <a:xfrm>
              <a:off x="1306286" y="769258"/>
              <a:ext cx="3207657" cy="5312228"/>
              <a:chOff x="1306286" y="769258"/>
              <a:chExt cx="3207657" cy="5312228"/>
            </a:xfrm>
          </p:grpSpPr>
          <p:sp>
            <p:nvSpPr>
              <p:cNvPr id="2" name="Rounded Rectangle 1"/>
              <p:cNvSpPr/>
              <p:nvPr/>
            </p:nvSpPr>
            <p:spPr>
              <a:xfrm>
                <a:off x="1306286" y="783771"/>
                <a:ext cx="3207657" cy="5297715"/>
              </a:xfrm>
              <a:prstGeom prst="roundRect">
                <a:avLst/>
              </a:prstGeom>
              <a:solidFill>
                <a:schemeClr val="bg1"/>
              </a:solidFill>
              <a:ln w="76200">
                <a:solidFill>
                  <a:schemeClr val="bg1">
                    <a:lumMod val="6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 Same Side Corner Rectangle 2"/>
              <p:cNvSpPr/>
              <p:nvPr/>
            </p:nvSpPr>
            <p:spPr>
              <a:xfrm>
                <a:off x="1306286" y="769258"/>
                <a:ext cx="3207657" cy="1146626"/>
              </a:xfrm>
              <a:prstGeom prst="round2SameRect">
                <a:avLst/>
              </a:prstGeom>
              <a:solidFill>
                <a:schemeClr val="tx1"/>
              </a:solidFill>
              <a:ln w="762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latin typeface="AR BONNIE" pitchFamily="2" charset="0"/>
                  </a:rPr>
                  <a:t>THE ELEPHANT</a:t>
                </a:r>
              </a:p>
            </p:txBody>
          </p:sp>
        </p:grpSp>
        <p:sp>
          <p:nvSpPr>
            <p:cNvPr id="12" name="TextBox 11"/>
            <p:cNvSpPr txBox="1"/>
            <p:nvPr/>
          </p:nvSpPr>
          <p:spPr>
            <a:xfrm>
              <a:off x="1679614" y="1961973"/>
              <a:ext cx="2380593" cy="600164"/>
            </a:xfrm>
            <a:prstGeom prst="rect">
              <a:avLst/>
            </a:prstGeom>
            <a:noFill/>
          </p:spPr>
          <p:txBody>
            <a:bodyPr wrap="square" rtlCol="0">
              <a:spAutoFit/>
            </a:bodyPr>
            <a:lstStyle/>
            <a:p>
              <a:pPr algn="ctr"/>
              <a:r>
                <a:rPr lang="en-US" sz="1100" b="1" dirty="0"/>
                <a:t>I AM HUGE, SLOW, STRONG AND STRUCTURED, NEVERTHELESS, I FEED ON LITTLE THINGS TO SURVIVE!</a:t>
              </a:r>
            </a:p>
          </p:txBody>
        </p:sp>
        <p:sp>
          <p:nvSpPr>
            <p:cNvPr id="13" name="TextBox 12"/>
            <p:cNvSpPr txBox="1"/>
            <p:nvPr/>
          </p:nvSpPr>
          <p:spPr>
            <a:xfrm>
              <a:off x="2431781" y="2832887"/>
              <a:ext cx="851338" cy="400110"/>
            </a:xfrm>
            <a:prstGeom prst="rect">
              <a:avLst/>
            </a:prstGeom>
            <a:noFill/>
          </p:spPr>
          <p:txBody>
            <a:bodyPr wrap="square" rtlCol="0">
              <a:spAutoFit/>
            </a:bodyPr>
            <a:lstStyle/>
            <a:p>
              <a:pPr algn="ctr"/>
              <a:r>
                <a:rPr lang="en-US" sz="2000" b="1" dirty="0"/>
                <a:t>+10</a:t>
              </a:r>
            </a:p>
          </p:txBody>
        </p:sp>
        <p:pic>
          <p:nvPicPr>
            <p:cNvPr id="5123" name="Picture 3"/>
            <p:cNvPicPr>
              <a:picLocks noChangeAspect="1" noChangeArrowheads="1"/>
            </p:cNvPicPr>
            <p:nvPr/>
          </p:nvPicPr>
          <p:blipFill>
            <a:blip r:embed="rId2" cstate="print"/>
            <a:srcRect/>
            <a:stretch>
              <a:fillRect/>
            </a:stretch>
          </p:blipFill>
          <p:spPr bwMode="auto">
            <a:xfrm>
              <a:off x="1382764" y="3198020"/>
              <a:ext cx="3033491" cy="2041123"/>
            </a:xfrm>
            <a:prstGeom prst="rect">
              <a:avLst/>
            </a:prstGeom>
            <a:noFill/>
            <a:ln w="9525">
              <a:noFill/>
              <a:miter lim="800000"/>
              <a:headEnd/>
              <a:tailEnd/>
            </a:ln>
          </p:spPr>
        </p:pic>
      </p:grpSp>
      <p:grpSp>
        <p:nvGrpSpPr>
          <p:cNvPr id="19" name="Group 18">
            <a:extLst>
              <a:ext uri="{FF2B5EF4-FFF2-40B4-BE49-F238E27FC236}">
                <a16:creationId xmlns:a16="http://schemas.microsoft.com/office/drawing/2014/main" id="{03EAA9D5-1A43-4A78-B245-75323C99E610}"/>
              </a:ext>
            </a:extLst>
          </p:cNvPr>
          <p:cNvGrpSpPr/>
          <p:nvPr/>
        </p:nvGrpSpPr>
        <p:grpSpPr>
          <a:xfrm>
            <a:off x="1626918" y="5476273"/>
            <a:ext cx="2458179" cy="433348"/>
            <a:chOff x="1520043" y="5508172"/>
            <a:chExt cx="2458179" cy="433348"/>
          </a:xfrm>
        </p:grpSpPr>
        <p:grpSp>
          <p:nvGrpSpPr>
            <p:cNvPr id="20" name="Group 33">
              <a:extLst>
                <a:ext uri="{FF2B5EF4-FFF2-40B4-BE49-F238E27FC236}">
                  <a16:creationId xmlns:a16="http://schemas.microsoft.com/office/drawing/2014/main" id="{DE64E78B-81C5-477D-AB43-665A05FF4076}"/>
                </a:ext>
              </a:extLst>
            </p:cNvPr>
            <p:cNvGrpSpPr/>
            <p:nvPr/>
          </p:nvGrpSpPr>
          <p:grpSpPr>
            <a:xfrm>
              <a:off x="2719424" y="5508172"/>
              <a:ext cx="1258798" cy="433348"/>
              <a:chOff x="2280049" y="5508172"/>
              <a:chExt cx="1258798" cy="433348"/>
            </a:xfrm>
          </p:grpSpPr>
          <p:sp>
            <p:nvSpPr>
              <p:cNvPr id="22" name="Oval 21">
                <a:extLst>
                  <a:ext uri="{FF2B5EF4-FFF2-40B4-BE49-F238E27FC236}">
                    <a16:creationId xmlns:a16="http://schemas.microsoft.com/office/drawing/2014/main" id="{F3CF18FF-2D68-442E-B4A0-C62F3F8BBD5B}"/>
                  </a:ext>
                </a:extLst>
              </p:cNvPr>
              <p:cNvSpPr/>
              <p:nvPr/>
            </p:nvSpPr>
            <p:spPr>
              <a:xfrm>
                <a:off x="2280049" y="5605153"/>
                <a:ext cx="285008" cy="308759"/>
              </a:xfrm>
              <a:prstGeom prst="ellipse">
                <a:avLst/>
              </a:prstGeom>
              <a:solidFill>
                <a:schemeClr val="tx1"/>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4153E85D-BC61-411D-ACE2-44E2C479A91C}"/>
                  </a:ext>
                </a:extLst>
              </p:cNvPr>
              <p:cNvSpPr/>
              <p:nvPr/>
            </p:nvSpPr>
            <p:spPr>
              <a:xfrm>
                <a:off x="2432447" y="5508172"/>
                <a:ext cx="285008" cy="308759"/>
              </a:xfrm>
              <a:prstGeom prst="ellipse">
                <a:avLst/>
              </a:prstGeom>
              <a:solidFill>
                <a:srgbClr val="7030A0"/>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1E34822F-B808-4C53-B35A-5F9DC2F69E74}"/>
                  </a:ext>
                </a:extLst>
              </p:cNvPr>
              <p:cNvSpPr/>
              <p:nvPr/>
            </p:nvSpPr>
            <p:spPr>
              <a:xfrm>
                <a:off x="2549225" y="5601194"/>
                <a:ext cx="285008" cy="308759"/>
              </a:xfrm>
              <a:prstGeom prst="ellipse">
                <a:avLst/>
              </a:prstGeom>
              <a:solidFill>
                <a:schemeClr val="tx1"/>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Equal 43">
                <a:extLst>
                  <a:ext uri="{FF2B5EF4-FFF2-40B4-BE49-F238E27FC236}">
                    <a16:creationId xmlns:a16="http://schemas.microsoft.com/office/drawing/2014/main" id="{5AC10040-FED5-4073-805F-2B7B5D72196D}"/>
                  </a:ext>
                </a:extLst>
              </p:cNvPr>
              <p:cNvSpPr/>
              <p:nvPr/>
            </p:nvSpPr>
            <p:spPr>
              <a:xfrm>
                <a:off x="2838190" y="5640777"/>
                <a:ext cx="320636" cy="237507"/>
              </a:xfrm>
              <a:prstGeom prst="mathEqual">
                <a:avLst/>
              </a:prstGeom>
              <a:solidFill>
                <a:schemeClr val="tx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6" name="TextBox 25">
                <a:extLst>
                  <a:ext uri="{FF2B5EF4-FFF2-40B4-BE49-F238E27FC236}">
                    <a16:creationId xmlns:a16="http://schemas.microsoft.com/office/drawing/2014/main" id="{30F2AC99-BE39-4A9D-B374-855D830E422E}"/>
                  </a:ext>
                </a:extLst>
              </p:cNvPr>
              <p:cNvSpPr txBox="1"/>
              <p:nvPr/>
            </p:nvSpPr>
            <p:spPr>
              <a:xfrm>
                <a:off x="3075710" y="5572188"/>
                <a:ext cx="463137" cy="369332"/>
              </a:xfrm>
              <a:prstGeom prst="rect">
                <a:avLst/>
              </a:prstGeom>
              <a:noFill/>
            </p:spPr>
            <p:txBody>
              <a:bodyPr wrap="square" rtlCol="0">
                <a:spAutoFit/>
              </a:bodyPr>
              <a:lstStyle/>
              <a:p>
                <a:r>
                  <a:rPr lang="en-US" b="1" dirty="0"/>
                  <a:t>x3 </a:t>
                </a:r>
              </a:p>
            </p:txBody>
          </p:sp>
        </p:grpSp>
        <p:sp>
          <p:nvSpPr>
            <p:cNvPr id="21" name="TextBox 20">
              <a:extLst>
                <a:ext uri="{FF2B5EF4-FFF2-40B4-BE49-F238E27FC236}">
                  <a16:creationId xmlns:a16="http://schemas.microsoft.com/office/drawing/2014/main" id="{D65E1F75-C42F-4449-A523-2911119D7A28}"/>
                </a:ext>
              </a:extLst>
            </p:cNvPr>
            <p:cNvSpPr txBox="1"/>
            <p:nvPr/>
          </p:nvSpPr>
          <p:spPr>
            <a:xfrm>
              <a:off x="1520043" y="5627683"/>
              <a:ext cx="1389409" cy="246221"/>
            </a:xfrm>
            <a:prstGeom prst="rect">
              <a:avLst/>
            </a:prstGeom>
            <a:noFill/>
          </p:spPr>
          <p:txBody>
            <a:bodyPr wrap="square" rtlCol="0">
              <a:spAutoFit/>
            </a:bodyPr>
            <a:lstStyle/>
            <a:p>
              <a:r>
                <a:rPr lang="en-US" sz="1000" b="1" dirty="0"/>
                <a:t>TO OPTIMIZE CARD :  </a:t>
              </a:r>
            </a:p>
          </p:txBody>
        </p:sp>
      </p:grpSp>
      <p:graphicFrame>
        <p:nvGraphicFramePr>
          <p:cNvPr id="27" name="Table 6">
            <a:extLst>
              <a:ext uri="{FF2B5EF4-FFF2-40B4-BE49-F238E27FC236}">
                <a16:creationId xmlns:a16="http://schemas.microsoft.com/office/drawing/2014/main" id="{9459F4E2-24B0-4998-8CE0-C2ABD084200E}"/>
              </a:ext>
            </a:extLst>
          </p:cNvPr>
          <p:cNvGraphicFramePr>
            <a:graphicFrameLocks noGrp="1"/>
          </p:cNvGraphicFramePr>
          <p:nvPr/>
        </p:nvGraphicFramePr>
        <p:xfrm>
          <a:off x="4865663" y="730311"/>
          <a:ext cx="5926383" cy="3870960"/>
        </p:xfrm>
        <a:graphic>
          <a:graphicData uri="http://schemas.openxmlformats.org/drawingml/2006/table">
            <a:tbl>
              <a:tblPr firstRow="1" bandRow="1">
                <a:tableStyleId>{5940675A-B579-460E-94D1-54222C63F5DA}</a:tableStyleId>
              </a:tblPr>
              <a:tblGrid>
                <a:gridCol w="1975461">
                  <a:extLst>
                    <a:ext uri="{9D8B030D-6E8A-4147-A177-3AD203B41FA5}">
                      <a16:colId xmlns:a16="http://schemas.microsoft.com/office/drawing/2014/main" val="1547217571"/>
                    </a:ext>
                  </a:extLst>
                </a:gridCol>
                <a:gridCol w="1975461">
                  <a:extLst>
                    <a:ext uri="{9D8B030D-6E8A-4147-A177-3AD203B41FA5}">
                      <a16:colId xmlns:a16="http://schemas.microsoft.com/office/drawing/2014/main" val="2833921746"/>
                    </a:ext>
                  </a:extLst>
                </a:gridCol>
                <a:gridCol w="1975461">
                  <a:extLst>
                    <a:ext uri="{9D8B030D-6E8A-4147-A177-3AD203B41FA5}">
                      <a16:colId xmlns:a16="http://schemas.microsoft.com/office/drawing/2014/main" val="53535338"/>
                    </a:ext>
                  </a:extLst>
                </a:gridCol>
              </a:tblGrid>
              <a:tr h="370840">
                <a:tc>
                  <a:txBody>
                    <a:bodyPr/>
                    <a:lstStyle/>
                    <a:p>
                      <a:pPr algn="ctr"/>
                      <a:r>
                        <a:rPr lang="en-US" b="1" dirty="0"/>
                        <a:t>CORPORATE PERSONA</a:t>
                      </a:r>
                    </a:p>
                  </a:txBody>
                  <a:tcPr anchor="ctr">
                    <a:solidFill>
                      <a:schemeClr val="accent1">
                        <a:lumMod val="60000"/>
                        <a:lumOff val="40000"/>
                      </a:schemeClr>
                    </a:solidFill>
                  </a:tcPr>
                </a:tc>
                <a:tc>
                  <a:txBody>
                    <a:bodyPr/>
                    <a:lstStyle/>
                    <a:p>
                      <a:pPr algn="ctr"/>
                      <a:r>
                        <a:rPr lang="en-US" b="1" dirty="0"/>
                        <a:t>MIND SET </a:t>
                      </a:r>
                    </a:p>
                  </a:txBody>
                  <a:tcPr anchor="ctr">
                    <a:solidFill>
                      <a:schemeClr val="accent1">
                        <a:lumMod val="60000"/>
                        <a:lumOff val="40000"/>
                      </a:schemeClr>
                    </a:solidFill>
                  </a:tcPr>
                </a:tc>
                <a:tc>
                  <a:txBody>
                    <a:bodyPr/>
                    <a:lstStyle/>
                    <a:p>
                      <a:pPr algn="ctr"/>
                      <a:r>
                        <a:rPr lang="en-US" b="1" dirty="0"/>
                        <a:t>BOX ANALYSIS</a:t>
                      </a:r>
                    </a:p>
                  </a:txBody>
                  <a:tcPr anchor="ctr">
                    <a:solidFill>
                      <a:schemeClr val="accent1">
                        <a:lumMod val="60000"/>
                        <a:lumOff val="40000"/>
                      </a:schemeClr>
                    </a:solidFill>
                  </a:tcPr>
                </a:tc>
                <a:extLst>
                  <a:ext uri="{0D108BD9-81ED-4DB2-BD59-A6C34878D82A}">
                    <a16:rowId xmlns:a16="http://schemas.microsoft.com/office/drawing/2014/main" val="2819750649"/>
                  </a:ext>
                </a:extLst>
              </a:tr>
              <a:tr h="370840">
                <a:tc>
                  <a:txBody>
                    <a:bodyPr/>
                    <a:lstStyle/>
                    <a:p>
                      <a:pPr algn="ctr"/>
                      <a:r>
                        <a:rPr lang="en-US" sz="1100" b="1" dirty="0"/>
                        <a:t>HIGHLY STRUCTURED AND LARGE CORPORATIONS</a:t>
                      </a:r>
                    </a:p>
                  </a:txBody>
                  <a:tcPr anchor="ctr"/>
                </a:tc>
                <a:tc>
                  <a:txBody>
                    <a:bodyPr/>
                    <a:lstStyle/>
                    <a:p>
                      <a:pPr algn="ctr"/>
                      <a:r>
                        <a:rPr lang="en-US" sz="1100" b="1" dirty="0"/>
                        <a:t>A CORPORATE CITIZEN</a:t>
                      </a:r>
                    </a:p>
                  </a:txBody>
                  <a:tcPr anchor="ctr"/>
                </a:tc>
                <a:tc rowSpan="6">
                  <a:txBody>
                    <a:bodyPr/>
                    <a:lstStyle/>
                    <a:p>
                      <a:pPr algn="ctr"/>
                      <a:endParaRPr lang="en-US" sz="1100" b="1" dirty="0"/>
                    </a:p>
                    <a:p>
                      <a:pPr algn="ctr"/>
                      <a:r>
                        <a:rPr lang="en-US" sz="1100" b="1" dirty="0"/>
                        <a:t>LOVES BIG BOXES</a:t>
                      </a:r>
                    </a:p>
                    <a:p>
                      <a:pPr algn="ctr"/>
                      <a:endParaRPr lang="en-US" sz="1100" b="1" dirty="0"/>
                    </a:p>
                    <a:p>
                      <a:pPr algn="ctr"/>
                      <a:r>
                        <a:rPr lang="en-US" sz="1100" b="1" dirty="0"/>
                        <a:t>LOVES CLOSED BOXES</a:t>
                      </a:r>
                    </a:p>
                    <a:p>
                      <a:pPr algn="ctr"/>
                      <a:endParaRPr lang="en-US" sz="1100" b="1" dirty="0"/>
                    </a:p>
                    <a:p>
                      <a:pPr algn="ctr"/>
                      <a:r>
                        <a:rPr lang="en-US" sz="1100" b="1" dirty="0"/>
                        <a:t>LIKES TO BE IN A SMALL BOX INSIDE BIG BOXES</a:t>
                      </a:r>
                    </a:p>
                    <a:p>
                      <a:pPr algn="ctr"/>
                      <a:endParaRPr lang="en-US" sz="1100" b="1" dirty="0"/>
                    </a:p>
                    <a:p>
                      <a:pPr algn="ctr"/>
                      <a:endParaRPr lang="en-US" sz="1100" b="1" dirty="0"/>
                    </a:p>
                    <a:p>
                      <a:pPr algn="ctr"/>
                      <a:endParaRPr lang="en-US" sz="1100" b="1" dirty="0"/>
                    </a:p>
                    <a:p>
                      <a:pPr algn="ctr"/>
                      <a:endParaRPr lang="en-US" sz="1100" b="1" dirty="0"/>
                    </a:p>
                    <a:p>
                      <a:pPr algn="ctr"/>
                      <a:endParaRPr lang="en-US" sz="1100" b="1" dirty="0"/>
                    </a:p>
                  </a:txBody>
                  <a:tcPr anchor="ctr"/>
                </a:tc>
                <a:extLst>
                  <a:ext uri="{0D108BD9-81ED-4DB2-BD59-A6C34878D82A}">
                    <a16:rowId xmlns:a16="http://schemas.microsoft.com/office/drawing/2014/main" val="2987475413"/>
                  </a:ext>
                </a:extLst>
              </a:tr>
              <a:tr h="370840">
                <a:tc>
                  <a:txBody>
                    <a:bodyPr/>
                    <a:lstStyle/>
                    <a:p>
                      <a:pPr algn="ctr"/>
                      <a:r>
                        <a:rPr lang="en-US" sz="1100" b="1" dirty="0"/>
                        <a:t>HIGHLY ORGANIZED WORK ENVIRONMENT</a:t>
                      </a:r>
                    </a:p>
                  </a:txBody>
                  <a:tcPr anchor="ctr"/>
                </a:tc>
                <a:tc>
                  <a:txBody>
                    <a:bodyPr/>
                    <a:lstStyle/>
                    <a:p>
                      <a:pPr algn="ctr"/>
                      <a:r>
                        <a:rPr lang="en-US" sz="1100" b="1" dirty="0"/>
                        <a:t>FOLLOWS INSTRUCTION</a:t>
                      </a:r>
                    </a:p>
                  </a:txBody>
                  <a:tcPr anchor="ctr"/>
                </a:tc>
                <a:tc vMerge="1">
                  <a:txBody>
                    <a:bodyPr/>
                    <a:lstStyle/>
                    <a:p>
                      <a:endParaRPr lang="en-US" dirty="0"/>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218776686"/>
                  </a:ext>
                </a:extLst>
              </a:tr>
              <a:tr h="370840">
                <a:tc>
                  <a:txBody>
                    <a:bodyPr/>
                    <a:lstStyle/>
                    <a:p>
                      <a:pPr algn="ctr"/>
                      <a:r>
                        <a:rPr lang="en-US" sz="1100" b="1" dirty="0"/>
                        <a:t>VERY BIG ON DOCUMENTATION AND INSTRUCTIONS </a:t>
                      </a:r>
                    </a:p>
                  </a:txBody>
                  <a:tcPr anchor="ctr"/>
                </a:tc>
                <a:tc>
                  <a:txBody>
                    <a:bodyPr/>
                    <a:lstStyle/>
                    <a:p>
                      <a:pPr algn="ctr"/>
                      <a:r>
                        <a:rPr lang="en-US" sz="1100" b="1" dirty="0"/>
                        <a:t>COMFORTABLE WITH REGIMENTATION</a:t>
                      </a:r>
                    </a:p>
                  </a:txBody>
                  <a:tcPr anchor="ctr"/>
                </a:tc>
                <a:tc vMerge="1">
                  <a:txBody>
                    <a:bodyPr/>
                    <a:lstStyle/>
                    <a:p>
                      <a:endParaRPr lang="en-US" dirty="0"/>
                    </a:p>
                  </a:txBody>
                  <a:tcPr/>
                </a:tc>
                <a:extLst>
                  <a:ext uri="{0D108BD9-81ED-4DB2-BD59-A6C34878D82A}">
                    <a16:rowId xmlns:a16="http://schemas.microsoft.com/office/drawing/2014/main" val="4207697039"/>
                  </a:ext>
                </a:extLst>
              </a:tr>
              <a:tr h="370840">
                <a:tc>
                  <a:txBody>
                    <a:bodyPr/>
                    <a:lstStyle/>
                    <a:p>
                      <a:pPr algn="ctr"/>
                      <a:r>
                        <a:rPr lang="en-US" sz="1100" b="1" dirty="0"/>
                        <a:t>VERY BIG ON TITLES AND CORPORATE POSITION </a:t>
                      </a:r>
                    </a:p>
                  </a:txBody>
                  <a:tcPr anchor="ctr"/>
                </a:tc>
                <a:tc>
                  <a:txBody>
                    <a:bodyPr/>
                    <a:lstStyle/>
                    <a:p>
                      <a:pPr algn="ctr"/>
                      <a:r>
                        <a:rPr lang="en-US" sz="1100" b="1" dirty="0"/>
                        <a:t>PYRAMID BUILDER</a:t>
                      </a:r>
                    </a:p>
                  </a:txBody>
                  <a:tcPr anchor="ctr"/>
                </a:tc>
                <a:tc vMerge="1">
                  <a:txBody>
                    <a:bodyPr/>
                    <a:lstStyle/>
                    <a:p>
                      <a:endParaRPr lang="en-US" dirty="0"/>
                    </a:p>
                  </a:txBody>
                  <a:tcPr/>
                </a:tc>
                <a:extLst>
                  <a:ext uri="{0D108BD9-81ED-4DB2-BD59-A6C34878D82A}">
                    <a16:rowId xmlns:a16="http://schemas.microsoft.com/office/drawing/2014/main" val="729901320"/>
                  </a:ext>
                </a:extLst>
              </a:tr>
              <a:tr h="370840">
                <a:tc>
                  <a:txBody>
                    <a:bodyPr/>
                    <a:lstStyle/>
                    <a:p>
                      <a:pPr algn="ctr"/>
                      <a:r>
                        <a:rPr lang="en-US" sz="1100" b="1" dirty="0"/>
                        <a:t>INCENTIVE DRIVEN</a:t>
                      </a:r>
                    </a:p>
                  </a:txBody>
                  <a:tcPr anchor="ctr"/>
                </a:tc>
                <a:tc>
                  <a:txBody>
                    <a:bodyPr/>
                    <a:lstStyle/>
                    <a:p>
                      <a:pPr algn="ctr"/>
                      <a:r>
                        <a:rPr lang="en-US" sz="1100" b="1" dirty="0"/>
                        <a:t>NOT COMFORTABLE WITH INNOVATION AND CREATIVE THINKING UNLESS IT’S A CLEARLY DEFINED ROLE</a:t>
                      </a:r>
                    </a:p>
                  </a:txBody>
                  <a:tcPr anchor="ctr">
                    <a:solidFill>
                      <a:srgbClr val="FFC000"/>
                    </a:solidFill>
                  </a:tcPr>
                </a:tc>
                <a:tc vMerge="1">
                  <a:txBody>
                    <a:bodyPr/>
                    <a:lstStyle/>
                    <a:p>
                      <a:endParaRPr lang="en-US" dirty="0"/>
                    </a:p>
                  </a:txBody>
                  <a:tcPr/>
                </a:tc>
                <a:extLst>
                  <a:ext uri="{0D108BD9-81ED-4DB2-BD59-A6C34878D82A}">
                    <a16:rowId xmlns:a16="http://schemas.microsoft.com/office/drawing/2014/main" val="1042100184"/>
                  </a:ext>
                </a:extLst>
              </a:tr>
              <a:tr h="370840">
                <a:tc>
                  <a:txBody>
                    <a:bodyPr/>
                    <a:lstStyle/>
                    <a:p>
                      <a:pPr algn="ctr"/>
                      <a:r>
                        <a:rPr lang="en-US" sz="1100" b="1" dirty="0"/>
                        <a:t>TEAM PLAYER (AS LONG AS ROLES AND RESPONSIBILITIES ARE CLEARLY DEFINED)</a:t>
                      </a:r>
                    </a:p>
                  </a:txBody>
                  <a:tcPr anchor="ctr"/>
                </a:tc>
                <a:tc>
                  <a:txBody>
                    <a:bodyPr/>
                    <a:lstStyle/>
                    <a:p>
                      <a:pPr algn="ctr"/>
                      <a:r>
                        <a:rPr lang="en-US" sz="1100" b="1" dirty="0"/>
                        <a:t>NOT COMFORTABLE WITH OPEN ROLES OR SITUATIONAL LEADERSHIP </a:t>
                      </a:r>
                    </a:p>
                  </a:txBody>
                  <a:tcPr anchor="ctr">
                    <a:solidFill>
                      <a:srgbClr val="FFC000"/>
                    </a:solidFill>
                  </a:tcPr>
                </a:tc>
                <a:tc vMerge="1">
                  <a:txBody>
                    <a:bodyPr/>
                    <a:lstStyle/>
                    <a:p>
                      <a:endParaRPr lang="en-US" dirty="0"/>
                    </a:p>
                  </a:txBody>
                  <a:tcPr/>
                </a:tc>
                <a:extLst>
                  <a:ext uri="{0D108BD9-81ED-4DB2-BD59-A6C34878D82A}">
                    <a16:rowId xmlns:a16="http://schemas.microsoft.com/office/drawing/2014/main" val="983259082"/>
                  </a:ext>
                </a:extLst>
              </a:tr>
            </a:tbl>
          </a:graphicData>
        </a:graphic>
      </p:graphicFrame>
      <p:graphicFrame>
        <p:nvGraphicFramePr>
          <p:cNvPr id="29" name="Table 7">
            <a:extLst>
              <a:ext uri="{FF2B5EF4-FFF2-40B4-BE49-F238E27FC236}">
                <a16:creationId xmlns:a16="http://schemas.microsoft.com/office/drawing/2014/main" id="{E5DE38F5-9B92-445B-AFB6-BD5C1A5D3751}"/>
              </a:ext>
            </a:extLst>
          </p:cNvPr>
          <p:cNvGraphicFramePr>
            <a:graphicFrameLocks noGrp="1"/>
          </p:cNvGraphicFramePr>
          <p:nvPr/>
        </p:nvGraphicFramePr>
        <p:xfrm>
          <a:off x="4844397" y="4798655"/>
          <a:ext cx="5926384" cy="944880"/>
        </p:xfrm>
        <a:graphic>
          <a:graphicData uri="http://schemas.openxmlformats.org/drawingml/2006/table">
            <a:tbl>
              <a:tblPr firstRow="1" bandRow="1">
                <a:tableStyleId>{5C22544A-7EE6-4342-B048-85BDC9FD1C3A}</a:tableStyleId>
              </a:tblPr>
              <a:tblGrid>
                <a:gridCol w="2963192">
                  <a:extLst>
                    <a:ext uri="{9D8B030D-6E8A-4147-A177-3AD203B41FA5}">
                      <a16:colId xmlns:a16="http://schemas.microsoft.com/office/drawing/2014/main" val="1028654853"/>
                    </a:ext>
                  </a:extLst>
                </a:gridCol>
                <a:gridCol w="2963192">
                  <a:extLst>
                    <a:ext uri="{9D8B030D-6E8A-4147-A177-3AD203B41FA5}">
                      <a16:colId xmlns:a16="http://schemas.microsoft.com/office/drawing/2014/main" val="2159636558"/>
                    </a:ext>
                  </a:extLst>
                </a:gridCol>
              </a:tblGrid>
              <a:tr h="370840">
                <a:tc>
                  <a:txBody>
                    <a:bodyPr/>
                    <a:lstStyle/>
                    <a:p>
                      <a:pPr algn="ctr"/>
                      <a:r>
                        <a:rPr lang="en-US" dirty="0">
                          <a:solidFill>
                            <a:srgbClr val="C00000"/>
                          </a:solidFill>
                        </a:rPr>
                        <a:t>INSIGHT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400" dirty="0">
                          <a:solidFill>
                            <a:srgbClr val="C00000"/>
                          </a:solidFill>
                        </a:rPr>
                        <a:t>MULTI INDUSTRY EXPERIENCE CREATES OPPORTUNITIES FOR INNOVATION. THEY MIGHT NOT REALIZE THIS THOUGH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823397659"/>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09820" y="1956478"/>
            <a:ext cx="8312727" cy="3740727"/>
          </a:xfrm>
          <a:prstGeom prst="rect">
            <a:avLst/>
          </a:prstGeom>
          <a:solidFill>
            <a:schemeClr val="bg1"/>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cap="small" dirty="0">
                <a:solidFill>
                  <a:srgbClr val="FF0000"/>
                </a:solidFill>
              </a:rPr>
              <a:t>ELEPHANT</a:t>
            </a:r>
          </a:p>
          <a:p>
            <a:pPr algn="ctr"/>
            <a:endParaRPr lang="en-GB" cap="small" dirty="0">
              <a:solidFill>
                <a:srgbClr val="FF0000"/>
              </a:solidFill>
            </a:endParaRPr>
          </a:p>
          <a:p>
            <a:pPr algn="ctr"/>
            <a:r>
              <a:rPr lang="en-US" cap="small" dirty="0">
                <a:solidFill>
                  <a:srgbClr val="FF0000"/>
                </a:solidFill>
              </a:rPr>
              <a:t>You are interested in Large Enterprises and how they work, you are either planning to work with a large enterprise or are already working in one. You are ambitious, driven and fascinated with corporate culture and you see yourself on the Board of a large company one day. You have Builder's heart.</a:t>
            </a:r>
            <a:endParaRPr lang="en-GB" cap="small" dirty="0">
              <a:solidFill>
                <a:srgbClr val="FF0000"/>
              </a:solidFill>
            </a:endParaRPr>
          </a:p>
        </p:txBody>
      </p:sp>
      <p:sp>
        <p:nvSpPr>
          <p:cNvPr id="6" name="Heart 5"/>
          <p:cNvSpPr/>
          <p:nvPr/>
        </p:nvSpPr>
        <p:spPr>
          <a:xfrm>
            <a:off x="8436942" y="4670536"/>
            <a:ext cx="914400" cy="914400"/>
          </a:xfrm>
          <a:prstGeom prst="heart">
            <a:avLst/>
          </a:prstGeom>
          <a:solidFill>
            <a:schemeClr val="accent4">
              <a:lumMod val="50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9" name="Picture 3"/>
          <p:cNvPicPr>
            <a:picLocks noChangeAspect="1" noChangeArrowheads="1"/>
          </p:cNvPicPr>
          <p:nvPr/>
        </p:nvPicPr>
        <p:blipFill>
          <a:blip r:embed="rId2" cstate="print"/>
          <a:srcRect/>
          <a:stretch>
            <a:fillRect/>
          </a:stretch>
        </p:blipFill>
        <p:spPr bwMode="auto">
          <a:xfrm>
            <a:off x="3999848" y="916055"/>
            <a:ext cx="3033491" cy="2041123"/>
          </a:xfrm>
          <a:prstGeom prst="rect">
            <a:avLst/>
          </a:prstGeom>
          <a:noFill/>
          <a:ln w="9525">
            <a:noFill/>
            <a:miter lim="800000"/>
            <a:headEnd/>
            <a:tailEnd/>
          </a:ln>
        </p:spPr>
      </p:pic>
    </p:spTree>
    <p:extLst>
      <p:ext uri="{BB962C8B-B14F-4D97-AF65-F5344CB8AC3E}">
        <p14:creationId xmlns:p14="http://schemas.microsoft.com/office/powerpoint/2010/main" val="33891843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Group 17"/>
          <p:cNvGrpSpPr/>
          <p:nvPr/>
        </p:nvGrpSpPr>
        <p:grpSpPr>
          <a:xfrm>
            <a:off x="1306286" y="769258"/>
            <a:ext cx="3207657" cy="5312228"/>
            <a:chOff x="1306286" y="769258"/>
            <a:chExt cx="3207657" cy="5312228"/>
          </a:xfrm>
        </p:grpSpPr>
        <p:grpSp>
          <p:nvGrpSpPr>
            <p:cNvPr id="4" name="Group 3"/>
            <p:cNvGrpSpPr/>
            <p:nvPr/>
          </p:nvGrpSpPr>
          <p:grpSpPr>
            <a:xfrm>
              <a:off x="1306286" y="769258"/>
              <a:ext cx="3207657" cy="5312228"/>
              <a:chOff x="1306286" y="769258"/>
              <a:chExt cx="3207657" cy="5312228"/>
            </a:xfrm>
          </p:grpSpPr>
          <p:sp>
            <p:nvSpPr>
              <p:cNvPr id="2" name="Rounded Rectangle 1"/>
              <p:cNvSpPr/>
              <p:nvPr/>
            </p:nvSpPr>
            <p:spPr>
              <a:xfrm>
                <a:off x="1306286" y="783771"/>
                <a:ext cx="3207657" cy="5297715"/>
              </a:xfrm>
              <a:prstGeom prst="roundRect">
                <a:avLst/>
              </a:prstGeom>
              <a:solidFill>
                <a:schemeClr val="bg1"/>
              </a:solidFill>
              <a:ln w="76200">
                <a:solidFill>
                  <a:schemeClr val="bg1">
                    <a:lumMod val="6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 Same Side Corner Rectangle 2"/>
              <p:cNvSpPr/>
              <p:nvPr/>
            </p:nvSpPr>
            <p:spPr>
              <a:xfrm>
                <a:off x="1306286" y="769258"/>
                <a:ext cx="3207657" cy="1146626"/>
              </a:xfrm>
              <a:prstGeom prst="round2SameRect">
                <a:avLst/>
              </a:prstGeom>
              <a:solidFill>
                <a:schemeClr val="tx1"/>
              </a:solidFill>
              <a:ln w="762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latin typeface="AR BONNIE" pitchFamily="2" charset="0"/>
                  </a:rPr>
                  <a:t>THE WASP</a:t>
                </a:r>
              </a:p>
            </p:txBody>
          </p:sp>
        </p:grpSp>
        <p:sp>
          <p:nvSpPr>
            <p:cNvPr id="12" name="TextBox 11"/>
            <p:cNvSpPr txBox="1"/>
            <p:nvPr/>
          </p:nvSpPr>
          <p:spPr>
            <a:xfrm>
              <a:off x="1679615" y="2002917"/>
              <a:ext cx="2380593" cy="600164"/>
            </a:xfrm>
            <a:prstGeom prst="rect">
              <a:avLst/>
            </a:prstGeom>
            <a:noFill/>
          </p:spPr>
          <p:txBody>
            <a:bodyPr wrap="square" rtlCol="0">
              <a:spAutoFit/>
            </a:bodyPr>
            <a:lstStyle/>
            <a:p>
              <a:pPr algn="ctr"/>
              <a:r>
                <a:rPr lang="en-US" sz="1100" b="1" dirty="0"/>
                <a:t>I AM A TAKER, DISTROYER AND A PARASITE, I CONVERT GOOD TO BAD, NOBODY LIKES ME!</a:t>
              </a:r>
            </a:p>
          </p:txBody>
        </p:sp>
        <p:sp>
          <p:nvSpPr>
            <p:cNvPr id="13" name="TextBox 12"/>
            <p:cNvSpPr txBox="1"/>
            <p:nvPr/>
          </p:nvSpPr>
          <p:spPr>
            <a:xfrm>
              <a:off x="2396156" y="2763410"/>
              <a:ext cx="851338" cy="400110"/>
            </a:xfrm>
            <a:prstGeom prst="rect">
              <a:avLst/>
            </a:prstGeom>
            <a:noFill/>
          </p:spPr>
          <p:txBody>
            <a:bodyPr wrap="square" rtlCol="0">
              <a:spAutoFit/>
            </a:bodyPr>
            <a:lstStyle/>
            <a:p>
              <a:pPr algn="ctr"/>
              <a:r>
                <a:rPr lang="en-US" sz="2000" b="1" dirty="0"/>
                <a:t>+100</a:t>
              </a:r>
            </a:p>
          </p:txBody>
        </p:sp>
        <p:pic>
          <p:nvPicPr>
            <p:cNvPr id="6146" name="Picture 2"/>
            <p:cNvPicPr>
              <a:picLocks noChangeAspect="1" noChangeArrowheads="1"/>
            </p:cNvPicPr>
            <p:nvPr/>
          </p:nvPicPr>
          <p:blipFill>
            <a:blip r:embed="rId2" cstate="print"/>
            <a:srcRect/>
            <a:stretch>
              <a:fillRect/>
            </a:stretch>
          </p:blipFill>
          <p:spPr bwMode="auto">
            <a:xfrm>
              <a:off x="1619890" y="3328458"/>
              <a:ext cx="2517816" cy="1937982"/>
            </a:xfrm>
            <a:prstGeom prst="rect">
              <a:avLst/>
            </a:prstGeom>
            <a:noFill/>
            <a:ln w="9525">
              <a:noFill/>
              <a:miter lim="800000"/>
              <a:headEnd/>
              <a:tailEnd/>
            </a:ln>
          </p:spPr>
        </p:pic>
      </p:grpSp>
      <p:grpSp>
        <p:nvGrpSpPr>
          <p:cNvPr id="19" name="Group 18">
            <a:extLst>
              <a:ext uri="{FF2B5EF4-FFF2-40B4-BE49-F238E27FC236}">
                <a16:creationId xmlns:a16="http://schemas.microsoft.com/office/drawing/2014/main" id="{2DB9D3CF-F8DB-4522-A9A0-C9A7FAC474BF}"/>
              </a:ext>
            </a:extLst>
          </p:cNvPr>
          <p:cNvGrpSpPr/>
          <p:nvPr/>
        </p:nvGrpSpPr>
        <p:grpSpPr>
          <a:xfrm>
            <a:off x="1648184" y="5455007"/>
            <a:ext cx="2458179" cy="433348"/>
            <a:chOff x="1520043" y="5508172"/>
            <a:chExt cx="2458179" cy="433348"/>
          </a:xfrm>
        </p:grpSpPr>
        <p:grpSp>
          <p:nvGrpSpPr>
            <p:cNvPr id="20" name="Group 33">
              <a:extLst>
                <a:ext uri="{FF2B5EF4-FFF2-40B4-BE49-F238E27FC236}">
                  <a16:creationId xmlns:a16="http://schemas.microsoft.com/office/drawing/2014/main" id="{C8B05202-A671-4E7E-984A-0B57B78AA1A9}"/>
                </a:ext>
              </a:extLst>
            </p:cNvPr>
            <p:cNvGrpSpPr/>
            <p:nvPr/>
          </p:nvGrpSpPr>
          <p:grpSpPr>
            <a:xfrm>
              <a:off x="2719424" y="5508172"/>
              <a:ext cx="1258798" cy="433348"/>
              <a:chOff x="2280049" y="5508172"/>
              <a:chExt cx="1258798" cy="433348"/>
            </a:xfrm>
          </p:grpSpPr>
          <p:sp>
            <p:nvSpPr>
              <p:cNvPr id="22" name="Oval 21">
                <a:extLst>
                  <a:ext uri="{FF2B5EF4-FFF2-40B4-BE49-F238E27FC236}">
                    <a16:creationId xmlns:a16="http://schemas.microsoft.com/office/drawing/2014/main" id="{9E8F004C-1597-4406-89AE-FE9827DE8A32}"/>
                  </a:ext>
                </a:extLst>
              </p:cNvPr>
              <p:cNvSpPr/>
              <p:nvPr/>
            </p:nvSpPr>
            <p:spPr>
              <a:xfrm>
                <a:off x="2280049" y="5605153"/>
                <a:ext cx="285008" cy="308759"/>
              </a:xfrm>
              <a:prstGeom prst="ellipse">
                <a:avLst/>
              </a:prstGeom>
              <a:solidFill>
                <a:schemeClr val="tx1"/>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4548955A-0D09-4CB0-82FA-6D2D99237E81}"/>
                  </a:ext>
                </a:extLst>
              </p:cNvPr>
              <p:cNvSpPr/>
              <p:nvPr/>
            </p:nvSpPr>
            <p:spPr>
              <a:xfrm>
                <a:off x="2432447" y="5508172"/>
                <a:ext cx="285008" cy="308759"/>
              </a:xfrm>
              <a:prstGeom prst="ellipse">
                <a:avLst/>
              </a:prstGeom>
              <a:solidFill>
                <a:srgbClr val="7030A0"/>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3C44A331-8B6E-49C7-BF70-052C3B023F72}"/>
                  </a:ext>
                </a:extLst>
              </p:cNvPr>
              <p:cNvSpPr/>
              <p:nvPr/>
            </p:nvSpPr>
            <p:spPr>
              <a:xfrm>
                <a:off x="2549225" y="5601194"/>
                <a:ext cx="285008" cy="308759"/>
              </a:xfrm>
              <a:prstGeom prst="ellipse">
                <a:avLst/>
              </a:prstGeom>
              <a:solidFill>
                <a:schemeClr val="tx1"/>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Equal 43">
                <a:extLst>
                  <a:ext uri="{FF2B5EF4-FFF2-40B4-BE49-F238E27FC236}">
                    <a16:creationId xmlns:a16="http://schemas.microsoft.com/office/drawing/2014/main" id="{EE44770E-D849-48DE-9D21-5C1AB944696F}"/>
                  </a:ext>
                </a:extLst>
              </p:cNvPr>
              <p:cNvSpPr/>
              <p:nvPr/>
            </p:nvSpPr>
            <p:spPr>
              <a:xfrm>
                <a:off x="2838190" y="5640777"/>
                <a:ext cx="320636" cy="237507"/>
              </a:xfrm>
              <a:prstGeom prst="mathEqual">
                <a:avLst/>
              </a:prstGeom>
              <a:solidFill>
                <a:schemeClr val="tx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6" name="TextBox 25">
                <a:extLst>
                  <a:ext uri="{FF2B5EF4-FFF2-40B4-BE49-F238E27FC236}">
                    <a16:creationId xmlns:a16="http://schemas.microsoft.com/office/drawing/2014/main" id="{AB38663B-7E6A-4825-B255-43DFAB074FE4}"/>
                  </a:ext>
                </a:extLst>
              </p:cNvPr>
              <p:cNvSpPr txBox="1"/>
              <p:nvPr/>
            </p:nvSpPr>
            <p:spPr>
              <a:xfrm>
                <a:off x="3075710" y="5572188"/>
                <a:ext cx="463137" cy="369332"/>
              </a:xfrm>
              <a:prstGeom prst="rect">
                <a:avLst/>
              </a:prstGeom>
              <a:noFill/>
            </p:spPr>
            <p:txBody>
              <a:bodyPr wrap="square" rtlCol="0">
                <a:spAutoFit/>
              </a:bodyPr>
              <a:lstStyle/>
              <a:p>
                <a:r>
                  <a:rPr lang="en-US" b="1" dirty="0"/>
                  <a:t>x3 </a:t>
                </a:r>
              </a:p>
            </p:txBody>
          </p:sp>
        </p:grpSp>
        <p:sp>
          <p:nvSpPr>
            <p:cNvPr id="21" name="TextBox 20">
              <a:extLst>
                <a:ext uri="{FF2B5EF4-FFF2-40B4-BE49-F238E27FC236}">
                  <a16:creationId xmlns:a16="http://schemas.microsoft.com/office/drawing/2014/main" id="{AA40769F-9949-48C1-985B-AC4E80FDCCDB}"/>
                </a:ext>
              </a:extLst>
            </p:cNvPr>
            <p:cNvSpPr txBox="1"/>
            <p:nvPr/>
          </p:nvSpPr>
          <p:spPr>
            <a:xfrm>
              <a:off x="1520043" y="5627683"/>
              <a:ext cx="1389409" cy="246221"/>
            </a:xfrm>
            <a:prstGeom prst="rect">
              <a:avLst/>
            </a:prstGeom>
            <a:noFill/>
          </p:spPr>
          <p:txBody>
            <a:bodyPr wrap="square" rtlCol="0">
              <a:spAutoFit/>
            </a:bodyPr>
            <a:lstStyle/>
            <a:p>
              <a:r>
                <a:rPr lang="en-US" sz="1000" b="1" dirty="0"/>
                <a:t>TO OPTIMIZE CARD :  </a:t>
              </a:r>
            </a:p>
          </p:txBody>
        </p:sp>
      </p:grpSp>
      <p:graphicFrame>
        <p:nvGraphicFramePr>
          <p:cNvPr id="27" name="Table 6">
            <a:extLst>
              <a:ext uri="{FF2B5EF4-FFF2-40B4-BE49-F238E27FC236}">
                <a16:creationId xmlns:a16="http://schemas.microsoft.com/office/drawing/2014/main" id="{0BCF4492-8537-4F3C-9EF0-2D11C33E5AA4}"/>
              </a:ext>
            </a:extLst>
          </p:cNvPr>
          <p:cNvGraphicFramePr>
            <a:graphicFrameLocks noGrp="1"/>
          </p:cNvGraphicFramePr>
          <p:nvPr/>
        </p:nvGraphicFramePr>
        <p:xfrm>
          <a:off x="4865663" y="836641"/>
          <a:ext cx="5926383" cy="3144520"/>
        </p:xfrm>
        <a:graphic>
          <a:graphicData uri="http://schemas.openxmlformats.org/drawingml/2006/table">
            <a:tbl>
              <a:tblPr firstRow="1" bandRow="1">
                <a:tableStyleId>{5940675A-B579-460E-94D1-54222C63F5DA}</a:tableStyleId>
              </a:tblPr>
              <a:tblGrid>
                <a:gridCol w="1975461">
                  <a:extLst>
                    <a:ext uri="{9D8B030D-6E8A-4147-A177-3AD203B41FA5}">
                      <a16:colId xmlns:a16="http://schemas.microsoft.com/office/drawing/2014/main" val="1547217571"/>
                    </a:ext>
                  </a:extLst>
                </a:gridCol>
                <a:gridCol w="1975461">
                  <a:extLst>
                    <a:ext uri="{9D8B030D-6E8A-4147-A177-3AD203B41FA5}">
                      <a16:colId xmlns:a16="http://schemas.microsoft.com/office/drawing/2014/main" val="2833921746"/>
                    </a:ext>
                  </a:extLst>
                </a:gridCol>
                <a:gridCol w="1975461">
                  <a:extLst>
                    <a:ext uri="{9D8B030D-6E8A-4147-A177-3AD203B41FA5}">
                      <a16:colId xmlns:a16="http://schemas.microsoft.com/office/drawing/2014/main" val="53535338"/>
                    </a:ext>
                  </a:extLst>
                </a:gridCol>
              </a:tblGrid>
              <a:tr h="370840">
                <a:tc>
                  <a:txBody>
                    <a:bodyPr/>
                    <a:lstStyle/>
                    <a:p>
                      <a:pPr algn="ctr"/>
                      <a:r>
                        <a:rPr lang="en-US" b="1" dirty="0"/>
                        <a:t>CORPORATE PERSONA</a:t>
                      </a:r>
                    </a:p>
                  </a:txBody>
                  <a:tcPr anchor="ctr">
                    <a:solidFill>
                      <a:schemeClr val="accent1">
                        <a:lumMod val="60000"/>
                        <a:lumOff val="40000"/>
                      </a:schemeClr>
                    </a:solidFill>
                  </a:tcPr>
                </a:tc>
                <a:tc>
                  <a:txBody>
                    <a:bodyPr/>
                    <a:lstStyle/>
                    <a:p>
                      <a:pPr algn="ctr"/>
                      <a:r>
                        <a:rPr lang="en-US" b="1" dirty="0"/>
                        <a:t>MIND SET </a:t>
                      </a:r>
                    </a:p>
                  </a:txBody>
                  <a:tcPr anchor="ctr">
                    <a:solidFill>
                      <a:schemeClr val="accent1">
                        <a:lumMod val="60000"/>
                        <a:lumOff val="40000"/>
                      </a:schemeClr>
                    </a:solidFill>
                  </a:tcPr>
                </a:tc>
                <a:tc>
                  <a:txBody>
                    <a:bodyPr/>
                    <a:lstStyle/>
                    <a:p>
                      <a:pPr algn="ctr"/>
                      <a:r>
                        <a:rPr lang="en-US" b="1" dirty="0"/>
                        <a:t>BOX ANALYSIS</a:t>
                      </a:r>
                    </a:p>
                  </a:txBody>
                  <a:tcPr anchor="ctr">
                    <a:solidFill>
                      <a:schemeClr val="accent1">
                        <a:lumMod val="60000"/>
                        <a:lumOff val="40000"/>
                      </a:schemeClr>
                    </a:solidFill>
                  </a:tcPr>
                </a:tc>
                <a:extLst>
                  <a:ext uri="{0D108BD9-81ED-4DB2-BD59-A6C34878D82A}">
                    <a16:rowId xmlns:a16="http://schemas.microsoft.com/office/drawing/2014/main" val="2819750649"/>
                  </a:ext>
                </a:extLst>
              </a:tr>
              <a:tr h="370840">
                <a:tc>
                  <a:txBody>
                    <a:bodyPr/>
                    <a:lstStyle/>
                    <a:p>
                      <a:pPr algn="ctr"/>
                      <a:r>
                        <a:rPr lang="en-US" sz="1100" b="1" dirty="0"/>
                        <a:t>ORGANIZED CRIME</a:t>
                      </a:r>
                    </a:p>
                  </a:txBody>
                  <a:tcPr anchor="ctr"/>
                </a:tc>
                <a:tc>
                  <a:txBody>
                    <a:bodyPr/>
                    <a:lstStyle/>
                    <a:p>
                      <a:pPr algn="ctr"/>
                      <a:r>
                        <a:rPr lang="en-US" sz="1100" b="1" dirty="0"/>
                        <a:t>A THIEF</a:t>
                      </a:r>
                    </a:p>
                  </a:txBody>
                  <a:tcPr anchor="ctr"/>
                </a:tc>
                <a:tc rowSpan="6">
                  <a:txBody>
                    <a:bodyPr/>
                    <a:lstStyle/>
                    <a:p>
                      <a:pPr algn="ctr"/>
                      <a:r>
                        <a:rPr lang="en-US" sz="1100" b="1" dirty="0"/>
                        <a:t>PARASITIC TO BOXES</a:t>
                      </a:r>
                    </a:p>
                    <a:p>
                      <a:pPr algn="ctr"/>
                      <a:endParaRPr lang="en-US" sz="1100" b="1" dirty="0"/>
                    </a:p>
                    <a:p>
                      <a:pPr algn="ctr"/>
                      <a:r>
                        <a:rPr lang="en-US" sz="1100" b="1" dirty="0"/>
                        <a:t>DOES NOT LIKE TO BUILD BOXES BUT LOVES TO TEAR THEM DOWN FROM WITHIN</a:t>
                      </a:r>
                    </a:p>
                    <a:p>
                      <a:pPr algn="ctr"/>
                      <a:endParaRPr lang="en-US" sz="1100" b="1" dirty="0"/>
                    </a:p>
                    <a:p>
                      <a:pPr algn="ctr"/>
                      <a:r>
                        <a:rPr lang="en-US" sz="1100" b="1" dirty="0"/>
                        <a:t>HAS A LOT OF BROKEN BOXES LYING AROUND IN PAST</a:t>
                      </a:r>
                    </a:p>
                    <a:p>
                      <a:pPr algn="ctr"/>
                      <a:endParaRPr lang="en-US" sz="1100" b="1" dirty="0"/>
                    </a:p>
                    <a:p>
                      <a:pPr algn="ctr"/>
                      <a:endParaRPr lang="en-US" sz="1100" b="1" dirty="0"/>
                    </a:p>
                    <a:p>
                      <a:pPr algn="ctr"/>
                      <a:endParaRPr lang="en-US" sz="1100" b="1" dirty="0"/>
                    </a:p>
                  </a:txBody>
                  <a:tcPr anchor="ctr"/>
                </a:tc>
                <a:extLst>
                  <a:ext uri="{0D108BD9-81ED-4DB2-BD59-A6C34878D82A}">
                    <a16:rowId xmlns:a16="http://schemas.microsoft.com/office/drawing/2014/main" val="2987475413"/>
                  </a:ext>
                </a:extLst>
              </a:tr>
              <a:tr h="370840">
                <a:tc>
                  <a:txBody>
                    <a:bodyPr/>
                    <a:lstStyle/>
                    <a:p>
                      <a:pPr algn="ctr"/>
                      <a:r>
                        <a:rPr lang="en-US" sz="1100" b="1" dirty="0"/>
                        <a:t>THIVES IN ADMINISTRATIVE LOOPHOLES</a:t>
                      </a:r>
                    </a:p>
                  </a:txBody>
                  <a:tcPr anchor="ctr"/>
                </a:tc>
                <a:tc>
                  <a:txBody>
                    <a:bodyPr/>
                    <a:lstStyle/>
                    <a:p>
                      <a:pPr algn="ctr"/>
                      <a:r>
                        <a:rPr lang="en-US" sz="1100" b="1" dirty="0"/>
                        <a:t>A LIAR</a:t>
                      </a:r>
                    </a:p>
                  </a:txBody>
                  <a:tcPr anchor="ctr"/>
                </a:tc>
                <a:tc vMerge="1">
                  <a:txBody>
                    <a:bodyPr/>
                    <a:lstStyle/>
                    <a:p>
                      <a:endParaRPr lang="en-US" dirty="0"/>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218776686"/>
                  </a:ext>
                </a:extLst>
              </a:tr>
              <a:tr h="370840">
                <a:tc>
                  <a:txBody>
                    <a:bodyPr/>
                    <a:lstStyle/>
                    <a:p>
                      <a:pPr algn="ctr"/>
                      <a:r>
                        <a:rPr lang="en-US" sz="1100" b="1" dirty="0"/>
                        <a:t>THRIVES IN HIGHLY POLITICISED ENVIRONMENTS </a:t>
                      </a:r>
                    </a:p>
                  </a:txBody>
                  <a:tcPr anchor="ctr"/>
                </a:tc>
                <a:tc>
                  <a:txBody>
                    <a:bodyPr/>
                    <a:lstStyle/>
                    <a:p>
                      <a:pPr algn="ctr"/>
                      <a:r>
                        <a:rPr lang="en-US" sz="1100" b="1" dirty="0"/>
                        <a:t>A DECIEVER </a:t>
                      </a:r>
                    </a:p>
                  </a:txBody>
                  <a:tcPr anchor="ctr"/>
                </a:tc>
                <a:tc vMerge="1">
                  <a:txBody>
                    <a:bodyPr/>
                    <a:lstStyle/>
                    <a:p>
                      <a:endParaRPr lang="en-US" dirty="0"/>
                    </a:p>
                  </a:txBody>
                  <a:tcPr/>
                </a:tc>
                <a:extLst>
                  <a:ext uri="{0D108BD9-81ED-4DB2-BD59-A6C34878D82A}">
                    <a16:rowId xmlns:a16="http://schemas.microsoft.com/office/drawing/2014/main" val="4207697039"/>
                  </a:ext>
                </a:extLst>
              </a:tr>
              <a:tr h="370840">
                <a:tc>
                  <a:txBody>
                    <a:bodyPr/>
                    <a:lstStyle/>
                    <a:p>
                      <a:pPr algn="ctr"/>
                      <a:r>
                        <a:rPr lang="en-US" sz="1100" b="1" dirty="0"/>
                        <a:t>THRIVES IN STAGNATED ROLES </a:t>
                      </a:r>
                    </a:p>
                  </a:txBody>
                  <a:tcPr anchor="ctr"/>
                </a:tc>
                <a:tc>
                  <a:txBody>
                    <a:bodyPr/>
                    <a:lstStyle/>
                    <a:p>
                      <a:pPr algn="ctr"/>
                      <a:r>
                        <a:rPr lang="en-US" sz="1100" b="1" dirty="0"/>
                        <a:t>A DESTROYER </a:t>
                      </a:r>
                    </a:p>
                  </a:txBody>
                  <a:tcPr anchor="ctr"/>
                </a:tc>
                <a:tc vMerge="1">
                  <a:txBody>
                    <a:bodyPr/>
                    <a:lstStyle/>
                    <a:p>
                      <a:endParaRPr lang="en-US" dirty="0"/>
                    </a:p>
                  </a:txBody>
                  <a:tcPr/>
                </a:tc>
                <a:extLst>
                  <a:ext uri="{0D108BD9-81ED-4DB2-BD59-A6C34878D82A}">
                    <a16:rowId xmlns:a16="http://schemas.microsoft.com/office/drawing/2014/main" val="729901320"/>
                  </a:ext>
                </a:extLst>
              </a:tr>
              <a:tr h="370840">
                <a:tc>
                  <a:txBody>
                    <a:bodyPr/>
                    <a:lstStyle/>
                    <a:p>
                      <a:pPr algn="ctr"/>
                      <a:r>
                        <a:rPr lang="en-US" sz="1100" b="1" dirty="0"/>
                        <a:t>GREED DRIVEN</a:t>
                      </a:r>
                    </a:p>
                  </a:txBody>
                  <a:tcPr anchor="ctr"/>
                </a:tc>
                <a:tc>
                  <a:txBody>
                    <a:bodyPr/>
                    <a:lstStyle/>
                    <a:p>
                      <a:pPr algn="ctr"/>
                      <a:r>
                        <a:rPr lang="en-US" sz="1100" b="1" dirty="0"/>
                        <a:t>WANTS TO BE LIKED AND ADMIRED </a:t>
                      </a:r>
                    </a:p>
                  </a:txBody>
                  <a:tcPr anchor="ctr">
                    <a:solidFill>
                      <a:srgbClr val="FFC000"/>
                    </a:solidFill>
                  </a:tcPr>
                </a:tc>
                <a:tc vMerge="1">
                  <a:txBody>
                    <a:bodyPr/>
                    <a:lstStyle/>
                    <a:p>
                      <a:endParaRPr lang="en-US" dirty="0"/>
                    </a:p>
                  </a:txBody>
                  <a:tcPr/>
                </a:tc>
                <a:extLst>
                  <a:ext uri="{0D108BD9-81ED-4DB2-BD59-A6C34878D82A}">
                    <a16:rowId xmlns:a16="http://schemas.microsoft.com/office/drawing/2014/main" val="1042100184"/>
                  </a:ext>
                </a:extLst>
              </a:tr>
              <a:tr h="370840">
                <a:tc>
                  <a:txBody>
                    <a:bodyPr/>
                    <a:lstStyle/>
                    <a:p>
                      <a:pPr algn="ctr"/>
                      <a:r>
                        <a:rPr lang="en-US" sz="1100" b="1" dirty="0"/>
                        <a:t>LONE WOLF (UNLESS WORKING IN A WOLF PACK)</a:t>
                      </a:r>
                    </a:p>
                  </a:txBody>
                  <a:tcPr anchor="ctr"/>
                </a:tc>
                <a:tc>
                  <a:txBody>
                    <a:bodyPr/>
                    <a:lstStyle/>
                    <a:p>
                      <a:pPr algn="ctr"/>
                      <a:r>
                        <a:rPr lang="en-US" sz="1100" b="1" dirty="0"/>
                        <a:t>AVOIDS OVERSITE AS MUCH AS POSSIBLE </a:t>
                      </a:r>
                    </a:p>
                  </a:txBody>
                  <a:tcPr anchor="ctr">
                    <a:solidFill>
                      <a:srgbClr val="FFC000"/>
                    </a:solidFill>
                  </a:tcPr>
                </a:tc>
                <a:tc vMerge="1">
                  <a:txBody>
                    <a:bodyPr/>
                    <a:lstStyle/>
                    <a:p>
                      <a:endParaRPr lang="en-US" dirty="0"/>
                    </a:p>
                  </a:txBody>
                  <a:tcPr/>
                </a:tc>
                <a:extLst>
                  <a:ext uri="{0D108BD9-81ED-4DB2-BD59-A6C34878D82A}">
                    <a16:rowId xmlns:a16="http://schemas.microsoft.com/office/drawing/2014/main" val="983259082"/>
                  </a:ext>
                </a:extLst>
              </a:tr>
            </a:tbl>
          </a:graphicData>
        </a:graphic>
      </p:graphicFrame>
      <p:graphicFrame>
        <p:nvGraphicFramePr>
          <p:cNvPr id="37" name="Table 7">
            <a:extLst>
              <a:ext uri="{FF2B5EF4-FFF2-40B4-BE49-F238E27FC236}">
                <a16:creationId xmlns:a16="http://schemas.microsoft.com/office/drawing/2014/main" id="{8B6665AA-A946-43C8-BA70-E5D7C8EE809D}"/>
              </a:ext>
            </a:extLst>
          </p:cNvPr>
          <p:cNvGraphicFramePr>
            <a:graphicFrameLocks noGrp="1"/>
          </p:cNvGraphicFramePr>
          <p:nvPr/>
        </p:nvGraphicFramePr>
        <p:xfrm>
          <a:off x="4865663" y="5053839"/>
          <a:ext cx="5926384" cy="944880"/>
        </p:xfrm>
        <a:graphic>
          <a:graphicData uri="http://schemas.openxmlformats.org/drawingml/2006/table">
            <a:tbl>
              <a:tblPr firstRow="1" bandRow="1">
                <a:tableStyleId>{5C22544A-7EE6-4342-B048-85BDC9FD1C3A}</a:tableStyleId>
              </a:tblPr>
              <a:tblGrid>
                <a:gridCol w="2963192">
                  <a:extLst>
                    <a:ext uri="{9D8B030D-6E8A-4147-A177-3AD203B41FA5}">
                      <a16:colId xmlns:a16="http://schemas.microsoft.com/office/drawing/2014/main" val="1028654853"/>
                    </a:ext>
                  </a:extLst>
                </a:gridCol>
                <a:gridCol w="2963192">
                  <a:extLst>
                    <a:ext uri="{9D8B030D-6E8A-4147-A177-3AD203B41FA5}">
                      <a16:colId xmlns:a16="http://schemas.microsoft.com/office/drawing/2014/main" val="2159636558"/>
                    </a:ext>
                  </a:extLst>
                </a:gridCol>
              </a:tblGrid>
              <a:tr h="370840">
                <a:tc>
                  <a:txBody>
                    <a:bodyPr/>
                    <a:lstStyle/>
                    <a:p>
                      <a:pPr algn="ctr"/>
                      <a:r>
                        <a:rPr lang="en-US" dirty="0">
                          <a:solidFill>
                            <a:srgbClr val="C00000"/>
                          </a:solidFill>
                        </a:rPr>
                        <a:t>INSIGHT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400" dirty="0">
                          <a:solidFill>
                            <a:srgbClr val="C00000"/>
                          </a:solidFill>
                        </a:rPr>
                        <a:t>PAST HISTORY IS FULL OF DYSFUNCTION BUT THEY ARE ALWAYS THE GOOD GUYS IN EVERY STORY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823397659"/>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09820" y="1956478"/>
            <a:ext cx="8312727" cy="3740727"/>
          </a:xfrm>
          <a:prstGeom prst="rect">
            <a:avLst/>
          </a:prstGeom>
          <a:solidFill>
            <a:schemeClr val="bg1"/>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cap="small" dirty="0">
                <a:solidFill>
                  <a:srgbClr val="FF0000"/>
                </a:solidFill>
              </a:rPr>
              <a:t>WASP</a:t>
            </a:r>
          </a:p>
          <a:p>
            <a:pPr algn="ctr"/>
            <a:endParaRPr lang="en-GB" cap="small" dirty="0">
              <a:solidFill>
                <a:srgbClr val="FF0000"/>
              </a:solidFill>
            </a:endParaRPr>
          </a:p>
          <a:p>
            <a:pPr algn="ctr"/>
            <a:r>
              <a:rPr lang="en-US" cap="small" dirty="0">
                <a:solidFill>
                  <a:srgbClr val="FF0000"/>
                </a:solidFill>
              </a:rPr>
              <a:t>Selfish and full of schemes to subvert systems and processes, thrives in chaos and thus will oppose any effort to improve system efficiency and transparency, feeds off process loopholes and grows in an environment full of dis unity.</a:t>
            </a:r>
          </a:p>
          <a:p>
            <a:pPr algn="ctr"/>
            <a:endParaRPr lang="en-US" cap="small" dirty="0">
              <a:solidFill>
                <a:srgbClr val="FF0000"/>
              </a:solidFill>
            </a:endParaRPr>
          </a:p>
          <a:p>
            <a:pPr algn="ctr"/>
            <a:r>
              <a:rPr lang="en-US" cap="small" dirty="0">
                <a:solidFill>
                  <a:srgbClr val="FF0000"/>
                </a:solidFill>
              </a:rPr>
              <a:t>Has the heart of a </a:t>
            </a:r>
            <a:r>
              <a:rPr lang="en-US" cap="small" dirty="0" err="1">
                <a:solidFill>
                  <a:srgbClr val="FF0000"/>
                </a:solidFill>
              </a:rPr>
              <a:t>traotor</a:t>
            </a:r>
            <a:br>
              <a:rPr lang="en-US" cap="small" dirty="0">
                <a:solidFill>
                  <a:srgbClr val="FF0000"/>
                </a:solidFill>
              </a:rPr>
            </a:br>
            <a:r>
              <a:rPr lang="en-US" cap="small" dirty="0">
                <a:solidFill>
                  <a:srgbClr val="FF0000"/>
                </a:solidFill>
              </a:rPr>
              <a:t> </a:t>
            </a:r>
            <a:br>
              <a:rPr lang="en-US" cap="small" dirty="0">
                <a:solidFill>
                  <a:srgbClr val="FF0000"/>
                </a:solidFill>
              </a:rPr>
            </a:br>
            <a:endParaRPr lang="en-GB" cap="small" dirty="0">
              <a:solidFill>
                <a:srgbClr val="FF0000"/>
              </a:solidFill>
            </a:endParaRPr>
          </a:p>
        </p:txBody>
      </p:sp>
      <p:sp>
        <p:nvSpPr>
          <p:cNvPr id="6" name="Heart 5"/>
          <p:cNvSpPr/>
          <p:nvPr/>
        </p:nvSpPr>
        <p:spPr>
          <a:xfrm>
            <a:off x="8436942" y="4670536"/>
            <a:ext cx="914400" cy="914400"/>
          </a:xfrm>
          <a:prstGeom prst="heart">
            <a:avLst/>
          </a:prstGeom>
          <a:solidFill>
            <a:schemeClr val="tx1"/>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 name="Picture 2"/>
          <p:cNvPicPr>
            <a:picLocks noChangeAspect="1" noChangeArrowheads="1"/>
          </p:cNvPicPr>
          <p:nvPr/>
        </p:nvPicPr>
        <p:blipFill>
          <a:blip r:embed="rId2" cstate="print"/>
          <a:srcRect/>
          <a:stretch>
            <a:fillRect/>
          </a:stretch>
        </p:blipFill>
        <p:spPr bwMode="auto">
          <a:xfrm>
            <a:off x="4289517" y="563017"/>
            <a:ext cx="2517816" cy="1937982"/>
          </a:xfrm>
          <a:prstGeom prst="rect">
            <a:avLst/>
          </a:prstGeom>
          <a:noFill/>
          <a:ln w="9525">
            <a:noFill/>
            <a:miter lim="800000"/>
            <a:headEnd/>
            <a:tailEnd/>
          </a:ln>
        </p:spPr>
      </p:pic>
    </p:spTree>
    <p:extLst>
      <p:ext uri="{BB962C8B-B14F-4D97-AF65-F5344CB8AC3E}">
        <p14:creationId xmlns:p14="http://schemas.microsoft.com/office/powerpoint/2010/main" val="10721969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609060" y="4586057"/>
            <a:ext cx="9144000" cy="1931702"/>
          </a:xfrm>
        </p:spPr>
        <p:txBody>
          <a:bodyPr>
            <a:normAutofit/>
          </a:bodyPr>
          <a:lstStyle/>
          <a:p>
            <a:r>
              <a:rPr lang="en-US" sz="6000" b="1" dirty="0"/>
              <a:t>SKILL CARDS </a:t>
            </a:r>
            <a:endParaRPr lang="en-US" sz="6000" b="1" dirty="0">
              <a:solidFill>
                <a:srgbClr val="FF0000"/>
              </a:solidFill>
            </a:endParaRPr>
          </a:p>
          <a:p>
            <a:r>
              <a:rPr lang="en-US" sz="3600" b="1" dirty="0">
                <a:solidFill>
                  <a:srgbClr val="FF0000"/>
                </a:solidFill>
              </a:rPr>
              <a:t>ICE (INTEREST CAPTURE ENGINE)</a:t>
            </a:r>
          </a:p>
        </p:txBody>
      </p:sp>
      <p:pic>
        <p:nvPicPr>
          <p:cNvPr id="4" name="Picture 3"/>
          <p:cNvPicPr>
            <a:picLocks noChangeAspect="1"/>
          </p:cNvPicPr>
          <p:nvPr/>
        </p:nvPicPr>
        <p:blipFill>
          <a:blip r:embed="rId2" cstate="print"/>
          <a:stretch>
            <a:fillRect/>
          </a:stretch>
        </p:blipFill>
        <p:spPr>
          <a:xfrm>
            <a:off x="2865175" y="597040"/>
            <a:ext cx="5837391" cy="3832122"/>
          </a:xfrm>
          <a:prstGeom prst="rect">
            <a:avLst/>
          </a:prstGeom>
          <a:effectLst>
            <a:outerShdw blurRad="50800" dist="38100" dir="8100000" algn="tr" rotWithShape="0">
              <a:prstClr val="black">
                <a:alpha val="40000"/>
              </a:prstClr>
            </a:outerShdw>
          </a:effectLst>
        </p:spPr>
      </p:pic>
      <p:pic>
        <p:nvPicPr>
          <p:cNvPr id="5" name="Picture 2"/>
          <p:cNvPicPr>
            <a:picLocks noChangeAspect="1" noChangeArrowheads="1"/>
          </p:cNvPicPr>
          <p:nvPr/>
        </p:nvPicPr>
        <p:blipFill>
          <a:blip r:embed="rId3" cstate="print"/>
          <a:srcRect/>
          <a:stretch>
            <a:fillRect/>
          </a:stretch>
        </p:blipFill>
        <p:spPr bwMode="auto">
          <a:xfrm>
            <a:off x="10858427" y="0"/>
            <a:ext cx="1188261" cy="3392486"/>
          </a:xfrm>
          <a:prstGeom prst="rect">
            <a:avLst/>
          </a:prstGeom>
          <a:noFill/>
          <a:ln w="9525">
            <a:noFill/>
            <a:miter lim="800000"/>
            <a:headEnd/>
            <a:tailEnd/>
          </a:ln>
        </p:spPr>
      </p:pic>
    </p:spTree>
    <p:extLst>
      <p:ext uri="{BB962C8B-B14F-4D97-AF65-F5344CB8AC3E}">
        <p14:creationId xmlns:p14="http://schemas.microsoft.com/office/powerpoint/2010/main" val="13286988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Group 30"/>
          <p:cNvGrpSpPr/>
          <p:nvPr/>
        </p:nvGrpSpPr>
        <p:grpSpPr>
          <a:xfrm>
            <a:off x="95250" y="221662"/>
            <a:ext cx="9582152" cy="6283043"/>
            <a:chOff x="95250" y="221662"/>
            <a:chExt cx="9582152" cy="6283043"/>
          </a:xfrm>
        </p:grpSpPr>
        <p:sp>
          <p:nvSpPr>
            <p:cNvPr id="13" name="Rounded Rectangle 12"/>
            <p:cNvSpPr/>
            <p:nvPr/>
          </p:nvSpPr>
          <p:spPr>
            <a:xfrm>
              <a:off x="4918364" y="221662"/>
              <a:ext cx="2022764" cy="1025236"/>
            </a:xfrm>
            <a:prstGeom prst="roundRect">
              <a:avLst/>
            </a:prstGeom>
            <a:solidFill>
              <a:schemeClr val="bg1">
                <a:lumMod val="95000"/>
              </a:schemeClr>
            </a:solidFill>
            <a:ln w="762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solidFill>
                    <a:srgbClr val="FF0000"/>
                  </a:solidFill>
                </a:rPr>
                <a:t>1.</a:t>
              </a:r>
            </a:p>
            <a:p>
              <a:pPr algn="ctr"/>
              <a:r>
                <a:rPr lang="en-GB" sz="2000" b="1" dirty="0">
                  <a:solidFill>
                    <a:schemeClr val="tx1"/>
                  </a:solidFill>
                </a:rPr>
                <a:t>0</a:t>
              </a:r>
              <a:r>
                <a:rPr lang="en-GB" sz="1200" b="1" dirty="0">
                  <a:solidFill>
                    <a:srgbClr val="FF0000"/>
                  </a:solidFill>
                </a:rPr>
                <a:t> CONCEPTUAL </a:t>
              </a:r>
            </a:p>
            <a:p>
              <a:pPr algn="ctr"/>
              <a:r>
                <a:rPr lang="en-GB" sz="600" b="1" dirty="0">
                  <a:solidFill>
                    <a:srgbClr val="FF0000"/>
                  </a:solidFill>
                </a:rPr>
                <a:t>(IDEAS, MODELS &amp; PLANS) </a:t>
              </a:r>
            </a:p>
          </p:txBody>
        </p:sp>
        <p:cxnSp>
          <p:nvCxnSpPr>
            <p:cNvPr id="21" name="Straight Arrow Connector 20"/>
            <p:cNvCxnSpPr>
              <a:stCxn id="4" idx="0"/>
              <a:endCxn id="13" idx="2"/>
            </p:cNvCxnSpPr>
            <p:nvPr/>
          </p:nvCxnSpPr>
          <p:spPr>
            <a:xfrm flipV="1">
              <a:off x="5929746" y="1246898"/>
              <a:ext cx="0" cy="51263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0" name="Rounded Rectangle 29"/>
            <p:cNvSpPr/>
            <p:nvPr/>
          </p:nvSpPr>
          <p:spPr>
            <a:xfrm>
              <a:off x="7654638" y="1939636"/>
              <a:ext cx="2022764" cy="1025236"/>
            </a:xfrm>
            <a:prstGeom prst="roundRect">
              <a:avLst/>
            </a:prstGeom>
            <a:solidFill>
              <a:schemeClr val="bg1">
                <a:lumMod val="95000"/>
              </a:schemeClr>
            </a:solidFill>
            <a:ln w="762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solidFill>
                    <a:srgbClr val="FF0000"/>
                  </a:solidFill>
                </a:rPr>
                <a:t>3.</a:t>
              </a:r>
            </a:p>
            <a:p>
              <a:pPr algn="ctr"/>
              <a:r>
                <a:rPr lang="en-GB" sz="2000" b="1" dirty="0">
                  <a:solidFill>
                    <a:schemeClr val="tx1"/>
                  </a:solidFill>
                </a:rPr>
                <a:t>+</a:t>
              </a:r>
              <a:r>
                <a:rPr lang="en-GB" sz="1200" b="1" dirty="0">
                  <a:solidFill>
                    <a:srgbClr val="FF0000"/>
                  </a:solidFill>
                </a:rPr>
                <a:t> CONNECT</a:t>
              </a:r>
            </a:p>
            <a:p>
              <a:pPr algn="ctr"/>
              <a:r>
                <a:rPr lang="en-GB" sz="600" b="1" dirty="0">
                  <a:solidFill>
                    <a:srgbClr val="FF0000"/>
                  </a:solidFill>
                </a:rPr>
                <a:t>(CASH BASED VALUE ADD RELATIONSHIPS) </a:t>
              </a:r>
            </a:p>
          </p:txBody>
        </p:sp>
        <p:sp>
          <p:nvSpPr>
            <p:cNvPr id="32" name="Rounded Rectangle 31"/>
            <p:cNvSpPr/>
            <p:nvPr/>
          </p:nvSpPr>
          <p:spPr>
            <a:xfrm>
              <a:off x="7654638" y="3692235"/>
              <a:ext cx="2022764" cy="1025236"/>
            </a:xfrm>
            <a:prstGeom prst="roundRect">
              <a:avLst/>
            </a:prstGeom>
            <a:solidFill>
              <a:schemeClr val="bg1">
                <a:lumMod val="95000"/>
              </a:schemeClr>
            </a:solidFill>
            <a:ln w="762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solidFill>
                    <a:srgbClr val="FF0000"/>
                  </a:solidFill>
                </a:rPr>
                <a:t>4.</a:t>
              </a:r>
            </a:p>
            <a:p>
              <a:pPr algn="ctr"/>
              <a:r>
                <a:rPr lang="en-GB" sz="2000" b="1" dirty="0">
                  <a:solidFill>
                    <a:schemeClr val="tx1"/>
                  </a:solidFill>
                </a:rPr>
                <a:t>x</a:t>
              </a:r>
              <a:r>
                <a:rPr lang="en-GB" sz="1200" b="1" dirty="0">
                  <a:solidFill>
                    <a:srgbClr val="FF0000"/>
                  </a:solidFill>
                </a:rPr>
                <a:t> SYNERGY</a:t>
              </a:r>
            </a:p>
            <a:p>
              <a:pPr algn="ctr"/>
              <a:r>
                <a:rPr lang="en-GB" sz="600" b="1" dirty="0">
                  <a:solidFill>
                    <a:srgbClr val="FF0000"/>
                  </a:solidFill>
                </a:rPr>
                <a:t>(VALUES BASED VALUE ADD RELATIONSHIPS) </a:t>
              </a:r>
            </a:p>
          </p:txBody>
        </p:sp>
        <p:sp>
          <p:nvSpPr>
            <p:cNvPr id="34" name="Rounded Rectangle 33"/>
            <p:cNvSpPr/>
            <p:nvPr/>
          </p:nvSpPr>
          <p:spPr>
            <a:xfrm>
              <a:off x="2182090" y="3692235"/>
              <a:ext cx="2022764" cy="1025236"/>
            </a:xfrm>
            <a:prstGeom prst="roundRect">
              <a:avLst/>
            </a:prstGeom>
            <a:solidFill>
              <a:schemeClr val="bg1">
                <a:lumMod val="95000"/>
              </a:schemeClr>
            </a:solidFill>
            <a:ln w="762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solidFill>
                    <a:srgbClr val="FF0000"/>
                  </a:solidFill>
                </a:rPr>
                <a:t>8.</a:t>
              </a:r>
            </a:p>
            <a:p>
              <a:pPr algn="ctr"/>
              <a:r>
                <a:rPr lang="en-GB" sz="2000" b="1" dirty="0">
                  <a:solidFill>
                    <a:schemeClr val="tx1"/>
                  </a:solidFill>
                </a:rPr>
                <a:t>&lt;</a:t>
              </a:r>
              <a:r>
                <a:rPr lang="en-GB" sz="1200" b="1" dirty="0">
                  <a:solidFill>
                    <a:srgbClr val="FF0000"/>
                  </a:solidFill>
                </a:rPr>
                <a:t> WEAKER THAN ENVIRONMENTAL</a:t>
              </a:r>
            </a:p>
            <a:p>
              <a:pPr algn="ctr"/>
              <a:r>
                <a:rPr lang="en-GB" sz="600" b="1" dirty="0">
                  <a:solidFill>
                    <a:srgbClr val="FF0000"/>
                  </a:solidFill>
                </a:rPr>
                <a:t>(UNDER INFLUENCE INTERNAL ENVIRONMENTAL IS WEAKER THAN EXTERNAL ENVIRONMENT) </a:t>
              </a:r>
            </a:p>
          </p:txBody>
        </p:sp>
        <p:sp>
          <p:nvSpPr>
            <p:cNvPr id="35" name="Rounded Rectangle 34"/>
            <p:cNvSpPr/>
            <p:nvPr/>
          </p:nvSpPr>
          <p:spPr>
            <a:xfrm>
              <a:off x="4918364" y="5479469"/>
              <a:ext cx="2022764" cy="1025236"/>
            </a:xfrm>
            <a:prstGeom prst="roundRect">
              <a:avLst/>
            </a:prstGeom>
            <a:solidFill>
              <a:schemeClr val="bg1">
                <a:lumMod val="95000"/>
              </a:schemeClr>
            </a:solidFill>
            <a:ln w="762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solidFill>
                    <a:srgbClr val="FF0000"/>
                  </a:solidFill>
                </a:rPr>
                <a:t>6.</a:t>
              </a:r>
            </a:p>
            <a:p>
              <a:pPr algn="ctr"/>
              <a:r>
                <a:rPr lang="en-GB" sz="2000" b="1" dirty="0">
                  <a:solidFill>
                    <a:schemeClr val="tx1"/>
                  </a:solidFill>
                </a:rPr>
                <a:t>&gt;</a:t>
              </a:r>
              <a:r>
                <a:rPr lang="en-GB" sz="1200" b="1" dirty="0">
                  <a:solidFill>
                    <a:schemeClr val="tx1"/>
                  </a:solidFill>
                </a:rPr>
                <a:t> </a:t>
              </a:r>
              <a:r>
                <a:rPr lang="en-GB" sz="1200" b="1" dirty="0">
                  <a:solidFill>
                    <a:srgbClr val="FF0000"/>
                  </a:solidFill>
                </a:rPr>
                <a:t>STRONGER THAN ENVIRONMENTAL</a:t>
              </a:r>
            </a:p>
            <a:p>
              <a:pPr algn="ctr"/>
              <a:r>
                <a:rPr lang="en-GB" sz="700" b="1" dirty="0">
                  <a:solidFill>
                    <a:srgbClr val="FF0000"/>
                  </a:solidFill>
                </a:rPr>
                <a:t>(IN CONTROL, INTERNAL ENVIRONMENT IS STRONGER THAN EXTERNAL ENVIRONMENT) </a:t>
              </a:r>
            </a:p>
          </p:txBody>
        </p:sp>
        <p:sp>
          <p:nvSpPr>
            <p:cNvPr id="36" name="Rounded Rectangle 35"/>
            <p:cNvSpPr/>
            <p:nvPr/>
          </p:nvSpPr>
          <p:spPr>
            <a:xfrm>
              <a:off x="2182090" y="1939636"/>
              <a:ext cx="2022764" cy="1025236"/>
            </a:xfrm>
            <a:prstGeom prst="roundRect">
              <a:avLst/>
            </a:prstGeom>
            <a:solidFill>
              <a:schemeClr val="bg1">
                <a:lumMod val="95000"/>
              </a:schemeClr>
            </a:solidFill>
            <a:ln w="762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solidFill>
                    <a:srgbClr val="FF0000"/>
                  </a:solidFill>
                </a:rPr>
                <a:t>9.</a:t>
              </a:r>
            </a:p>
            <a:p>
              <a:pPr algn="ctr"/>
              <a:r>
                <a:rPr lang="en-GB" sz="1050" b="1" dirty="0">
                  <a:solidFill>
                    <a:srgbClr val="FF0000"/>
                  </a:solidFill>
                </a:rPr>
                <a:t> SKILL SETS</a:t>
              </a:r>
            </a:p>
            <a:p>
              <a:pPr algn="ctr"/>
              <a:r>
                <a:rPr lang="en-GB" sz="700" b="1" dirty="0">
                  <a:solidFill>
                    <a:srgbClr val="FF0000"/>
                  </a:solidFill>
                </a:rPr>
                <a:t>(NEEDS IDENTIFICATION &amp; ASSESSMENT)</a:t>
              </a:r>
            </a:p>
          </p:txBody>
        </p:sp>
        <p:sp>
          <p:nvSpPr>
            <p:cNvPr id="37" name="Rounded Rectangle 36"/>
            <p:cNvSpPr/>
            <p:nvPr/>
          </p:nvSpPr>
          <p:spPr>
            <a:xfrm>
              <a:off x="2182090" y="360212"/>
              <a:ext cx="2022764" cy="1025236"/>
            </a:xfrm>
            <a:prstGeom prst="roundRect">
              <a:avLst/>
            </a:prstGeom>
            <a:solidFill>
              <a:schemeClr val="bg1">
                <a:lumMod val="95000"/>
              </a:schemeClr>
            </a:solidFill>
            <a:ln w="762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solidFill>
                    <a:srgbClr val="FF0000"/>
                  </a:solidFill>
                </a:rPr>
                <a:t>10.</a:t>
              </a:r>
            </a:p>
            <a:p>
              <a:pPr algn="ctr"/>
              <a:r>
                <a:rPr lang="en-GB" sz="1050" b="1" dirty="0">
                  <a:solidFill>
                    <a:srgbClr val="FF0000"/>
                  </a:solidFill>
                </a:rPr>
                <a:t> KNOWLEDGE AREAS</a:t>
              </a:r>
            </a:p>
            <a:p>
              <a:pPr algn="ctr"/>
              <a:r>
                <a:rPr lang="en-GB" sz="600" b="1" dirty="0">
                  <a:solidFill>
                    <a:srgbClr val="FF0000"/>
                  </a:solidFill>
                </a:rPr>
                <a:t>(NEEDS IDENTIFICATION &amp; ASSESSMENT)</a:t>
              </a:r>
            </a:p>
          </p:txBody>
        </p:sp>
        <p:sp>
          <p:nvSpPr>
            <p:cNvPr id="38" name="Rounded Rectangle 37"/>
            <p:cNvSpPr/>
            <p:nvPr/>
          </p:nvSpPr>
          <p:spPr>
            <a:xfrm>
              <a:off x="7647710" y="360212"/>
              <a:ext cx="2022764" cy="1025236"/>
            </a:xfrm>
            <a:prstGeom prst="roundRect">
              <a:avLst/>
            </a:prstGeom>
            <a:solidFill>
              <a:schemeClr val="bg1">
                <a:lumMod val="95000"/>
              </a:schemeClr>
            </a:solidFill>
            <a:ln w="762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solidFill>
                    <a:srgbClr val="FF0000"/>
                  </a:solidFill>
                </a:rPr>
                <a:t>2.</a:t>
              </a:r>
            </a:p>
            <a:p>
              <a:pPr algn="ctr"/>
              <a:r>
                <a:rPr lang="en-GB" sz="2000" b="1" dirty="0">
                  <a:solidFill>
                    <a:srgbClr val="FF0000"/>
                  </a:solidFill>
                </a:rPr>
                <a:t> </a:t>
              </a:r>
              <a:r>
                <a:rPr lang="en-GB" sz="2000" b="1" dirty="0">
                  <a:solidFill>
                    <a:schemeClr val="tx1"/>
                  </a:solidFill>
                </a:rPr>
                <a:t>-</a:t>
              </a:r>
              <a:r>
                <a:rPr lang="en-GB" sz="2000" b="1" dirty="0">
                  <a:solidFill>
                    <a:srgbClr val="FF0000"/>
                  </a:solidFill>
                </a:rPr>
                <a:t> </a:t>
              </a:r>
              <a:r>
                <a:rPr lang="en-GB" sz="1050" b="1" dirty="0">
                  <a:solidFill>
                    <a:srgbClr val="FF0000"/>
                  </a:solidFill>
                </a:rPr>
                <a:t>DISCONNECT</a:t>
              </a:r>
            </a:p>
            <a:p>
              <a:pPr algn="ctr"/>
              <a:r>
                <a:rPr lang="en-GB" sz="600" b="1" dirty="0">
                  <a:solidFill>
                    <a:srgbClr val="FF0000"/>
                  </a:solidFill>
                </a:rPr>
                <a:t>(NO VALUE ADD RELATIONSHIP)</a:t>
              </a:r>
            </a:p>
          </p:txBody>
        </p:sp>
        <p:sp>
          <p:nvSpPr>
            <p:cNvPr id="39" name="Rounded Rectangle 38"/>
            <p:cNvSpPr/>
            <p:nvPr/>
          </p:nvSpPr>
          <p:spPr>
            <a:xfrm>
              <a:off x="7654638" y="5444834"/>
              <a:ext cx="2022764" cy="1025236"/>
            </a:xfrm>
            <a:prstGeom prst="roundRect">
              <a:avLst/>
            </a:prstGeom>
            <a:solidFill>
              <a:schemeClr val="bg1">
                <a:lumMod val="95000"/>
              </a:schemeClr>
            </a:solidFill>
            <a:ln w="762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solidFill>
                    <a:srgbClr val="FF0000"/>
                  </a:solidFill>
                </a:rPr>
                <a:t>5.</a:t>
              </a:r>
            </a:p>
            <a:p>
              <a:pPr algn="ctr"/>
              <a:r>
                <a:rPr lang="en-GB" sz="1050" b="1" dirty="0">
                  <a:solidFill>
                    <a:srgbClr val="FF0000"/>
                  </a:solidFill>
                </a:rPr>
                <a:t> </a:t>
              </a:r>
              <a:r>
                <a:rPr lang="en-GB" sz="2000" b="1" dirty="0">
                  <a:solidFill>
                    <a:schemeClr val="tx1"/>
                  </a:solidFill>
                </a:rPr>
                <a:t>/</a:t>
              </a:r>
              <a:r>
                <a:rPr lang="en-GB" sz="1200" b="1" dirty="0">
                  <a:solidFill>
                    <a:srgbClr val="FF0000"/>
                  </a:solidFill>
                </a:rPr>
                <a:t> DYSFUNCTION</a:t>
              </a:r>
            </a:p>
            <a:p>
              <a:pPr algn="ctr"/>
              <a:r>
                <a:rPr lang="en-GB" sz="600" b="1" dirty="0">
                  <a:solidFill>
                    <a:srgbClr val="FF0000"/>
                  </a:solidFill>
                </a:rPr>
                <a:t>(NEGATIVE VALUE ADD RELATIONSHIP)</a:t>
              </a:r>
            </a:p>
          </p:txBody>
        </p:sp>
        <p:sp>
          <p:nvSpPr>
            <p:cNvPr id="40" name="Rounded Rectangle 39"/>
            <p:cNvSpPr/>
            <p:nvPr/>
          </p:nvSpPr>
          <p:spPr>
            <a:xfrm>
              <a:off x="2182090" y="5444834"/>
              <a:ext cx="2022764" cy="1025236"/>
            </a:xfrm>
            <a:prstGeom prst="roundRect">
              <a:avLst/>
            </a:prstGeom>
            <a:solidFill>
              <a:schemeClr val="bg1">
                <a:lumMod val="95000"/>
              </a:schemeClr>
            </a:solidFill>
            <a:ln w="762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solidFill>
                    <a:srgbClr val="FF0000"/>
                  </a:solidFill>
                </a:rPr>
                <a:t>7.</a:t>
              </a:r>
            </a:p>
            <a:p>
              <a:pPr algn="ctr"/>
              <a:r>
                <a:rPr lang="en-GB" sz="2000" b="1" dirty="0">
                  <a:solidFill>
                    <a:schemeClr val="tx1"/>
                  </a:solidFill>
                </a:rPr>
                <a:t>=</a:t>
              </a:r>
              <a:r>
                <a:rPr lang="en-GB" sz="1200" b="1" dirty="0">
                  <a:solidFill>
                    <a:srgbClr val="FF0000"/>
                  </a:solidFill>
                </a:rPr>
                <a:t> EQUILIBRIUM TO ENVIRONMENTAL</a:t>
              </a:r>
            </a:p>
            <a:p>
              <a:pPr algn="ctr"/>
              <a:r>
                <a:rPr lang="en-GB" sz="700" b="1" dirty="0">
                  <a:solidFill>
                    <a:srgbClr val="FF0000"/>
                  </a:solidFill>
                </a:rPr>
                <a:t>(EQUAL STRENGHT, INTERNAL ENVIRONMENT &amp; INTERNAL ENVIRONMENT ARE EQUAL) </a:t>
              </a:r>
            </a:p>
          </p:txBody>
        </p:sp>
        <p:cxnSp>
          <p:nvCxnSpPr>
            <p:cNvPr id="43" name="Straight Arrow Connector 42"/>
            <p:cNvCxnSpPr>
              <a:stCxn id="4" idx="0"/>
              <a:endCxn id="38" idx="2"/>
            </p:cNvCxnSpPr>
            <p:nvPr/>
          </p:nvCxnSpPr>
          <p:spPr>
            <a:xfrm flipV="1">
              <a:off x="5929746" y="1385448"/>
              <a:ext cx="2729346" cy="37408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p:nvPr/>
          </p:nvCxnSpPr>
          <p:spPr>
            <a:xfrm flipV="1">
              <a:off x="5929746" y="1385448"/>
              <a:ext cx="2729346" cy="37408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p:nvPr/>
          </p:nvCxnSpPr>
          <p:spPr>
            <a:xfrm flipV="1">
              <a:off x="5929746" y="1385448"/>
              <a:ext cx="2729346" cy="37408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stCxn id="4" idx="0"/>
              <a:endCxn id="37" idx="2"/>
            </p:cNvCxnSpPr>
            <p:nvPr/>
          </p:nvCxnSpPr>
          <p:spPr>
            <a:xfrm flipH="1" flipV="1">
              <a:off x="3193472" y="1385448"/>
              <a:ext cx="2736274" cy="37408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stCxn id="4" idx="3"/>
              <a:endCxn id="30" idx="1"/>
            </p:cNvCxnSpPr>
            <p:nvPr/>
          </p:nvCxnSpPr>
          <p:spPr>
            <a:xfrm flipV="1">
              <a:off x="6941128" y="2452254"/>
              <a:ext cx="713510" cy="89362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4" idx="3"/>
              <a:endCxn id="32" idx="1"/>
            </p:cNvCxnSpPr>
            <p:nvPr/>
          </p:nvCxnSpPr>
          <p:spPr>
            <a:xfrm>
              <a:off x="6941128" y="3345877"/>
              <a:ext cx="713510" cy="85897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stCxn id="4" idx="2"/>
              <a:endCxn id="35" idx="0"/>
            </p:cNvCxnSpPr>
            <p:nvPr/>
          </p:nvCxnSpPr>
          <p:spPr>
            <a:xfrm>
              <a:off x="5929746" y="4932222"/>
              <a:ext cx="0" cy="54724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4" idx="2"/>
              <a:endCxn id="39" idx="0"/>
            </p:cNvCxnSpPr>
            <p:nvPr/>
          </p:nvCxnSpPr>
          <p:spPr>
            <a:xfrm>
              <a:off x="5929746" y="4932222"/>
              <a:ext cx="2736274" cy="51261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p:nvPr/>
          </p:nvCxnSpPr>
          <p:spPr>
            <a:xfrm>
              <a:off x="5929746" y="4932222"/>
              <a:ext cx="2736274" cy="51261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a:stCxn id="4" idx="2"/>
              <a:endCxn id="40" idx="0"/>
            </p:cNvCxnSpPr>
            <p:nvPr/>
          </p:nvCxnSpPr>
          <p:spPr>
            <a:xfrm flipH="1">
              <a:off x="3193472" y="4932222"/>
              <a:ext cx="2736274" cy="51261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a:stCxn id="4" idx="1"/>
              <a:endCxn id="36" idx="3"/>
            </p:cNvCxnSpPr>
            <p:nvPr/>
          </p:nvCxnSpPr>
          <p:spPr>
            <a:xfrm flipH="1" flipV="1">
              <a:off x="4204854" y="2452254"/>
              <a:ext cx="713510" cy="89362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a:stCxn id="4" idx="1"/>
              <a:endCxn id="34" idx="3"/>
            </p:cNvCxnSpPr>
            <p:nvPr/>
          </p:nvCxnSpPr>
          <p:spPr>
            <a:xfrm flipH="1">
              <a:off x="4204854" y="3345877"/>
              <a:ext cx="713510" cy="85897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 name="Rounded Rectangle 3"/>
            <p:cNvSpPr/>
            <p:nvPr/>
          </p:nvSpPr>
          <p:spPr>
            <a:xfrm>
              <a:off x="4918364" y="1759531"/>
              <a:ext cx="2022764" cy="3172691"/>
            </a:xfrm>
            <a:prstGeom prst="roundRect">
              <a:avLst/>
            </a:prstGeom>
            <a:solidFill>
              <a:schemeClr val="bg1">
                <a:lumMod val="95000"/>
              </a:schemeClr>
            </a:solid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b="1" dirty="0">
                <a:solidFill>
                  <a:srgbClr val="FF0000"/>
                </a:solidFill>
              </a:endParaRPr>
            </a:p>
            <a:p>
              <a:pPr algn="ctr"/>
              <a:endParaRPr lang="en-GB" sz="1050" b="1" dirty="0">
                <a:solidFill>
                  <a:srgbClr val="FF0000"/>
                </a:solidFill>
              </a:endParaRPr>
            </a:p>
            <a:p>
              <a:pPr algn="ctr"/>
              <a:endParaRPr lang="en-GB" sz="1050" b="1" dirty="0">
                <a:solidFill>
                  <a:srgbClr val="FF0000"/>
                </a:solidFill>
              </a:endParaRPr>
            </a:p>
            <a:p>
              <a:pPr algn="ctr"/>
              <a:endParaRPr lang="en-GB" sz="1050" b="1" dirty="0">
                <a:solidFill>
                  <a:srgbClr val="FF0000"/>
                </a:solidFill>
              </a:endParaRPr>
            </a:p>
            <a:p>
              <a:pPr algn="ctr"/>
              <a:r>
                <a:rPr lang="en-GB" sz="1050" b="1" dirty="0">
                  <a:solidFill>
                    <a:srgbClr val="FF0000"/>
                  </a:solidFill>
                </a:rPr>
                <a:t>SKILL CARDS TOPOLOGY</a:t>
              </a:r>
            </a:p>
            <a:p>
              <a:pPr algn="ctr"/>
              <a:endParaRPr lang="en-GB" sz="1050" b="1" dirty="0">
                <a:solidFill>
                  <a:srgbClr val="FF0000"/>
                </a:solidFill>
              </a:endParaRPr>
            </a:p>
            <a:p>
              <a:pPr algn="ctr"/>
              <a:r>
                <a:rPr lang="en-GB" sz="1050" b="1" dirty="0">
                  <a:solidFill>
                    <a:srgbClr val="FF0000"/>
                  </a:solidFill>
                </a:rPr>
                <a:t>RELATIONAL</a:t>
              </a:r>
            </a:p>
            <a:p>
              <a:pPr algn="ctr"/>
              <a:r>
                <a:rPr lang="en-GB" sz="900" b="1" dirty="0">
                  <a:solidFill>
                    <a:srgbClr val="FF0000"/>
                  </a:solidFill>
                </a:rPr>
                <a:t>(CORPORATE VALUES)</a:t>
              </a:r>
            </a:p>
            <a:p>
              <a:pPr algn="ctr"/>
              <a:r>
                <a:rPr lang="en-GB" sz="1050" b="1" dirty="0">
                  <a:solidFill>
                    <a:srgbClr val="FF0000"/>
                  </a:solidFill>
                </a:rPr>
                <a:t>PEOPLE </a:t>
              </a:r>
            </a:p>
            <a:p>
              <a:pPr algn="ctr"/>
              <a:r>
                <a:rPr lang="en-GB" sz="900" b="1" dirty="0">
                  <a:solidFill>
                    <a:srgbClr val="FF0000"/>
                  </a:solidFill>
                </a:rPr>
                <a:t>(BUSINESS ECOSYSTEM)</a:t>
              </a:r>
            </a:p>
            <a:p>
              <a:pPr algn="ctr"/>
              <a:r>
                <a:rPr lang="en-GB" sz="1050" b="1" dirty="0">
                  <a:solidFill>
                    <a:srgbClr val="FF0000"/>
                  </a:solidFill>
                </a:rPr>
                <a:t>GIVE </a:t>
              </a:r>
            </a:p>
            <a:p>
              <a:pPr algn="ctr"/>
              <a:r>
                <a:rPr lang="en-GB" sz="900" b="1" dirty="0">
                  <a:solidFill>
                    <a:srgbClr val="FF0000"/>
                  </a:solidFill>
                </a:rPr>
                <a:t>(BUSINESS SYSTEMS)</a:t>
              </a:r>
            </a:p>
            <a:p>
              <a:pPr algn="ctr"/>
              <a:r>
                <a:rPr lang="en-GB" sz="1050" b="1" dirty="0">
                  <a:solidFill>
                    <a:srgbClr val="FF0000"/>
                  </a:solidFill>
                </a:rPr>
                <a:t>GET</a:t>
              </a:r>
            </a:p>
            <a:p>
              <a:pPr algn="ctr"/>
              <a:r>
                <a:rPr lang="en-GB" sz="900" b="1" dirty="0">
                  <a:solidFill>
                    <a:srgbClr val="FF0000"/>
                  </a:solidFill>
                </a:rPr>
                <a:t>(THE MARKETPLACE)</a:t>
              </a:r>
            </a:p>
            <a:p>
              <a:pPr algn="ctr"/>
              <a:endParaRPr lang="en-GB" sz="900" b="1" dirty="0">
                <a:solidFill>
                  <a:srgbClr val="FF0000"/>
                </a:solidFill>
              </a:endParaRPr>
            </a:p>
            <a:p>
              <a:pPr algn="ctr"/>
              <a:endParaRPr lang="en-GB" sz="900" b="1" dirty="0">
                <a:solidFill>
                  <a:srgbClr val="FF0000"/>
                </a:solidFill>
              </a:endParaRPr>
            </a:p>
            <a:p>
              <a:pPr algn="ctr"/>
              <a:r>
                <a:rPr lang="en-GB" sz="2400" b="1" dirty="0">
                  <a:solidFill>
                    <a:srgbClr val="FF0000"/>
                  </a:solidFill>
                </a:rPr>
                <a:t>SKILL SET</a:t>
              </a:r>
            </a:p>
          </p:txBody>
        </p:sp>
        <p:sp>
          <p:nvSpPr>
            <p:cNvPr id="26" name="TextBox 25"/>
            <p:cNvSpPr txBox="1"/>
            <p:nvPr/>
          </p:nvSpPr>
          <p:spPr>
            <a:xfrm>
              <a:off x="95250" y="285750"/>
              <a:ext cx="1910971" cy="1015663"/>
            </a:xfrm>
            <a:prstGeom prst="rect">
              <a:avLst/>
            </a:prstGeom>
            <a:noFill/>
          </p:spPr>
          <p:txBody>
            <a:bodyPr wrap="square" rtlCol="0">
              <a:spAutoFit/>
            </a:bodyPr>
            <a:lstStyle/>
            <a:p>
              <a:r>
                <a:rPr lang="en-US" sz="1200" b="1" dirty="0"/>
                <a:t>THE CARDS HOLD INFORMATION ON THE PARTICULAR SKILLS AND KNOWLEDGE AREAS (BUILDING BLOCKS)</a:t>
              </a:r>
            </a:p>
          </p:txBody>
        </p:sp>
        <p:grpSp>
          <p:nvGrpSpPr>
            <p:cNvPr id="29" name="Group 28"/>
            <p:cNvGrpSpPr/>
            <p:nvPr/>
          </p:nvGrpSpPr>
          <p:grpSpPr>
            <a:xfrm>
              <a:off x="5165763" y="1921785"/>
              <a:ext cx="1579417" cy="583910"/>
              <a:chOff x="5619140" y="1981160"/>
              <a:chExt cx="765357" cy="240946"/>
            </a:xfrm>
          </p:grpSpPr>
          <p:pic>
            <p:nvPicPr>
              <p:cNvPr id="27" name="Picture 26"/>
              <p:cNvPicPr>
                <a:picLocks noChangeAspect="1"/>
              </p:cNvPicPr>
              <p:nvPr/>
            </p:nvPicPr>
            <p:blipFill>
              <a:blip r:embed="rId2" cstate="print"/>
              <a:stretch>
                <a:fillRect/>
              </a:stretch>
            </p:blipFill>
            <p:spPr>
              <a:xfrm>
                <a:off x="5619140" y="1985023"/>
                <a:ext cx="408697" cy="237083"/>
              </a:xfrm>
              <a:prstGeom prst="rect">
                <a:avLst/>
              </a:prstGeom>
              <a:effectLst>
                <a:outerShdw blurRad="50800" dist="38100" dir="8100000" algn="tr" rotWithShape="0">
                  <a:prstClr val="black">
                    <a:alpha val="40000"/>
                  </a:prstClr>
                </a:outerShdw>
              </a:effectLst>
            </p:spPr>
          </p:pic>
          <p:sp>
            <p:nvSpPr>
              <p:cNvPr id="28" name="TextBox 27"/>
              <p:cNvSpPr txBox="1"/>
              <p:nvPr/>
            </p:nvSpPr>
            <p:spPr>
              <a:xfrm>
                <a:off x="5999124" y="1981160"/>
                <a:ext cx="385373" cy="190503"/>
              </a:xfrm>
              <a:prstGeom prst="rect">
                <a:avLst/>
              </a:prstGeom>
              <a:noFill/>
            </p:spPr>
            <p:txBody>
              <a:bodyPr wrap="square" rtlCol="0">
                <a:spAutoFit/>
              </a:bodyPr>
              <a:lstStyle/>
              <a:p>
                <a:r>
                  <a:rPr lang="en-US" sz="800" b="1" dirty="0"/>
                  <a:t>INTEREST CAPTURE ENGINE</a:t>
                </a:r>
              </a:p>
            </p:txBody>
          </p:sp>
        </p:grpSp>
      </p:grpSp>
    </p:spTree>
    <p:extLst>
      <p:ext uri="{BB962C8B-B14F-4D97-AF65-F5344CB8AC3E}">
        <p14:creationId xmlns:p14="http://schemas.microsoft.com/office/powerpoint/2010/main" val="31060880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1306286" y="769258"/>
            <a:ext cx="3207657" cy="5312228"/>
            <a:chOff x="1306286" y="769258"/>
            <a:chExt cx="3207657" cy="5312228"/>
          </a:xfrm>
        </p:grpSpPr>
        <p:sp>
          <p:nvSpPr>
            <p:cNvPr id="2" name="Rounded Rectangle 1"/>
            <p:cNvSpPr/>
            <p:nvPr/>
          </p:nvSpPr>
          <p:spPr>
            <a:xfrm>
              <a:off x="1306286" y="783771"/>
              <a:ext cx="3207657" cy="5297715"/>
            </a:xfrm>
            <a:prstGeom prst="roundRect">
              <a:avLst/>
            </a:prstGeom>
            <a:solidFill>
              <a:schemeClr val="bg1"/>
            </a:solidFill>
            <a:ln w="76200">
              <a:solidFill>
                <a:schemeClr val="bg1">
                  <a:lumMod val="6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 Same Side Corner Rectangle 2"/>
            <p:cNvSpPr/>
            <p:nvPr/>
          </p:nvSpPr>
          <p:spPr>
            <a:xfrm>
              <a:off x="1306286" y="769258"/>
              <a:ext cx="3207657" cy="1146626"/>
            </a:xfrm>
            <a:prstGeom prst="round2SameRect">
              <a:avLst/>
            </a:prstGeom>
            <a:solidFill>
              <a:srgbClr val="FFFF00"/>
            </a:solidFill>
            <a:ln w="762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R BONNIE" pitchFamily="2" charset="0"/>
                </a:rPr>
                <a:t>CORE VALUES</a:t>
              </a:r>
            </a:p>
          </p:txBody>
        </p:sp>
      </p:grpSp>
      <p:sp>
        <p:nvSpPr>
          <p:cNvPr id="12" name="TextBox 11"/>
          <p:cNvSpPr txBox="1"/>
          <p:nvPr/>
        </p:nvSpPr>
        <p:spPr>
          <a:xfrm>
            <a:off x="1392072" y="1948326"/>
            <a:ext cx="3070745" cy="400110"/>
          </a:xfrm>
          <a:prstGeom prst="rect">
            <a:avLst/>
          </a:prstGeom>
          <a:noFill/>
        </p:spPr>
        <p:txBody>
          <a:bodyPr wrap="square" rtlCol="0">
            <a:spAutoFit/>
          </a:bodyPr>
          <a:lstStyle/>
          <a:p>
            <a:pPr algn="ctr"/>
            <a:r>
              <a:rPr lang="en-US" sz="1000" b="1" dirty="0"/>
              <a:t>WHAT DO YOU BELIEVE?</a:t>
            </a:r>
          </a:p>
          <a:p>
            <a:pPr algn="ctr"/>
            <a:r>
              <a:rPr lang="en-US" sz="1000" b="1" dirty="0"/>
              <a:t>IT’S THE SOURCE OF VALUE, VISION AND CULTURE!</a:t>
            </a:r>
          </a:p>
        </p:txBody>
      </p:sp>
      <p:sp>
        <p:nvSpPr>
          <p:cNvPr id="13" name="TextBox 12"/>
          <p:cNvSpPr txBox="1"/>
          <p:nvPr/>
        </p:nvSpPr>
        <p:spPr>
          <a:xfrm>
            <a:off x="1623312" y="2451557"/>
            <a:ext cx="1051054" cy="400110"/>
          </a:xfrm>
          <a:prstGeom prst="rect">
            <a:avLst/>
          </a:prstGeom>
          <a:noFill/>
        </p:spPr>
        <p:txBody>
          <a:bodyPr wrap="square" rtlCol="0">
            <a:spAutoFit/>
          </a:bodyPr>
          <a:lstStyle/>
          <a:p>
            <a:pPr algn="ctr"/>
            <a:r>
              <a:rPr lang="en-US" sz="2000" b="1" dirty="0"/>
              <a:t>+20 </a:t>
            </a:r>
            <a:endParaRPr lang="en-US" sz="2800" b="1" dirty="0"/>
          </a:p>
        </p:txBody>
      </p:sp>
      <p:grpSp>
        <p:nvGrpSpPr>
          <p:cNvPr id="23" name="Group 22"/>
          <p:cNvGrpSpPr/>
          <p:nvPr/>
        </p:nvGrpSpPr>
        <p:grpSpPr>
          <a:xfrm>
            <a:off x="3228345" y="2486406"/>
            <a:ext cx="494604" cy="393799"/>
            <a:chOff x="2404984" y="2565778"/>
            <a:chExt cx="851338" cy="655093"/>
          </a:xfrm>
        </p:grpSpPr>
        <p:sp>
          <p:nvSpPr>
            <p:cNvPr id="21" name="5-Point Star 20"/>
            <p:cNvSpPr/>
            <p:nvPr/>
          </p:nvSpPr>
          <p:spPr>
            <a:xfrm>
              <a:off x="2470246" y="2565778"/>
              <a:ext cx="723330" cy="655093"/>
            </a:xfrm>
            <a:prstGeom prst="star5">
              <a:avLst/>
            </a:prstGeom>
            <a:solidFill>
              <a:srgbClr val="FFFF00"/>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dirty="0">
                <a:solidFill>
                  <a:schemeClr val="tx1"/>
                </a:solidFill>
              </a:endParaRPr>
            </a:p>
          </p:txBody>
        </p:sp>
        <p:sp>
          <p:nvSpPr>
            <p:cNvPr id="22" name="TextBox 21"/>
            <p:cNvSpPr txBox="1"/>
            <p:nvPr/>
          </p:nvSpPr>
          <p:spPr>
            <a:xfrm>
              <a:off x="2404984" y="2744777"/>
              <a:ext cx="851338" cy="392421"/>
            </a:xfrm>
            <a:prstGeom prst="rect">
              <a:avLst/>
            </a:prstGeom>
            <a:noFill/>
            <a:ln w="28575">
              <a:noFill/>
            </a:ln>
          </p:spPr>
          <p:txBody>
            <a:bodyPr wrap="square" rtlCol="0">
              <a:spAutoFit/>
            </a:bodyPr>
            <a:lstStyle/>
            <a:p>
              <a:pPr algn="ctr"/>
              <a:r>
                <a:rPr lang="en-US" sz="1100" b="1" dirty="0">
                  <a:solidFill>
                    <a:srgbClr val="FF0000"/>
                  </a:solidFill>
                </a:rPr>
                <a:t>x2</a:t>
              </a:r>
              <a:endParaRPr lang="en-US" sz="1400" b="1" dirty="0">
                <a:solidFill>
                  <a:srgbClr val="FF0000"/>
                </a:solidFill>
              </a:endParaRPr>
            </a:p>
          </p:txBody>
        </p:sp>
      </p:grpSp>
      <p:graphicFrame>
        <p:nvGraphicFramePr>
          <p:cNvPr id="30" name="Table 29"/>
          <p:cNvGraphicFramePr>
            <a:graphicFrameLocks noGrp="1"/>
          </p:cNvGraphicFramePr>
          <p:nvPr/>
        </p:nvGraphicFramePr>
        <p:xfrm>
          <a:off x="2204471" y="4213704"/>
          <a:ext cx="1271274" cy="914400"/>
        </p:xfrm>
        <a:graphic>
          <a:graphicData uri="http://schemas.openxmlformats.org/drawingml/2006/table">
            <a:tbl>
              <a:tblPr firstRow="1" bandRow="1">
                <a:tableStyleId>{5C22544A-7EE6-4342-B048-85BDC9FD1C3A}</a:tableStyleId>
              </a:tblPr>
              <a:tblGrid>
                <a:gridCol w="423758">
                  <a:extLst>
                    <a:ext uri="{9D8B030D-6E8A-4147-A177-3AD203B41FA5}">
                      <a16:colId xmlns:a16="http://schemas.microsoft.com/office/drawing/2014/main" val="20000"/>
                    </a:ext>
                  </a:extLst>
                </a:gridCol>
                <a:gridCol w="423758">
                  <a:extLst>
                    <a:ext uri="{9D8B030D-6E8A-4147-A177-3AD203B41FA5}">
                      <a16:colId xmlns:a16="http://schemas.microsoft.com/office/drawing/2014/main" val="20001"/>
                    </a:ext>
                  </a:extLst>
                </a:gridCol>
                <a:gridCol w="423758">
                  <a:extLst>
                    <a:ext uri="{9D8B030D-6E8A-4147-A177-3AD203B41FA5}">
                      <a16:colId xmlns:a16="http://schemas.microsoft.com/office/drawing/2014/main" val="20002"/>
                    </a:ext>
                  </a:extLst>
                </a:gridCol>
              </a:tblGrid>
              <a:tr h="198809">
                <a:tc gridSpan="2">
                  <a:txBody>
                    <a:bodyPr/>
                    <a:lstStyle/>
                    <a:p>
                      <a:pPr algn="ctr"/>
                      <a:r>
                        <a:rPr lang="en-US" sz="600" dirty="0">
                          <a:solidFill>
                            <a:schemeClr val="tx1"/>
                          </a:solidFill>
                        </a:rPr>
                        <a:t>RISK WEIGHT PENALTY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600" dirty="0">
                          <a:solidFill>
                            <a:schemeClr val="tx1"/>
                          </a:solidFill>
                        </a:rPr>
                        <a:t>RISK SCORE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198809">
                <a:tc>
                  <a:txBody>
                    <a:bodyPr/>
                    <a:lstStyle/>
                    <a:p>
                      <a:pPr algn="ctr"/>
                      <a:r>
                        <a:rPr lang="en-US" sz="800" dirty="0">
                          <a:solidFill>
                            <a:schemeClr val="tx1"/>
                          </a:solidFill>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sz="800" dirty="0">
                          <a:solidFill>
                            <a:schemeClr val="tx1"/>
                          </a:solidFill>
                        </a:rPr>
                        <a:t>-60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sz="80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0001"/>
                  </a:ext>
                </a:extLst>
              </a:tr>
              <a:tr h="198809">
                <a:tc>
                  <a:txBody>
                    <a:bodyPr/>
                    <a:lstStyle/>
                    <a:p>
                      <a:pPr algn="ctr"/>
                      <a:r>
                        <a:rPr lang="en-US" sz="80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algn="ctr"/>
                      <a:r>
                        <a:rPr lang="en-US" sz="800" dirty="0">
                          <a:solidFill>
                            <a:schemeClr val="tx1"/>
                          </a:solidFill>
                        </a:rPr>
                        <a:t>-40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algn="ctr"/>
                      <a:r>
                        <a:rPr lang="en-US" sz="80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10002"/>
                  </a:ext>
                </a:extLst>
              </a:tr>
              <a:tr h="198809">
                <a:tc>
                  <a:txBody>
                    <a:bodyPr/>
                    <a:lstStyle/>
                    <a:p>
                      <a:pPr algn="ctr"/>
                      <a:r>
                        <a:rPr lang="en-US" sz="80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80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80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003"/>
                  </a:ext>
                </a:extLst>
              </a:tr>
            </a:tbl>
          </a:graphicData>
        </a:graphic>
      </p:graphicFrame>
      <p:sp>
        <p:nvSpPr>
          <p:cNvPr id="35" name="Oval 34">
            <a:extLst>
              <a:ext uri="{FF2B5EF4-FFF2-40B4-BE49-F238E27FC236}">
                <a16:creationId xmlns:a16="http://schemas.microsoft.com/office/drawing/2014/main" id="{F625453B-1D56-430F-A8F0-D7BB3E530E54}"/>
              </a:ext>
            </a:extLst>
          </p:cNvPr>
          <p:cNvSpPr/>
          <p:nvPr/>
        </p:nvSpPr>
        <p:spPr>
          <a:xfrm>
            <a:off x="2208799" y="5680826"/>
            <a:ext cx="285008" cy="308759"/>
          </a:xfrm>
          <a:prstGeom prst="ellipse">
            <a:avLst/>
          </a:prstGeom>
          <a:solidFill>
            <a:srgbClr val="FFFF00"/>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79AA500A-68DE-4618-8F53-6CF67DE8E796}"/>
              </a:ext>
            </a:extLst>
          </p:cNvPr>
          <p:cNvSpPr/>
          <p:nvPr/>
        </p:nvSpPr>
        <p:spPr>
          <a:xfrm>
            <a:off x="2361197" y="5583845"/>
            <a:ext cx="285008" cy="308759"/>
          </a:xfrm>
          <a:prstGeom prst="ellipse">
            <a:avLst/>
          </a:prstGeom>
          <a:solidFill>
            <a:srgbClr val="7030A0"/>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1BC26D4A-D866-408C-8E77-4775559B3006}"/>
              </a:ext>
            </a:extLst>
          </p:cNvPr>
          <p:cNvSpPr/>
          <p:nvPr/>
        </p:nvSpPr>
        <p:spPr>
          <a:xfrm>
            <a:off x="2477975" y="5676867"/>
            <a:ext cx="285008" cy="308759"/>
          </a:xfrm>
          <a:prstGeom prst="ellipse">
            <a:avLst/>
          </a:prstGeom>
          <a:solidFill>
            <a:srgbClr val="FFFF00"/>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Equal 56">
            <a:extLst>
              <a:ext uri="{FF2B5EF4-FFF2-40B4-BE49-F238E27FC236}">
                <a16:creationId xmlns:a16="http://schemas.microsoft.com/office/drawing/2014/main" id="{D11C09FA-44FD-4178-AC57-2B2422A6ABB7}"/>
              </a:ext>
            </a:extLst>
          </p:cNvPr>
          <p:cNvSpPr/>
          <p:nvPr/>
        </p:nvSpPr>
        <p:spPr>
          <a:xfrm>
            <a:off x="2814440" y="5680825"/>
            <a:ext cx="320636" cy="237507"/>
          </a:xfrm>
          <a:prstGeom prst="mathEqual">
            <a:avLst/>
          </a:prstGeom>
          <a:solidFill>
            <a:schemeClr val="tx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9" name="TextBox 38">
            <a:extLst>
              <a:ext uri="{FF2B5EF4-FFF2-40B4-BE49-F238E27FC236}">
                <a16:creationId xmlns:a16="http://schemas.microsoft.com/office/drawing/2014/main" id="{286D3B6E-FF62-4F23-A427-EE4D08EA0A57}"/>
              </a:ext>
            </a:extLst>
          </p:cNvPr>
          <p:cNvSpPr txBox="1"/>
          <p:nvPr/>
        </p:nvSpPr>
        <p:spPr>
          <a:xfrm>
            <a:off x="3051961" y="5635986"/>
            <a:ext cx="1163779" cy="338554"/>
          </a:xfrm>
          <a:prstGeom prst="rect">
            <a:avLst/>
          </a:prstGeom>
          <a:noFill/>
        </p:spPr>
        <p:txBody>
          <a:bodyPr wrap="square" rtlCol="0">
            <a:spAutoFit/>
          </a:bodyPr>
          <a:lstStyle/>
          <a:p>
            <a:r>
              <a:rPr lang="en-US" sz="1600" b="1" dirty="0"/>
              <a:t>x3 &amp; x5</a:t>
            </a:r>
          </a:p>
        </p:txBody>
      </p:sp>
      <p:sp>
        <p:nvSpPr>
          <p:cNvPr id="40" name="TextBox 39">
            <a:extLst>
              <a:ext uri="{FF2B5EF4-FFF2-40B4-BE49-F238E27FC236}">
                <a16:creationId xmlns:a16="http://schemas.microsoft.com/office/drawing/2014/main" id="{47EB8A14-EDED-4A8D-A38F-2796F6ABF12C}"/>
              </a:ext>
            </a:extLst>
          </p:cNvPr>
          <p:cNvSpPr txBox="1"/>
          <p:nvPr/>
        </p:nvSpPr>
        <p:spPr>
          <a:xfrm>
            <a:off x="2208799" y="5274069"/>
            <a:ext cx="1995213" cy="246221"/>
          </a:xfrm>
          <a:prstGeom prst="rect">
            <a:avLst/>
          </a:prstGeom>
          <a:noFill/>
        </p:spPr>
        <p:txBody>
          <a:bodyPr wrap="square" rtlCol="0">
            <a:spAutoFit/>
          </a:bodyPr>
          <a:lstStyle/>
          <a:p>
            <a:pPr algn="ctr"/>
            <a:r>
              <a:rPr lang="en-US" sz="1000" b="1" dirty="0"/>
              <a:t>KEY:  </a:t>
            </a:r>
          </a:p>
        </p:txBody>
      </p:sp>
      <p:sp>
        <p:nvSpPr>
          <p:cNvPr id="41" name="Oval 40">
            <a:extLst>
              <a:ext uri="{FF2B5EF4-FFF2-40B4-BE49-F238E27FC236}">
                <a16:creationId xmlns:a16="http://schemas.microsoft.com/office/drawing/2014/main" id="{6A126557-3C16-4B81-A61A-A921BECA197E}"/>
              </a:ext>
            </a:extLst>
          </p:cNvPr>
          <p:cNvSpPr/>
          <p:nvPr/>
        </p:nvSpPr>
        <p:spPr>
          <a:xfrm>
            <a:off x="3390398" y="5248068"/>
            <a:ext cx="255327" cy="267202"/>
          </a:xfrm>
          <a:prstGeom prst="ellipse">
            <a:avLst/>
          </a:prstGeom>
          <a:solidFill>
            <a:schemeClr val="tx1"/>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2" name="Group 19">
            <a:extLst>
              <a:ext uri="{FF2B5EF4-FFF2-40B4-BE49-F238E27FC236}">
                <a16:creationId xmlns:a16="http://schemas.microsoft.com/office/drawing/2014/main" id="{B62B5C88-3A0D-47BC-956A-33B180AC683C}"/>
              </a:ext>
            </a:extLst>
          </p:cNvPr>
          <p:cNvGrpSpPr/>
          <p:nvPr/>
        </p:nvGrpSpPr>
        <p:grpSpPr>
          <a:xfrm>
            <a:off x="2199205" y="2902276"/>
            <a:ext cx="1215257" cy="1153431"/>
            <a:chOff x="2429301" y="2947916"/>
            <a:chExt cx="914400" cy="914400"/>
          </a:xfrm>
          <a:effectLst>
            <a:outerShdw blurRad="50800" dist="38100" dir="2700000" algn="tl" rotWithShape="0">
              <a:prstClr val="black">
                <a:alpha val="40000"/>
              </a:prstClr>
            </a:outerShdw>
          </a:effectLst>
        </p:grpSpPr>
        <p:sp>
          <p:nvSpPr>
            <p:cNvPr id="43" name="Oval 42">
              <a:extLst>
                <a:ext uri="{FF2B5EF4-FFF2-40B4-BE49-F238E27FC236}">
                  <a16:creationId xmlns:a16="http://schemas.microsoft.com/office/drawing/2014/main" id="{315BA62C-D726-494E-AD52-9F0B70691062}"/>
                </a:ext>
              </a:extLst>
            </p:cNvPr>
            <p:cNvSpPr/>
            <p:nvPr/>
          </p:nvSpPr>
          <p:spPr>
            <a:xfrm>
              <a:off x="2429301" y="2947916"/>
              <a:ext cx="914400" cy="914400"/>
            </a:xfrm>
            <a:prstGeom prst="ellipse">
              <a:avLst/>
            </a:prstGeom>
            <a:solidFill>
              <a:schemeClr val="bg1"/>
            </a:solid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45C3A793-57D0-4ADD-A8DB-4DEE050B6DC4}"/>
                </a:ext>
              </a:extLst>
            </p:cNvPr>
            <p:cNvSpPr/>
            <p:nvPr/>
          </p:nvSpPr>
          <p:spPr>
            <a:xfrm>
              <a:off x="2524836" y="3057099"/>
              <a:ext cx="723331" cy="709683"/>
            </a:xfrm>
            <a:prstGeom prst="ellipse">
              <a:avLst/>
            </a:prstGeom>
            <a:solidFill>
              <a:schemeClr val="bg1"/>
            </a:solid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47B8EDE5-4C34-4CDA-BDA9-CB960EE7C268}"/>
                </a:ext>
              </a:extLst>
            </p:cNvPr>
            <p:cNvSpPr/>
            <p:nvPr/>
          </p:nvSpPr>
          <p:spPr>
            <a:xfrm>
              <a:off x="2663589" y="3193571"/>
              <a:ext cx="448102" cy="450375"/>
            </a:xfrm>
            <a:prstGeom prst="ellipse">
              <a:avLst/>
            </a:prstGeom>
            <a:solidFill>
              <a:srgbClr val="FFFF00"/>
            </a:solid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6" name="Table 6">
            <a:extLst>
              <a:ext uri="{FF2B5EF4-FFF2-40B4-BE49-F238E27FC236}">
                <a16:creationId xmlns:a16="http://schemas.microsoft.com/office/drawing/2014/main" id="{B89CC586-42C1-4FC8-A762-A2F6FB903DF1}"/>
              </a:ext>
            </a:extLst>
          </p:cNvPr>
          <p:cNvGraphicFramePr>
            <a:graphicFrameLocks noGrp="1"/>
          </p:cNvGraphicFramePr>
          <p:nvPr/>
        </p:nvGraphicFramePr>
        <p:xfrm>
          <a:off x="4830969" y="719665"/>
          <a:ext cx="5737719" cy="3017520"/>
        </p:xfrm>
        <a:graphic>
          <a:graphicData uri="http://schemas.openxmlformats.org/drawingml/2006/table">
            <a:tbl>
              <a:tblPr firstRow="1" bandRow="1">
                <a:tableStyleId>{5940675A-B579-460E-94D1-54222C63F5DA}</a:tableStyleId>
              </a:tblPr>
              <a:tblGrid>
                <a:gridCol w="5737719">
                  <a:extLst>
                    <a:ext uri="{9D8B030D-6E8A-4147-A177-3AD203B41FA5}">
                      <a16:colId xmlns:a16="http://schemas.microsoft.com/office/drawing/2014/main" val="3887999668"/>
                    </a:ext>
                  </a:extLst>
                </a:gridCol>
              </a:tblGrid>
              <a:tr h="483493">
                <a:tc>
                  <a:txBody>
                    <a:bodyPr/>
                    <a:lstStyle/>
                    <a:p>
                      <a:pPr algn="ctr"/>
                      <a:r>
                        <a:rPr lang="en-US" sz="3600" b="1" dirty="0"/>
                        <a:t>CORE VALUES </a:t>
                      </a:r>
                    </a:p>
                    <a:p>
                      <a:pPr algn="ctr"/>
                      <a:r>
                        <a:rPr lang="en-US" sz="3600" b="1" dirty="0"/>
                        <a:t>JOB FUNCTIONS</a:t>
                      </a:r>
                    </a:p>
                  </a:txBody>
                  <a:tcPr/>
                </a:tc>
                <a:extLst>
                  <a:ext uri="{0D108BD9-81ED-4DB2-BD59-A6C34878D82A}">
                    <a16:rowId xmlns:a16="http://schemas.microsoft.com/office/drawing/2014/main" val="1324454018"/>
                  </a:ext>
                </a:extLst>
              </a:tr>
              <a:tr h="1246241">
                <a:tc>
                  <a:txBody>
                    <a:bodyPr/>
                    <a:lstStyle/>
                    <a:p>
                      <a:pPr algn="ctr"/>
                      <a:endParaRPr lang="en-US" b="1" dirty="0"/>
                    </a:p>
                    <a:p>
                      <a:pPr algn="ctr"/>
                      <a:r>
                        <a:rPr lang="en-US" sz="2400" b="1" dirty="0"/>
                        <a:t>SKILL/CAREERS- HUMAN RESOURCE, AUDIT, COMPANY SECRETARY, CONTROL, REGULATORY AGENCY PROFESSIONAL.</a:t>
                      </a:r>
                    </a:p>
                    <a:p>
                      <a:pPr algn="ctr"/>
                      <a:endParaRPr lang="en-US" sz="2400" b="1" dirty="0"/>
                    </a:p>
                  </a:txBody>
                  <a:tcPr/>
                </a:tc>
                <a:extLst>
                  <a:ext uri="{0D108BD9-81ED-4DB2-BD59-A6C34878D82A}">
                    <a16:rowId xmlns:a16="http://schemas.microsoft.com/office/drawing/2014/main" val="682039194"/>
                  </a:ext>
                </a:extLst>
              </a:tr>
            </a:tbl>
          </a:graphicData>
        </a:graphic>
      </p:graphicFrame>
      <p:graphicFrame>
        <p:nvGraphicFramePr>
          <p:cNvPr id="33" name="Table 7">
            <a:extLst>
              <a:ext uri="{FF2B5EF4-FFF2-40B4-BE49-F238E27FC236}">
                <a16:creationId xmlns:a16="http://schemas.microsoft.com/office/drawing/2014/main" id="{3ED5DFEC-E3D0-4D59-946A-48B2F138F2EB}"/>
              </a:ext>
            </a:extLst>
          </p:cNvPr>
          <p:cNvGraphicFramePr>
            <a:graphicFrameLocks noGrp="1"/>
          </p:cNvGraphicFramePr>
          <p:nvPr/>
        </p:nvGraphicFramePr>
        <p:xfrm>
          <a:off x="4865663" y="4713591"/>
          <a:ext cx="5926384" cy="944880"/>
        </p:xfrm>
        <a:graphic>
          <a:graphicData uri="http://schemas.openxmlformats.org/drawingml/2006/table">
            <a:tbl>
              <a:tblPr firstRow="1" bandRow="1">
                <a:tableStyleId>{5C22544A-7EE6-4342-B048-85BDC9FD1C3A}</a:tableStyleId>
              </a:tblPr>
              <a:tblGrid>
                <a:gridCol w="2963192">
                  <a:extLst>
                    <a:ext uri="{9D8B030D-6E8A-4147-A177-3AD203B41FA5}">
                      <a16:colId xmlns:a16="http://schemas.microsoft.com/office/drawing/2014/main" val="1028654853"/>
                    </a:ext>
                  </a:extLst>
                </a:gridCol>
                <a:gridCol w="2963192">
                  <a:extLst>
                    <a:ext uri="{9D8B030D-6E8A-4147-A177-3AD203B41FA5}">
                      <a16:colId xmlns:a16="http://schemas.microsoft.com/office/drawing/2014/main" val="2159636558"/>
                    </a:ext>
                  </a:extLst>
                </a:gridCol>
              </a:tblGrid>
              <a:tr h="370840">
                <a:tc>
                  <a:txBody>
                    <a:bodyPr/>
                    <a:lstStyle/>
                    <a:p>
                      <a:pPr algn="ctr"/>
                      <a:r>
                        <a:rPr lang="en-US" dirty="0">
                          <a:solidFill>
                            <a:srgbClr val="C00000"/>
                          </a:solidFill>
                        </a:rPr>
                        <a:t>INSIGHT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400" dirty="0">
                          <a:solidFill>
                            <a:srgbClr val="C00000"/>
                          </a:solidFill>
                        </a:rPr>
                        <a:t>MULTI INDUSTRY EXPERIENCE PROVIDES AN OPPORTUNITY TO DISCOVER INNOVATIVE INSIGHTS, THINK ABOUT THIS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823397659"/>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1306286" y="769258"/>
            <a:ext cx="3207657" cy="5312228"/>
            <a:chOff x="1306286" y="769258"/>
            <a:chExt cx="3207657" cy="5312228"/>
          </a:xfrm>
        </p:grpSpPr>
        <p:sp>
          <p:nvSpPr>
            <p:cNvPr id="2" name="Rounded Rectangle 1"/>
            <p:cNvSpPr/>
            <p:nvPr/>
          </p:nvSpPr>
          <p:spPr>
            <a:xfrm>
              <a:off x="1306286" y="783771"/>
              <a:ext cx="3207657" cy="5297715"/>
            </a:xfrm>
            <a:prstGeom prst="roundRect">
              <a:avLst/>
            </a:prstGeom>
            <a:solidFill>
              <a:schemeClr val="bg1"/>
            </a:solidFill>
            <a:ln w="76200">
              <a:solidFill>
                <a:schemeClr val="bg1">
                  <a:lumMod val="6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 Same Side Corner Rectangle 2"/>
            <p:cNvSpPr/>
            <p:nvPr/>
          </p:nvSpPr>
          <p:spPr>
            <a:xfrm>
              <a:off x="1306286" y="769258"/>
              <a:ext cx="3207657" cy="1146626"/>
            </a:xfrm>
            <a:prstGeom prst="round2SameRect">
              <a:avLst/>
            </a:prstGeom>
            <a:solidFill>
              <a:srgbClr val="FFFF00"/>
            </a:solidFill>
            <a:ln w="762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R BONNIE" pitchFamily="2" charset="0"/>
                </a:rPr>
                <a:t>CULTURE</a:t>
              </a:r>
            </a:p>
          </p:txBody>
        </p:sp>
      </p:grpSp>
      <p:sp>
        <p:nvSpPr>
          <p:cNvPr id="12" name="TextBox 11"/>
          <p:cNvSpPr txBox="1"/>
          <p:nvPr/>
        </p:nvSpPr>
        <p:spPr>
          <a:xfrm>
            <a:off x="1433951" y="2016565"/>
            <a:ext cx="2783202" cy="430887"/>
          </a:xfrm>
          <a:prstGeom prst="rect">
            <a:avLst/>
          </a:prstGeom>
          <a:noFill/>
        </p:spPr>
        <p:txBody>
          <a:bodyPr wrap="square" rtlCol="0">
            <a:spAutoFit/>
          </a:bodyPr>
          <a:lstStyle/>
          <a:p>
            <a:pPr algn="ctr"/>
            <a:r>
              <a:rPr lang="en-US" sz="1100" b="1" dirty="0"/>
              <a:t>WHO ARE YOU?</a:t>
            </a:r>
          </a:p>
          <a:p>
            <a:pPr algn="ctr"/>
            <a:r>
              <a:rPr lang="en-US" sz="1100" b="1" dirty="0"/>
              <a:t>LANGUAGE I BRAND IDENTITY I NORMS</a:t>
            </a:r>
          </a:p>
        </p:txBody>
      </p:sp>
      <p:sp>
        <p:nvSpPr>
          <p:cNvPr id="39" name="TextBox 38"/>
          <p:cNvSpPr txBox="1"/>
          <p:nvPr/>
        </p:nvSpPr>
        <p:spPr>
          <a:xfrm>
            <a:off x="1674423" y="2665935"/>
            <a:ext cx="864595" cy="400110"/>
          </a:xfrm>
          <a:prstGeom prst="rect">
            <a:avLst/>
          </a:prstGeom>
          <a:noFill/>
        </p:spPr>
        <p:txBody>
          <a:bodyPr wrap="square" rtlCol="0">
            <a:spAutoFit/>
          </a:bodyPr>
          <a:lstStyle/>
          <a:p>
            <a:pPr algn="ctr"/>
            <a:r>
              <a:rPr lang="en-US" sz="2000" b="1" dirty="0"/>
              <a:t>+20 </a:t>
            </a:r>
            <a:endParaRPr lang="en-US" sz="2800" b="1" dirty="0"/>
          </a:p>
        </p:txBody>
      </p:sp>
      <p:graphicFrame>
        <p:nvGraphicFramePr>
          <p:cNvPr id="43" name="Table 42"/>
          <p:cNvGraphicFramePr>
            <a:graphicFrameLocks noGrp="1"/>
          </p:cNvGraphicFramePr>
          <p:nvPr/>
        </p:nvGraphicFramePr>
        <p:xfrm>
          <a:off x="2149433" y="4004782"/>
          <a:ext cx="1472541" cy="914400"/>
        </p:xfrm>
        <a:graphic>
          <a:graphicData uri="http://schemas.openxmlformats.org/drawingml/2006/table">
            <a:tbl>
              <a:tblPr firstRow="1" bandRow="1">
                <a:tableStyleId>{5C22544A-7EE6-4342-B048-85BDC9FD1C3A}</a:tableStyleId>
              </a:tblPr>
              <a:tblGrid>
                <a:gridCol w="490847">
                  <a:extLst>
                    <a:ext uri="{9D8B030D-6E8A-4147-A177-3AD203B41FA5}">
                      <a16:colId xmlns:a16="http://schemas.microsoft.com/office/drawing/2014/main" val="20000"/>
                    </a:ext>
                  </a:extLst>
                </a:gridCol>
                <a:gridCol w="490847">
                  <a:extLst>
                    <a:ext uri="{9D8B030D-6E8A-4147-A177-3AD203B41FA5}">
                      <a16:colId xmlns:a16="http://schemas.microsoft.com/office/drawing/2014/main" val="20001"/>
                    </a:ext>
                  </a:extLst>
                </a:gridCol>
                <a:gridCol w="490847">
                  <a:extLst>
                    <a:ext uri="{9D8B030D-6E8A-4147-A177-3AD203B41FA5}">
                      <a16:colId xmlns:a16="http://schemas.microsoft.com/office/drawing/2014/main" val="20002"/>
                    </a:ext>
                  </a:extLst>
                </a:gridCol>
              </a:tblGrid>
              <a:tr h="198809">
                <a:tc gridSpan="2">
                  <a:txBody>
                    <a:bodyPr/>
                    <a:lstStyle/>
                    <a:p>
                      <a:pPr algn="ctr"/>
                      <a:r>
                        <a:rPr lang="en-US" sz="600" b="1" dirty="0">
                          <a:solidFill>
                            <a:schemeClr val="tx1"/>
                          </a:solidFill>
                        </a:rPr>
                        <a:t>RISK WEIGHT PENALTY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600" b="1" dirty="0">
                          <a:solidFill>
                            <a:schemeClr val="tx1"/>
                          </a:solidFill>
                        </a:rPr>
                        <a:t>RISK SCORE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198809">
                <a:tc>
                  <a:txBody>
                    <a:bodyPr/>
                    <a:lstStyle/>
                    <a:p>
                      <a:pPr algn="ctr"/>
                      <a:r>
                        <a:rPr lang="en-US" sz="800" b="1" dirty="0">
                          <a:solidFill>
                            <a:schemeClr val="tx1"/>
                          </a:solidFill>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sz="800" b="1" dirty="0">
                          <a:solidFill>
                            <a:schemeClr val="tx1"/>
                          </a:solidFill>
                        </a:rPr>
                        <a:t>-60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sz="800" b="1"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0001"/>
                  </a:ext>
                </a:extLst>
              </a:tr>
              <a:tr h="198809">
                <a:tc>
                  <a:txBody>
                    <a:bodyPr/>
                    <a:lstStyle/>
                    <a:p>
                      <a:pPr algn="ctr"/>
                      <a:r>
                        <a:rPr lang="en-US" sz="800" b="1"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sz="800" b="1" dirty="0">
                          <a:solidFill>
                            <a:schemeClr val="tx1"/>
                          </a:solidFill>
                        </a:rPr>
                        <a:t>-40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sz="800" b="1"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2"/>
                  </a:ext>
                </a:extLst>
              </a:tr>
              <a:tr h="198809">
                <a:tc>
                  <a:txBody>
                    <a:bodyPr/>
                    <a:lstStyle/>
                    <a:p>
                      <a:pPr algn="ctr"/>
                      <a:r>
                        <a:rPr lang="en-US" sz="800" b="1"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800" b="1"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800" b="1"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003"/>
                  </a:ext>
                </a:extLst>
              </a:tr>
            </a:tbl>
          </a:graphicData>
        </a:graphic>
      </p:graphicFrame>
      <p:grpSp>
        <p:nvGrpSpPr>
          <p:cNvPr id="19" name="Group 18">
            <a:extLst>
              <a:ext uri="{FF2B5EF4-FFF2-40B4-BE49-F238E27FC236}">
                <a16:creationId xmlns:a16="http://schemas.microsoft.com/office/drawing/2014/main" id="{C965848D-4FD9-4FD9-BC2A-97FE7927CD83}"/>
              </a:ext>
            </a:extLst>
          </p:cNvPr>
          <p:cNvGrpSpPr/>
          <p:nvPr/>
        </p:nvGrpSpPr>
        <p:grpSpPr>
          <a:xfrm>
            <a:off x="2280049" y="5119521"/>
            <a:ext cx="1959442" cy="830016"/>
            <a:chOff x="2280049" y="5119521"/>
            <a:chExt cx="1959442" cy="830016"/>
          </a:xfrm>
        </p:grpSpPr>
        <p:grpSp>
          <p:nvGrpSpPr>
            <p:cNvPr id="20" name="Group 19">
              <a:extLst>
                <a:ext uri="{FF2B5EF4-FFF2-40B4-BE49-F238E27FC236}">
                  <a16:creationId xmlns:a16="http://schemas.microsoft.com/office/drawing/2014/main" id="{5B7F7D26-E332-4608-AEED-00B1E7D949E2}"/>
                </a:ext>
              </a:extLst>
            </p:cNvPr>
            <p:cNvGrpSpPr/>
            <p:nvPr/>
          </p:nvGrpSpPr>
          <p:grpSpPr>
            <a:xfrm>
              <a:off x="2280049" y="5543797"/>
              <a:ext cx="1745684" cy="405740"/>
              <a:chOff x="2113799" y="5520047"/>
              <a:chExt cx="1745684" cy="405740"/>
            </a:xfrm>
          </p:grpSpPr>
          <p:sp>
            <p:nvSpPr>
              <p:cNvPr id="40" name="Oval 39">
                <a:extLst>
                  <a:ext uri="{FF2B5EF4-FFF2-40B4-BE49-F238E27FC236}">
                    <a16:creationId xmlns:a16="http://schemas.microsoft.com/office/drawing/2014/main" id="{A1599F44-EDB6-4C55-A53D-959707C09B27}"/>
                  </a:ext>
                </a:extLst>
              </p:cNvPr>
              <p:cNvSpPr/>
              <p:nvPr/>
            </p:nvSpPr>
            <p:spPr>
              <a:xfrm>
                <a:off x="2113799" y="5617028"/>
                <a:ext cx="285008" cy="308759"/>
              </a:xfrm>
              <a:prstGeom prst="ellipse">
                <a:avLst/>
              </a:prstGeom>
              <a:solidFill>
                <a:srgbClr val="FFFF00"/>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15DBBC90-FD2E-457A-8077-8DC022B80360}"/>
                  </a:ext>
                </a:extLst>
              </p:cNvPr>
              <p:cNvSpPr/>
              <p:nvPr/>
            </p:nvSpPr>
            <p:spPr>
              <a:xfrm>
                <a:off x="2266197" y="5520047"/>
                <a:ext cx="285008" cy="308759"/>
              </a:xfrm>
              <a:prstGeom prst="ellipse">
                <a:avLst/>
              </a:prstGeom>
              <a:solidFill>
                <a:srgbClr val="7030A0"/>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91325161-48A9-4095-BE20-F3CD67DC76C2}"/>
                  </a:ext>
                </a:extLst>
              </p:cNvPr>
              <p:cNvSpPr/>
              <p:nvPr/>
            </p:nvSpPr>
            <p:spPr>
              <a:xfrm>
                <a:off x="2382975" y="5613069"/>
                <a:ext cx="285008" cy="308759"/>
              </a:xfrm>
              <a:prstGeom prst="ellipse">
                <a:avLst/>
              </a:prstGeom>
              <a:solidFill>
                <a:srgbClr val="FFFF00"/>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Equal 37">
                <a:extLst>
                  <a:ext uri="{FF2B5EF4-FFF2-40B4-BE49-F238E27FC236}">
                    <a16:creationId xmlns:a16="http://schemas.microsoft.com/office/drawing/2014/main" id="{ADE0E0D9-712F-4BF3-829F-1BA501C9C376}"/>
                  </a:ext>
                </a:extLst>
              </p:cNvPr>
              <p:cNvSpPr/>
              <p:nvPr/>
            </p:nvSpPr>
            <p:spPr>
              <a:xfrm>
                <a:off x="2719440" y="5617027"/>
                <a:ext cx="320636" cy="237507"/>
              </a:xfrm>
              <a:prstGeom prst="mathEqual">
                <a:avLst/>
              </a:prstGeom>
              <a:solidFill>
                <a:schemeClr val="tx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6" name="TextBox 45">
                <a:extLst>
                  <a:ext uri="{FF2B5EF4-FFF2-40B4-BE49-F238E27FC236}">
                    <a16:creationId xmlns:a16="http://schemas.microsoft.com/office/drawing/2014/main" id="{3D23C596-FFA1-462D-ADFD-D99CC2ECF553}"/>
                  </a:ext>
                </a:extLst>
              </p:cNvPr>
              <p:cNvSpPr txBox="1"/>
              <p:nvPr/>
            </p:nvSpPr>
            <p:spPr>
              <a:xfrm>
                <a:off x="2956961" y="5572188"/>
                <a:ext cx="902522" cy="338554"/>
              </a:xfrm>
              <a:prstGeom prst="rect">
                <a:avLst/>
              </a:prstGeom>
              <a:noFill/>
            </p:spPr>
            <p:txBody>
              <a:bodyPr wrap="square" rtlCol="0">
                <a:spAutoFit/>
              </a:bodyPr>
              <a:lstStyle/>
              <a:p>
                <a:r>
                  <a:rPr lang="en-US" sz="1600" b="1" dirty="0"/>
                  <a:t>x3</a:t>
                </a:r>
              </a:p>
            </p:txBody>
          </p:sp>
        </p:grpSp>
        <p:sp>
          <p:nvSpPr>
            <p:cNvPr id="22" name="TextBox 21">
              <a:extLst>
                <a:ext uri="{FF2B5EF4-FFF2-40B4-BE49-F238E27FC236}">
                  <a16:creationId xmlns:a16="http://schemas.microsoft.com/office/drawing/2014/main" id="{1308088C-5013-4D4E-B6CA-A969EB21201A}"/>
                </a:ext>
              </a:extLst>
            </p:cNvPr>
            <p:cNvSpPr txBox="1"/>
            <p:nvPr/>
          </p:nvSpPr>
          <p:spPr>
            <a:xfrm>
              <a:off x="2329292" y="5212058"/>
              <a:ext cx="1810922" cy="246221"/>
            </a:xfrm>
            <a:prstGeom prst="rect">
              <a:avLst/>
            </a:prstGeom>
            <a:noFill/>
          </p:spPr>
          <p:txBody>
            <a:bodyPr wrap="square" rtlCol="0">
              <a:spAutoFit/>
            </a:bodyPr>
            <a:lstStyle/>
            <a:p>
              <a:pPr algn="ctr"/>
              <a:r>
                <a:rPr lang="en-US" sz="1000" b="1" dirty="0"/>
                <a:t>KEY:  </a:t>
              </a:r>
            </a:p>
          </p:txBody>
        </p:sp>
        <p:grpSp>
          <p:nvGrpSpPr>
            <p:cNvPr id="23" name="Group 19">
              <a:extLst>
                <a:ext uri="{FF2B5EF4-FFF2-40B4-BE49-F238E27FC236}">
                  <a16:creationId xmlns:a16="http://schemas.microsoft.com/office/drawing/2014/main" id="{36F5B9C5-6DE6-457A-8A71-BD06F74AC014}"/>
                </a:ext>
              </a:extLst>
            </p:cNvPr>
            <p:cNvGrpSpPr/>
            <p:nvPr/>
          </p:nvGrpSpPr>
          <p:grpSpPr>
            <a:xfrm>
              <a:off x="3396358" y="5119521"/>
              <a:ext cx="356935" cy="366879"/>
              <a:chOff x="2429301" y="2947916"/>
              <a:chExt cx="914400" cy="914400"/>
            </a:xfrm>
            <a:effectLst>
              <a:outerShdw blurRad="50800" dist="38100" dir="2700000" algn="tl" rotWithShape="0">
                <a:prstClr val="black">
                  <a:alpha val="40000"/>
                </a:prstClr>
              </a:outerShdw>
            </a:effectLst>
          </p:grpSpPr>
          <p:sp>
            <p:nvSpPr>
              <p:cNvPr id="27" name="Oval 26">
                <a:extLst>
                  <a:ext uri="{FF2B5EF4-FFF2-40B4-BE49-F238E27FC236}">
                    <a16:creationId xmlns:a16="http://schemas.microsoft.com/office/drawing/2014/main" id="{7AED5617-F28C-4E36-852E-4D86D5F42ACB}"/>
                  </a:ext>
                </a:extLst>
              </p:cNvPr>
              <p:cNvSpPr/>
              <p:nvPr/>
            </p:nvSpPr>
            <p:spPr>
              <a:xfrm>
                <a:off x="2429301" y="2947916"/>
                <a:ext cx="914400" cy="914400"/>
              </a:xfrm>
              <a:prstGeom prst="ellipse">
                <a:avLst/>
              </a:prstGeom>
              <a:solidFill>
                <a:schemeClr val="bg1"/>
              </a:solidFill>
              <a:ln w="317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70B5431E-C397-4C63-A6D1-A900B707F590}"/>
                  </a:ext>
                </a:extLst>
              </p:cNvPr>
              <p:cNvSpPr/>
              <p:nvPr/>
            </p:nvSpPr>
            <p:spPr>
              <a:xfrm>
                <a:off x="2524836" y="3057099"/>
                <a:ext cx="723331" cy="709683"/>
              </a:xfrm>
              <a:prstGeom prst="ellipse">
                <a:avLst/>
              </a:prstGeom>
              <a:solidFill>
                <a:schemeClr val="bg1"/>
              </a:solidFill>
              <a:ln w="317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BB4BA07F-88CE-4D54-A06C-2FD39E198A73}"/>
                  </a:ext>
                </a:extLst>
              </p:cNvPr>
              <p:cNvSpPr/>
              <p:nvPr/>
            </p:nvSpPr>
            <p:spPr>
              <a:xfrm>
                <a:off x="2663589" y="3193571"/>
                <a:ext cx="448102" cy="450375"/>
              </a:xfrm>
              <a:prstGeom prst="ellipse">
                <a:avLst/>
              </a:prstGeom>
              <a:solidFill>
                <a:srgbClr val="FFFF00"/>
              </a:solidFill>
              <a:ln w="317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 name="Group 19">
              <a:extLst>
                <a:ext uri="{FF2B5EF4-FFF2-40B4-BE49-F238E27FC236}">
                  <a16:creationId xmlns:a16="http://schemas.microsoft.com/office/drawing/2014/main" id="{97F7182C-FA50-4A9F-8C4C-809E6BAE4B94}"/>
                </a:ext>
              </a:extLst>
            </p:cNvPr>
            <p:cNvGrpSpPr/>
            <p:nvPr/>
          </p:nvGrpSpPr>
          <p:grpSpPr>
            <a:xfrm>
              <a:off x="3850276" y="5120753"/>
              <a:ext cx="389215" cy="389398"/>
              <a:chOff x="2524836" y="3057099"/>
              <a:chExt cx="723331" cy="709683"/>
            </a:xfrm>
            <a:effectLst>
              <a:outerShdw blurRad="50800" dist="38100" dir="2700000" algn="tl" rotWithShape="0">
                <a:prstClr val="black">
                  <a:alpha val="40000"/>
                </a:prstClr>
              </a:outerShdw>
            </a:effectLst>
          </p:grpSpPr>
          <p:sp>
            <p:nvSpPr>
              <p:cNvPr id="25" name="Oval 24">
                <a:extLst>
                  <a:ext uri="{FF2B5EF4-FFF2-40B4-BE49-F238E27FC236}">
                    <a16:creationId xmlns:a16="http://schemas.microsoft.com/office/drawing/2014/main" id="{7DF0F5A4-4CF9-4143-B7AA-6A35BCB15F1B}"/>
                  </a:ext>
                </a:extLst>
              </p:cNvPr>
              <p:cNvSpPr/>
              <p:nvPr/>
            </p:nvSpPr>
            <p:spPr>
              <a:xfrm>
                <a:off x="2524836" y="3057099"/>
                <a:ext cx="723331" cy="709683"/>
              </a:xfrm>
              <a:prstGeom prst="ellipse">
                <a:avLst/>
              </a:prstGeom>
              <a:solidFill>
                <a:schemeClr val="bg1"/>
              </a:solidFill>
              <a:ln w="317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120EB89D-2FD7-425F-B910-1549BD912284}"/>
                  </a:ext>
                </a:extLst>
              </p:cNvPr>
              <p:cNvSpPr/>
              <p:nvPr/>
            </p:nvSpPr>
            <p:spPr>
              <a:xfrm>
                <a:off x="2663589" y="3193571"/>
                <a:ext cx="448102" cy="450375"/>
              </a:xfrm>
              <a:prstGeom prst="ellipse">
                <a:avLst/>
              </a:prstGeom>
              <a:solidFill>
                <a:srgbClr val="FFFF00"/>
              </a:solidFill>
              <a:ln w="317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47" name="Oval 46">
            <a:extLst>
              <a:ext uri="{FF2B5EF4-FFF2-40B4-BE49-F238E27FC236}">
                <a16:creationId xmlns:a16="http://schemas.microsoft.com/office/drawing/2014/main" id="{4A7E3773-25BF-4F8B-B555-2853BB1E2452}"/>
              </a:ext>
            </a:extLst>
          </p:cNvPr>
          <p:cNvSpPr/>
          <p:nvPr/>
        </p:nvSpPr>
        <p:spPr>
          <a:xfrm>
            <a:off x="2329292" y="2779874"/>
            <a:ext cx="1070790" cy="1087918"/>
          </a:xfrm>
          <a:prstGeom prst="ellipse">
            <a:avLst/>
          </a:prstGeom>
          <a:solidFill>
            <a:srgbClr val="FFFF00"/>
          </a:solidFill>
          <a:ln w="76200">
            <a:solidFill>
              <a:srgbClr val="FFFF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8" name="Table 6">
            <a:extLst>
              <a:ext uri="{FF2B5EF4-FFF2-40B4-BE49-F238E27FC236}">
                <a16:creationId xmlns:a16="http://schemas.microsoft.com/office/drawing/2014/main" id="{2592A1B7-99D7-443D-AC2D-DC75D52EB47D}"/>
              </a:ext>
            </a:extLst>
          </p:cNvPr>
          <p:cNvGraphicFramePr>
            <a:graphicFrameLocks noGrp="1"/>
          </p:cNvGraphicFramePr>
          <p:nvPr/>
        </p:nvGraphicFramePr>
        <p:xfrm>
          <a:off x="4830969" y="719665"/>
          <a:ext cx="5737719" cy="3749040"/>
        </p:xfrm>
        <a:graphic>
          <a:graphicData uri="http://schemas.openxmlformats.org/drawingml/2006/table">
            <a:tbl>
              <a:tblPr firstRow="1" bandRow="1">
                <a:tableStyleId>{5940675A-B579-460E-94D1-54222C63F5DA}</a:tableStyleId>
              </a:tblPr>
              <a:tblGrid>
                <a:gridCol w="5737719">
                  <a:extLst>
                    <a:ext uri="{9D8B030D-6E8A-4147-A177-3AD203B41FA5}">
                      <a16:colId xmlns:a16="http://schemas.microsoft.com/office/drawing/2014/main" val="3887999668"/>
                    </a:ext>
                  </a:extLst>
                </a:gridCol>
              </a:tblGrid>
              <a:tr h="483493">
                <a:tc>
                  <a:txBody>
                    <a:bodyPr/>
                    <a:lstStyle/>
                    <a:p>
                      <a:pPr algn="ctr"/>
                      <a:r>
                        <a:rPr lang="en-US" sz="3600" b="1" dirty="0"/>
                        <a:t>CULTURE </a:t>
                      </a:r>
                    </a:p>
                    <a:p>
                      <a:pPr algn="ctr"/>
                      <a:r>
                        <a:rPr lang="en-US" sz="3600" b="1" dirty="0"/>
                        <a:t>JOB FUNCTIONS</a:t>
                      </a:r>
                    </a:p>
                  </a:txBody>
                  <a:tcPr/>
                </a:tc>
                <a:extLst>
                  <a:ext uri="{0D108BD9-81ED-4DB2-BD59-A6C34878D82A}">
                    <a16:rowId xmlns:a16="http://schemas.microsoft.com/office/drawing/2014/main" val="1324454018"/>
                  </a:ext>
                </a:extLst>
              </a:tr>
              <a:tr h="1246241">
                <a:tc>
                  <a:txBody>
                    <a:bodyPr/>
                    <a:lstStyle/>
                    <a:p>
                      <a:pPr algn="ctr"/>
                      <a:endParaRPr lang="en-US" sz="1800" b="1" dirty="0"/>
                    </a:p>
                    <a:p>
                      <a:pPr algn="ctr"/>
                      <a:r>
                        <a:rPr lang="en-US" sz="2400" b="1" dirty="0"/>
                        <a:t>SKILL/CAREERS- HR, TRAINING, POLICY FORMULATION, FASHION, QUALITY CONTROL, COMPLIANCE, TREND ANALYSIS, POPULAR CULTURE, RELIGION, CORPORATE COMMUNICATIONS.</a:t>
                      </a:r>
                    </a:p>
                    <a:p>
                      <a:pPr algn="ctr"/>
                      <a:endParaRPr lang="en-US" sz="2400" b="1" dirty="0"/>
                    </a:p>
                  </a:txBody>
                  <a:tcPr/>
                </a:tc>
                <a:extLst>
                  <a:ext uri="{0D108BD9-81ED-4DB2-BD59-A6C34878D82A}">
                    <a16:rowId xmlns:a16="http://schemas.microsoft.com/office/drawing/2014/main" val="682039194"/>
                  </a:ext>
                </a:extLst>
              </a:tr>
            </a:tbl>
          </a:graphicData>
        </a:graphic>
      </p:graphicFrame>
      <p:graphicFrame>
        <p:nvGraphicFramePr>
          <p:cNvPr id="29" name="Table 7">
            <a:extLst>
              <a:ext uri="{FF2B5EF4-FFF2-40B4-BE49-F238E27FC236}">
                <a16:creationId xmlns:a16="http://schemas.microsoft.com/office/drawing/2014/main" id="{2CE93460-8FB1-4BF7-9531-CDE6686740B3}"/>
              </a:ext>
            </a:extLst>
          </p:cNvPr>
          <p:cNvGraphicFramePr>
            <a:graphicFrameLocks noGrp="1"/>
          </p:cNvGraphicFramePr>
          <p:nvPr/>
        </p:nvGraphicFramePr>
        <p:xfrm>
          <a:off x="4865663" y="4713591"/>
          <a:ext cx="5926384" cy="731520"/>
        </p:xfrm>
        <a:graphic>
          <a:graphicData uri="http://schemas.openxmlformats.org/drawingml/2006/table">
            <a:tbl>
              <a:tblPr firstRow="1" bandRow="1">
                <a:tableStyleId>{5C22544A-7EE6-4342-B048-85BDC9FD1C3A}</a:tableStyleId>
              </a:tblPr>
              <a:tblGrid>
                <a:gridCol w="2963192">
                  <a:extLst>
                    <a:ext uri="{9D8B030D-6E8A-4147-A177-3AD203B41FA5}">
                      <a16:colId xmlns:a16="http://schemas.microsoft.com/office/drawing/2014/main" val="1028654853"/>
                    </a:ext>
                  </a:extLst>
                </a:gridCol>
                <a:gridCol w="2963192">
                  <a:extLst>
                    <a:ext uri="{9D8B030D-6E8A-4147-A177-3AD203B41FA5}">
                      <a16:colId xmlns:a16="http://schemas.microsoft.com/office/drawing/2014/main" val="2159636558"/>
                    </a:ext>
                  </a:extLst>
                </a:gridCol>
              </a:tblGrid>
              <a:tr h="370840">
                <a:tc>
                  <a:txBody>
                    <a:bodyPr/>
                    <a:lstStyle/>
                    <a:p>
                      <a:pPr algn="ctr"/>
                      <a:r>
                        <a:rPr lang="en-US" dirty="0">
                          <a:solidFill>
                            <a:srgbClr val="C00000"/>
                          </a:solidFill>
                        </a:rPr>
                        <a:t>INSIGHT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400" dirty="0">
                          <a:solidFill>
                            <a:srgbClr val="C00000"/>
                          </a:solidFill>
                        </a:rPr>
                        <a:t>SEEK AN UPGRADE WITH CORE VALUE AND CORE OBJECTIVE SKILL SETS.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823397659"/>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1306286" y="769258"/>
            <a:ext cx="3207657" cy="5312228"/>
            <a:chOff x="1306286" y="769258"/>
            <a:chExt cx="3207657" cy="5312228"/>
          </a:xfrm>
        </p:grpSpPr>
        <p:sp>
          <p:nvSpPr>
            <p:cNvPr id="2" name="Rounded Rectangle 1"/>
            <p:cNvSpPr/>
            <p:nvPr/>
          </p:nvSpPr>
          <p:spPr>
            <a:xfrm>
              <a:off x="1306286" y="783771"/>
              <a:ext cx="3207657" cy="5297715"/>
            </a:xfrm>
            <a:prstGeom prst="roundRect">
              <a:avLst/>
            </a:prstGeom>
            <a:solidFill>
              <a:schemeClr val="bg1"/>
            </a:solidFill>
            <a:ln w="76200">
              <a:solidFill>
                <a:schemeClr val="bg1">
                  <a:lumMod val="6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 Same Side Corner Rectangle 2"/>
            <p:cNvSpPr/>
            <p:nvPr/>
          </p:nvSpPr>
          <p:spPr>
            <a:xfrm>
              <a:off x="1306286" y="769258"/>
              <a:ext cx="3207657" cy="1146626"/>
            </a:xfrm>
            <a:prstGeom prst="round2SameRect">
              <a:avLst/>
            </a:prstGeom>
            <a:solidFill>
              <a:srgbClr val="FFFF00"/>
            </a:solidFill>
            <a:ln w="762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R BONNIE" pitchFamily="2" charset="0"/>
                </a:rPr>
                <a:t>CORE OBJECTIVES</a:t>
              </a:r>
            </a:p>
          </p:txBody>
        </p:sp>
      </p:grpSp>
      <p:sp>
        <p:nvSpPr>
          <p:cNvPr id="12" name="TextBox 11"/>
          <p:cNvSpPr txBox="1"/>
          <p:nvPr/>
        </p:nvSpPr>
        <p:spPr>
          <a:xfrm>
            <a:off x="1556782" y="1975622"/>
            <a:ext cx="2783202" cy="430887"/>
          </a:xfrm>
          <a:prstGeom prst="rect">
            <a:avLst/>
          </a:prstGeom>
          <a:noFill/>
        </p:spPr>
        <p:txBody>
          <a:bodyPr wrap="square" rtlCol="0">
            <a:spAutoFit/>
          </a:bodyPr>
          <a:lstStyle/>
          <a:p>
            <a:pPr algn="ctr"/>
            <a:r>
              <a:rPr lang="en-US" sz="1000" b="1" dirty="0"/>
              <a:t>WHAT ARE YOU AIMING AT?</a:t>
            </a:r>
          </a:p>
          <a:p>
            <a:pPr algn="ctr"/>
            <a:r>
              <a:rPr lang="en-US" sz="1000" b="1" dirty="0"/>
              <a:t>GROWTH</a:t>
            </a:r>
            <a:r>
              <a:rPr lang="en-US" sz="1200" b="1" dirty="0"/>
              <a:t> I </a:t>
            </a:r>
            <a:r>
              <a:rPr lang="en-US" sz="1000" b="1" dirty="0"/>
              <a:t>PROPAGATION </a:t>
            </a:r>
            <a:r>
              <a:rPr lang="en-US" sz="1200" b="1" dirty="0"/>
              <a:t>I</a:t>
            </a:r>
            <a:r>
              <a:rPr lang="en-US" sz="1000" b="1" dirty="0"/>
              <a:t> SATISFACTION</a:t>
            </a:r>
          </a:p>
        </p:txBody>
      </p:sp>
      <p:sp>
        <p:nvSpPr>
          <p:cNvPr id="43" name="TextBox 42"/>
          <p:cNvSpPr txBox="1"/>
          <p:nvPr/>
        </p:nvSpPr>
        <p:spPr>
          <a:xfrm>
            <a:off x="1650673" y="2665935"/>
            <a:ext cx="864595" cy="400110"/>
          </a:xfrm>
          <a:prstGeom prst="rect">
            <a:avLst/>
          </a:prstGeom>
          <a:noFill/>
        </p:spPr>
        <p:txBody>
          <a:bodyPr wrap="square" rtlCol="0">
            <a:spAutoFit/>
          </a:bodyPr>
          <a:lstStyle/>
          <a:p>
            <a:pPr algn="ctr"/>
            <a:r>
              <a:rPr lang="en-US" sz="2000" b="1" dirty="0"/>
              <a:t>+20 </a:t>
            </a:r>
            <a:endParaRPr lang="en-US" sz="2800" b="1" dirty="0"/>
          </a:p>
        </p:txBody>
      </p:sp>
      <p:graphicFrame>
        <p:nvGraphicFramePr>
          <p:cNvPr id="44" name="Table 43"/>
          <p:cNvGraphicFramePr>
            <a:graphicFrameLocks noGrp="1"/>
          </p:cNvGraphicFramePr>
          <p:nvPr/>
        </p:nvGraphicFramePr>
        <p:xfrm>
          <a:off x="2196936" y="4024858"/>
          <a:ext cx="1472538" cy="914400"/>
        </p:xfrm>
        <a:graphic>
          <a:graphicData uri="http://schemas.openxmlformats.org/drawingml/2006/table">
            <a:tbl>
              <a:tblPr firstRow="1" bandRow="1">
                <a:tableStyleId>{5C22544A-7EE6-4342-B048-85BDC9FD1C3A}</a:tableStyleId>
              </a:tblPr>
              <a:tblGrid>
                <a:gridCol w="490846">
                  <a:extLst>
                    <a:ext uri="{9D8B030D-6E8A-4147-A177-3AD203B41FA5}">
                      <a16:colId xmlns:a16="http://schemas.microsoft.com/office/drawing/2014/main" val="20000"/>
                    </a:ext>
                  </a:extLst>
                </a:gridCol>
                <a:gridCol w="490846">
                  <a:extLst>
                    <a:ext uri="{9D8B030D-6E8A-4147-A177-3AD203B41FA5}">
                      <a16:colId xmlns:a16="http://schemas.microsoft.com/office/drawing/2014/main" val="20001"/>
                    </a:ext>
                  </a:extLst>
                </a:gridCol>
                <a:gridCol w="490846">
                  <a:extLst>
                    <a:ext uri="{9D8B030D-6E8A-4147-A177-3AD203B41FA5}">
                      <a16:colId xmlns:a16="http://schemas.microsoft.com/office/drawing/2014/main" val="20002"/>
                    </a:ext>
                  </a:extLst>
                </a:gridCol>
              </a:tblGrid>
              <a:tr h="198809">
                <a:tc gridSpan="2">
                  <a:txBody>
                    <a:bodyPr/>
                    <a:lstStyle/>
                    <a:p>
                      <a:pPr algn="ctr"/>
                      <a:r>
                        <a:rPr lang="en-US" sz="600" b="1" dirty="0">
                          <a:solidFill>
                            <a:schemeClr val="tx1"/>
                          </a:solidFill>
                        </a:rPr>
                        <a:t>RISK WEIGHT PENALTY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600" b="1" dirty="0">
                          <a:solidFill>
                            <a:schemeClr val="tx1"/>
                          </a:solidFill>
                        </a:rPr>
                        <a:t>RISK SCORE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198809">
                <a:tc>
                  <a:txBody>
                    <a:bodyPr/>
                    <a:lstStyle/>
                    <a:p>
                      <a:pPr algn="ctr"/>
                      <a:r>
                        <a:rPr lang="en-US" sz="800" b="1" dirty="0">
                          <a:solidFill>
                            <a:schemeClr val="tx1"/>
                          </a:solidFill>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US" sz="800" b="1" dirty="0">
                          <a:solidFill>
                            <a:schemeClr val="tx1"/>
                          </a:solidFill>
                        </a:rPr>
                        <a:t>-60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US" sz="800" b="1"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10001"/>
                  </a:ext>
                </a:extLst>
              </a:tr>
              <a:tr h="198809">
                <a:tc>
                  <a:txBody>
                    <a:bodyPr/>
                    <a:lstStyle/>
                    <a:p>
                      <a:pPr algn="ctr"/>
                      <a:r>
                        <a:rPr lang="en-US" sz="800" b="1"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sz="800" b="1" dirty="0">
                          <a:solidFill>
                            <a:schemeClr val="tx1"/>
                          </a:solidFill>
                        </a:rPr>
                        <a:t>-40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sz="800" b="1"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2"/>
                  </a:ext>
                </a:extLst>
              </a:tr>
              <a:tr h="198809">
                <a:tc>
                  <a:txBody>
                    <a:bodyPr/>
                    <a:lstStyle/>
                    <a:p>
                      <a:pPr algn="ctr"/>
                      <a:r>
                        <a:rPr lang="en-US" sz="800" b="1"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800" b="1"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800" b="1"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003"/>
                  </a:ext>
                </a:extLst>
              </a:tr>
            </a:tbl>
          </a:graphicData>
        </a:graphic>
      </p:graphicFrame>
      <p:grpSp>
        <p:nvGrpSpPr>
          <p:cNvPr id="20" name="Group 19">
            <a:extLst>
              <a:ext uri="{FF2B5EF4-FFF2-40B4-BE49-F238E27FC236}">
                <a16:creationId xmlns:a16="http://schemas.microsoft.com/office/drawing/2014/main" id="{D3FB0965-BEF6-40F4-9620-D230DA0E5CEA}"/>
              </a:ext>
            </a:extLst>
          </p:cNvPr>
          <p:cNvGrpSpPr/>
          <p:nvPr/>
        </p:nvGrpSpPr>
        <p:grpSpPr>
          <a:xfrm>
            <a:off x="2232549" y="5124558"/>
            <a:ext cx="1907665" cy="806266"/>
            <a:chOff x="2232549" y="5119521"/>
            <a:chExt cx="1907665" cy="806266"/>
          </a:xfrm>
        </p:grpSpPr>
        <p:grpSp>
          <p:nvGrpSpPr>
            <p:cNvPr id="21" name="Group 20">
              <a:extLst>
                <a:ext uri="{FF2B5EF4-FFF2-40B4-BE49-F238E27FC236}">
                  <a16:creationId xmlns:a16="http://schemas.microsoft.com/office/drawing/2014/main" id="{778ED863-59D4-4B28-B42D-7A26B591C1E0}"/>
                </a:ext>
              </a:extLst>
            </p:cNvPr>
            <p:cNvGrpSpPr/>
            <p:nvPr/>
          </p:nvGrpSpPr>
          <p:grpSpPr>
            <a:xfrm>
              <a:off x="2232549" y="5520047"/>
              <a:ext cx="1306295" cy="405740"/>
              <a:chOff x="2113799" y="5520047"/>
              <a:chExt cx="1306295" cy="405740"/>
            </a:xfrm>
          </p:grpSpPr>
          <p:sp>
            <p:nvSpPr>
              <p:cNvPr id="30" name="Oval 29">
                <a:extLst>
                  <a:ext uri="{FF2B5EF4-FFF2-40B4-BE49-F238E27FC236}">
                    <a16:creationId xmlns:a16="http://schemas.microsoft.com/office/drawing/2014/main" id="{A596E280-D8B1-4E3B-B4B9-B5348400B9C0}"/>
                  </a:ext>
                </a:extLst>
              </p:cNvPr>
              <p:cNvSpPr/>
              <p:nvPr/>
            </p:nvSpPr>
            <p:spPr>
              <a:xfrm>
                <a:off x="2113799" y="5617028"/>
                <a:ext cx="285008" cy="308759"/>
              </a:xfrm>
              <a:prstGeom prst="ellipse">
                <a:avLst/>
              </a:prstGeom>
              <a:solidFill>
                <a:srgbClr val="FFFF00"/>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4BD61EE0-D2E2-40FA-99D4-2BD4620E8B28}"/>
                  </a:ext>
                </a:extLst>
              </p:cNvPr>
              <p:cNvSpPr/>
              <p:nvPr/>
            </p:nvSpPr>
            <p:spPr>
              <a:xfrm>
                <a:off x="2266197" y="5520047"/>
                <a:ext cx="285008" cy="308759"/>
              </a:xfrm>
              <a:prstGeom prst="ellipse">
                <a:avLst/>
              </a:prstGeom>
              <a:solidFill>
                <a:srgbClr val="7030A0"/>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F9ABC016-C882-4548-85D9-420A055CC852}"/>
                  </a:ext>
                </a:extLst>
              </p:cNvPr>
              <p:cNvSpPr/>
              <p:nvPr/>
            </p:nvSpPr>
            <p:spPr>
              <a:xfrm>
                <a:off x="2382975" y="5613069"/>
                <a:ext cx="285008" cy="308759"/>
              </a:xfrm>
              <a:prstGeom prst="ellipse">
                <a:avLst/>
              </a:prstGeom>
              <a:solidFill>
                <a:srgbClr val="FFFF00"/>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Equal 39">
                <a:extLst>
                  <a:ext uri="{FF2B5EF4-FFF2-40B4-BE49-F238E27FC236}">
                    <a16:creationId xmlns:a16="http://schemas.microsoft.com/office/drawing/2014/main" id="{126646E4-9098-4CF5-83C0-0E8B810AAE74}"/>
                  </a:ext>
                </a:extLst>
              </p:cNvPr>
              <p:cNvSpPr/>
              <p:nvPr/>
            </p:nvSpPr>
            <p:spPr>
              <a:xfrm>
                <a:off x="2719440" y="5617027"/>
                <a:ext cx="320636" cy="237507"/>
              </a:xfrm>
              <a:prstGeom prst="mathEqual">
                <a:avLst/>
              </a:prstGeom>
              <a:solidFill>
                <a:schemeClr val="tx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0" name="TextBox 39">
                <a:extLst>
                  <a:ext uri="{FF2B5EF4-FFF2-40B4-BE49-F238E27FC236}">
                    <a16:creationId xmlns:a16="http://schemas.microsoft.com/office/drawing/2014/main" id="{A1E390D1-3BEF-4BCE-A16E-9D0B875D2E9E}"/>
                  </a:ext>
                </a:extLst>
              </p:cNvPr>
              <p:cNvSpPr txBox="1"/>
              <p:nvPr/>
            </p:nvSpPr>
            <p:spPr>
              <a:xfrm>
                <a:off x="2956961" y="5572188"/>
                <a:ext cx="463133" cy="338554"/>
              </a:xfrm>
              <a:prstGeom prst="rect">
                <a:avLst/>
              </a:prstGeom>
              <a:noFill/>
            </p:spPr>
            <p:txBody>
              <a:bodyPr wrap="square" rtlCol="0">
                <a:spAutoFit/>
              </a:bodyPr>
              <a:lstStyle/>
              <a:p>
                <a:pPr algn="ctr"/>
                <a:r>
                  <a:rPr lang="en-US" sz="1600" b="1" dirty="0"/>
                  <a:t>x3</a:t>
                </a:r>
              </a:p>
            </p:txBody>
          </p:sp>
        </p:grpSp>
        <p:sp>
          <p:nvSpPr>
            <p:cNvPr id="23" name="TextBox 22">
              <a:extLst>
                <a:ext uri="{FF2B5EF4-FFF2-40B4-BE49-F238E27FC236}">
                  <a16:creationId xmlns:a16="http://schemas.microsoft.com/office/drawing/2014/main" id="{BC5E9075-E7F7-4320-85D6-C355CE905340}"/>
                </a:ext>
              </a:extLst>
            </p:cNvPr>
            <p:cNvSpPr txBox="1"/>
            <p:nvPr/>
          </p:nvSpPr>
          <p:spPr>
            <a:xfrm>
              <a:off x="2232549" y="5212058"/>
              <a:ext cx="1907665" cy="246221"/>
            </a:xfrm>
            <a:prstGeom prst="rect">
              <a:avLst/>
            </a:prstGeom>
            <a:noFill/>
          </p:spPr>
          <p:txBody>
            <a:bodyPr wrap="square" rtlCol="0">
              <a:spAutoFit/>
            </a:bodyPr>
            <a:lstStyle/>
            <a:p>
              <a:pPr algn="ctr"/>
              <a:r>
                <a:rPr lang="en-US" sz="1000" b="1" dirty="0"/>
                <a:t>KEY:  </a:t>
              </a:r>
            </a:p>
          </p:txBody>
        </p:sp>
        <p:grpSp>
          <p:nvGrpSpPr>
            <p:cNvPr id="26" name="Group 19">
              <a:extLst>
                <a:ext uri="{FF2B5EF4-FFF2-40B4-BE49-F238E27FC236}">
                  <a16:creationId xmlns:a16="http://schemas.microsoft.com/office/drawing/2014/main" id="{494B84A1-AEDB-453B-9FCE-757D2E2BDB19}"/>
                </a:ext>
              </a:extLst>
            </p:cNvPr>
            <p:cNvGrpSpPr/>
            <p:nvPr/>
          </p:nvGrpSpPr>
          <p:grpSpPr>
            <a:xfrm>
              <a:off x="3396358" y="5119521"/>
              <a:ext cx="356935" cy="366879"/>
              <a:chOff x="2429301" y="2947916"/>
              <a:chExt cx="914400" cy="914400"/>
            </a:xfrm>
            <a:effectLst>
              <a:outerShdw blurRad="50800" dist="38100" dir="2700000" algn="tl" rotWithShape="0">
                <a:prstClr val="black">
                  <a:alpha val="40000"/>
                </a:prstClr>
              </a:outerShdw>
            </a:effectLst>
          </p:grpSpPr>
          <p:sp>
            <p:nvSpPr>
              <p:cNvPr id="27" name="Oval 26">
                <a:extLst>
                  <a:ext uri="{FF2B5EF4-FFF2-40B4-BE49-F238E27FC236}">
                    <a16:creationId xmlns:a16="http://schemas.microsoft.com/office/drawing/2014/main" id="{777F3AEC-6198-455C-B957-7A2325D3136E}"/>
                  </a:ext>
                </a:extLst>
              </p:cNvPr>
              <p:cNvSpPr/>
              <p:nvPr/>
            </p:nvSpPr>
            <p:spPr>
              <a:xfrm>
                <a:off x="2429301" y="2947916"/>
                <a:ext cx="914400" cy="914400"/>
              </a:xfrm>
              <a:prstGeom prst="ellipse">
                <a:avLst/>
              </a:prstGeom>
              <a:solidFill>
                <a:schemeClr val="bg1"/>
              </a:solidFill>
              <a:ln w="317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04F8007F-31FE-4205-B56D-670BB89DAFD8}"/>
                  </a:ext>
                </a:extLst>
              </p:cNvPr>
              <p:cNvSpPr/>
              <p:nvPr/>
            </p:nvSpPr>
            <p:spPr>
              <a:xfrm>
                <a:off x="2524836" y="3057099"/>
                <a:ext cx="723331" cy="709683"/>
              </a:xfrm>
              <a:prstGeom prst="ellipse">
                <a:avLst/>
              </a:prstGeom>
              <a:solidFill>
                <a:schemeClr val="bg1"/>
              </a:solidFill>
              <a:ln w="317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7183C82C-5829-4BAD-964D-C7228BB86952}"/>
                  </a:ext>
                </a:extLst>
              </p:cNvPr>
              <p:cNvSpPr/>
              <p:nvPr/>
            </p:nvSpPr>
            <p:spPr>
              <a:xfrm>
                <a:off x="2663589" y="3193571"/>
                <a:ext cx="448102" cy="450375"/>
              </a:xfrm>
              <a:prstGeom prst="ellipse">
                <a:avLst/>
              </a:prstGeom>
              <a:solidFill>
                <a:srgbClr val="FFFF00"/>
              </a:solidFill>
              <a:ln w="317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41" name="Group 19">
            <a:extLst>
              <a:ext uri="{FF2B5EF4-FFF2-40B4-BE49-F238E27FC236}">
                <a16:creationId xmlns:a16="http://schemas.microsoft.com/office/drawing/2014/main" id="{B320D2FC-4C50-416A-8393-8CF48125137A}"/>
              </a:ext>
            </a:extLst>
          </p:cNvPr>
          <p:cNvGrpSpPr/>
          <p:nvPr/>
        </p:nvGrpSpPr>
        <p:grpSpPr>
          <a:xfrm>
            <a:off x="2409125" y="2876936"/>
            <a:ext cx="963223" cy="948260"/>
            <a:chOff x="2524836" y="3057099"/>
            <a:chExt cx="723331" cy="709683"/>
          </a:xfrm>
          <a:effectLst>
            <a:outerShdw blurRad="50800" dist="38100" dir="2700000" algn="tl" rotWithShape="0">
              <a:prstClr val="black">
                <a:alpha val="40000"/>
              </a:prstClr>
            </a:outerShdw>
          </a:effectLst>
        </p:grpSpPr>
        <p:sp>
          <p:nvSpPr>
            <p:cNvPr id="42" name="Oval 41">
              <a:extLst>
                <a:ext uri="{FF2B5EF4-FFF2-40B4-BE49-F238E27FC236}">
                  <a16:creationId xmlns:a16="http://schemas.microsoft.com/office/drawing/2014/main" id="{B00F91D1-11F4-497B-B540-E048FDA9EC35}"/>
                </a:ext>
              </a:extLst>
            </p:cNvPr>
            <p:cNvSpPr/>
            <p:nvPr/>
          </p:nvSpPr>
          <p:spPr>
            <a:xfrm>
              <a:off x="2524836" y="3057099"/>
              <a:ext cx="723331" cy="709683"/>
            </a:xfrm>
            <a:prstGeom prst="ellipse">
              <a:avLst/>
            </a:prstGeom>
            <a:solidFill>
              <a:schemeClr val="bg1"/>
            </a:solid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79DDBF27-6B32-4F8B-87FA-D653D8735459}"/>
                </a:ext>
              </a:extLst>
            </p:cNvPr>
            <p:cNvSpPr/>
            <p:nvPr/>
          </p:nvSpPr>
          <p:spPr>
            <a:xfrm>
              <a:off x="2663589" y="3193571"/>
              <a:ext cx="448102" cy="450375"/>
            </a:xfrm>
            <a:prstGeom prst="ellipse">
              <a:avLst/>
            </a:prstGeom>
            <a:solidFill>
              <a:srgbClr val="FFFF00"/>
            </a:solid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45" name="Table 6">
            <a:extLst>
              <a:ext uri="{FF2B5EF4-FFF2-40B4-BE49-F238E27FC236}">
                <a16:creationId xmlns:a16="http://schemas.microsoft.com/office/drawing/2014/main" id="{26D814AD-B394-4D50-8D88-6B3A45BEDFA4}"/>
              </a:ext>
            </a:extLst>
          </p:cNvPr>
          <p:cNvGraphicFramePr>
            <a:graphicFrameLocks noGrp="1"/>
          </p:cNvGraphicFramePr>
          <p:nvPr>
            <p:extLst>
              <p:ext uri="{D42A27DB-BD31-4B8C-83A1-F6EECF244321}">
                <p14:modId xmlns:p14="http://schemas.microsoft.com/office/powerpoint/2010/main" val="4123690474"/>
              </p:ext>
            </p:extLst>
          </p:nvPr>
        </p:nvGraphicFramePr>
        <p:xfrm>
          <a:off x="4830969" y="719665"/>
          <a:ext cx="5737719" cy="3017520"/>
        </p:xfrm>
        <a:graphic>
          <a:graphicData uri="http://schemas.openxmlformats.org/drawingml/2006/table">
            <a:tbl>
              <a:tblPr firstRow="1" bandRow="1">
                <a:tableStyleId>{5940675A-B579-460E-94D1-54222C63F5DA}</a:tableStyleId>
              </a:tblPr>
              <a:tblGrid>
                <a:gridCol w="5737719">
                  <a:extLst>
                    <a:ext uri="{9D8B030D-6E8A-4147-A177-3AD203B41FA5}">
                      <a16:colId xmlns:a16="http://schemas.microsoft.com/office/drawing/2014/main" val="3887999668"/>
                    </a:ext>
                  </a:extLst>
                </a:gridCol>
              </a:tblGrid>
              <a:tr h="483493">
                <a:tc>
                  <a:txBody>
                    <a:bodyPr/>
                    <a:lstStyle/>
                    <a:p>
                      <a:pPr algn="ctr"/>
                      <a:r>
                        <a:rPr lang="en-US" sz="3600" b="1" dirty="0"/>
                        <a:t>CORE OBJECTIVES </a:t>
                      </a:r>
                    </a:p>
                    <a:p>
                      <a:pPr algn="ctr"/>
                      <a:r>
                        <a:rPr lang="en-US" sz="3600" b="1" dirty="0"/>
                        <a:t>JOB FUNCTIONS</a:t>
                      </a:r>
                    </a:p>
                  </a:txBody>
                  <a:tcPr/>
                </a:tc>
                <a:extLst>
                  <a:ext uri="{0D108BD9-81ED-4DB2-BD59-A6C34878D82A}">
                    <a16:rowId xmlns:a16="http://schemas.microsoft.com/office/drawing/2014/main" val="1324454018"/>
                  </a:ext>
                </a:extLst>
              </a:tr>
              <a:tr h="1246241">
                <a:tc>
                  <a:txBody>
                    <a:bodyPr/>
                    <a:lstStyle/>
                    <a:p>
                      <a:pPr algn="ctr"/>
                      <a:endParaRPr lang="en-US" sz="1800" b="1" dirty="0"/>
                    </a:p>
                    <a:p>
                      <a:pPr algn="ctr"/>
                      <a:r>
                        <a:rPr lang="en-US" sz="2400" b="1" dirty="0"/>
                        <a:t>SKILL/CAREERS- PROJECT MANAGEMENT, SCRUM MASTER, ISO AUDITOR, BUSINESS PLANNING, ACCOUNTING, LEGAL</a:t>
                      </a:r>
                    </a:p>
                    <a:p>
                      <a:pPr algn="ctr"/>
                      <a:endParaRPr lang="en-US" sz="2400" b="1" dirty="0"/>
                    </a:p>
                  </a:txBody>
                  <a:tcPr/>
                </a:tc>
                <a:extLst>
                  <a:ext uri="{0D108BD9-81ED-4DB2-BD59-A6C34878D82A}">
                    <a16:rowId xmlns:a16="http://schemas.microsoft.com/office/drawing/2014/main" val="682039194"/>
                  </a:ext>
                </a:extLst>
              </a:tr>
            </a:tbl>
          </a:graphicData>
        </a:graphic>
      </p:graphicFrame>
      <p:graphicFrame>
        <p:nvGraphicFramePr>
          <p:cNvPr id="24" name="Table 7">
            <a:extLst>
              <a:ext uri="{FF2B5EF4-FFF2-40B4-BE49-F238E27FC236}">
                <a16:creationId xmlns:a16="http://schemas.microsoft.com/office/drawing/2014/main" id="{C778E3BB-BD12-4448-BFA1-FE92585F056A}"/>
              </a:ext>
            </a:extLst>
          </p:cNvPr>
          <p:cNvGraphicFramePr>
            <a:graphicFrameLocks noGrp="1"/>
          </p:cNvGraphicFramePr>
          <p:nvPr/>
        </p:nvGraphicFramePr>
        <p:xfrm>
          <a:off x="4865663" y="4713591"/>
          <a:ext cx="5926384" cy="518160"/>
        </p:xfrm>
        <a:graphic>
          <a:graphicData uri="http://schemas.openxmlformats.org/drawingml/2006/table">
            <a:tbl>
              <a:tblPr firstRow="1" bandRow="1">
                <a:tableStyleId>{5C22544A-7EE6-4342-B048-85BDC9FD1C3A}</a:tableStyleId>
              </a:tblPr>
              <a:tblGrid>
                <a:gridCol w="2963192">
                  <a:extLst>
                    <a:ext uri="{9D8B030D-6E8A-4147-A177-3AD203B41FA5}">
                      <a16:colId xmlns:a16="http://schemas.microsoft.com/office/drawing/2014/main" val="1028654853"/>
                    </a:ext>
                  </a:extLst>
                </a:gridCol>
                <a:gridCol w="2963192">
                  <a:extLst>
                    <a:ext uri="{9D8B030D-6E8A-4147-A177-3AD203B41FA5}">
                      <a16:colId xmlns:a16="http://schemas.microsoft.com/office/drawing/2014/main" val="2159636558"/>
                    </a:ext>
                  </a:extLst>
                </a:gridCol>
              </a:tblGrid>
              <a:tr h="370840">
                <a:tc>
                  <a:txBody>
                    <a:bodyPr/>
                    <a:lstStyle/>
                    <a:p>
                      <a:pPr algn="ctr"/>
                      <a:r>
                        <a:rPr lang="en-US" dirty="0">
                          <a:solidFill>
                            <a:srgbClr val="C00000"/>
                          </a:solidFill>
                        </a:rPr>
                        <a:t>INSIGHT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400" dirty="0">
                          <a:solidFill>
                            <a:srgbClr val="C00000"/>
                          </a:solidFill>
                        </a:rPr>
                        <a:t>SEEK AN UPGRADE WITH CORE VALUE SKILL SETS.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823397659"/>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9861884" cy="1325563"/>
          </a:xfrm>
          <a:solidFill>
            <a:srgbClr val="FFFF00"/>
          </a:solidFill>
        </p:spPr>
        <p:txBody>
          <a:bodyPr/>
          <a:lstStyle/>
          <a:p>
            <a:r>
              <a:rPr lang="en-US" b="1" dirty="0"/>
              <a:t>RELATIONAL CARDS: SKILL SETS</a:t>
            </a:r>
          </a:p>
        </p:txBody>
      </p:sp>
      <p:sp>
        <p:nvSpPr>
          <p:cNvPr id="3" name="Content Placeholder 2"/>
          <p:cNvSpPr>
            <a:spLocks noGrp="1"/>
          </p:cNvSpPr>
          <p:nvPr>
            <p:ph idx="1"/>
          </p:nvPr>
        </p:nvSpPr>
        <p:spPr>
          <a:xfrm>
            <a:off x="838200" y="1825625"/>
            <a:ext cx="9693166" cy="4351338"/>
          </a:xfrm>
        </p:spPr>
        <p:txBody>
          <a:bodyPr/>
          <a:lstStyle/>
          <a:p>
            <a:r>
              <a:rPr lang="en-US" dirty="0"/>
              <a:t>CORE VALUES: Skill/Careers- HR, Audit, Company Secretary, Control, Regulatory Agency Professional.</a:t>
            </a:r>
            <a:br>
              <a:rPr lang="en-US" dirty="0"/>
            </a:br>
            <a:br>
              <a:rPr lang="en-US" dirty="0"/>
            </a:br>
            <a:r>
              <a:rPr lang="en-US" dirty="0"/>
              <a:t>CORE OBJECTIVES: Skill/Careers- Project Management, ISO Auditor, Business Planning, Accounting, Legal.</a:t>
            </a:r>
            <a:br>
              <a:rPr lang="en-US" dirty="0"/>
            </a:br>
            <a:br>
              <a:rPr lang="en-US" dirty="0"/>
            </a:br>
            <a:r>
              <a:rPr lang="en-US" dirty="0"/>
              <a:t>CULTURE: Skill/Careers- HR, Training, Policy Formulation, Fashion, Quality Control, Compliance, Trend Analysis, Popular Culture, Religion, Corporate Communications.</a:t>
            </a:r>
          </a:p>
        </p:txBody>
      </p:sp>
    </p:spTree>
    <p:extLst>
      <p:ext uri="{BB962C8B-B14F-4D97-AF65-F5344CB8AC3E}">
        <p14:creationId xmlns:p14="http://schemas.microsoft.com/office/powerpoint/2010/main" val="23008796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1306286" y="769258"/>
            <a:ext cx="3207657" cy="5312228"/>
            <a:chOff x="1306286" y="769258"/>
            <a:chExt cx="3207657" cy="5312228"/>
          </a:xfrm>
        </p:grpSpPr>
        <p:sp>
          <p:nvSpPr>
            <p:cNvPr id="2" name="Rounded Rectangle 1"/>
            <p:cNvSpPr/>
            <p:nvPr/>
          </p:nvSpPr>
          <p:spPr>
            <a:xfrm>
              <a:off x="1306286" y="783771"/>
              <a:ext cx="3207657" cy="5297715"/>
            </a:xfrm>
            <a:prstGeom prst="roundRect">
              <a:avLst/>
            </a:prstGeom>
            <a:solidFill>
              <a:schemeClr val="bg1"/>
            </a:solidFill>
            <a:ln w="76200">
              <a:solidFill>
                <a:schemeClr val="bg1">
                  <a:lumMod val="6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 Same Side Corner Rectangle 2"/>
            <p:cNvSpPr/>
            <p:nvPr/>
          </p:nvSpPr>
          <p:spPr>
            <a:xfrm>
              <a:off x="1306286" y="769258"/>
              <a:ext cx="3207657" cy="1146626"/>
            </a:xfrm>
            <a:prstGeom prst="round2SameRect">
              <a:avLst/>
            </a:prstGeom>
            <a:solidFill>
              <a:schemeClr val="bg1">
                <a:lumMod val="85000"/>
              </a:schemeClr>
            </a:solidFill>
            <a:ln w="762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R BONNIE" pitchFamily="2" charset="0"/>
                </a:rPr>
                <a:t>PERSONNEL</a:t>
              </a:r>
            </a:p>
          </p:txBody>
        </p:sp>
      </p:grpSp>
      <p:sp>
        <p:nvSpPr>
          <p:cNvPr id="12" name="TextBox 11"/>
          <p:cNvSpPr txBox="1"/>
          <p:nvPr/>
        </p:nvSpPr>
        <p:spPr>
          <a:xfrm>
            <a:off x="1539591" y="1969595"/>
            <a:ext cx="2783202" cy="430887"/>
          </a:xfrm>
          <a:prstGeom prst="rect">
            <a:avLst/>
          </a:prstGeom>
          <a:noFill/>
        </p:spPr>
        <p:txBody>
          <a:bodyPr wrap="square" rtlCol="0">
            <a:spAutoFit/>
          </a:bodyPr>
          <a:lstStyle/>
          <a:p>
            <a:pPr algn="ctr"/>
            <a:r>
              <a:rPr lang="en-US" sz="1050" b="1" dirty="0"/>
              <a:t>BUILD YOUR TRIBE?</a:t>
            </a:r>
          </a:p>
          <a:p>
            <a:pPr algn="ctr"/>
            <a:r>
              <a:rPr lang="en-US" sz="1050" b="1" dirty="0"/>
              <a:t>WHO ARE YOUR TRIBESMEN/WOMEN?</a:t>
            </a:r>
          </a:p>
        </p:txBody>
      </p:sp>
      <p:sp>
        <p:nvSpPr>
          <p:cNvPr id="13" name="TextBox 12"/>
          <p:cNvSpPr txBox="1"/>
          <p:nvPr/>
        </p:nvSpPr>
        <p:spPr>
          <a:xfrm>
            <a:off x="1618962" y="2599799"/>
            <a:ext cx="851338" cy="400110"/>
          </a:xfrm>
          <a:prstGeom prst="rect">
            <a:avLst/>
          </a:prstGeom>
          <a:noFill/>
        </p:spPr>
        <p:txBody>
          <a:bodyPr wrap="square" rtlCol="0">
            <a:spAutoFit/>
          </a:bodyPr>
          <a:lstStyle/>
          <a:p>
            <a:pPr algn="ctr"/>
            <a:r>
              <a:rPr lang="en-US" sz="2000" b="1" dirty="0"/>
              <a:t>+15</a:t>
            </a:r>
            <a:endParaRPr lang="en-US" sz="2800" b="1" dirty="0"/>
          </a:p>
        </p:txBody>
      </p:sp>
      <p:sp>
        <p:nvSpPr>
          <p:cNvPr id="19" name="Rectangle 18"/>
          <p:cNvSpPr/>
          <p:nvPr/>
        </p:nvSpPr>
        <p:spPr>
          <a:xfrm>
            <a:off x="2486177" y="2867341"/>
            <a:ext cx="672655" cy="600114"/>
          </a:xfrm>
          <a:prstGeom prst="rect">
            <a:avLst/>
          </a:prstGeom>
          <a:solidFill>
            <a:schemeClr val="tx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4" name="Table 33"/>
          <p:cNvGraphicFramePr>
            <a:graphicFrameLocks noGrp="1"/>
          </p:cNvGraphicFramePr>
          <p:nvPr/>
        </p:nvGraphicFramePr>
        <p:xfrm>
          <a:off x="2149434" y="3611525"/>
          <a:ext cx="1425039" cy="1014594"/>
        </p:xfrm>
        <a:graphic>
          <a:graphicData uri="http://schemas.openxmlformats.org/drawingml/2006/table">
            <a:tbl>
              <a:tblPr firstRow="1" bandRow="1">
                <a:tableStyleId>{5C22544A-7EE6-4342-B048-85BDC9FD1C3A}</a:tableStyleId>
              </a:tblPr>
              <a:tblGrid>
                <a:gridCol w="475013">
                  <a:extLst>
                    <a:ext uri="{9D8B030D-6E8A-4147-A177-3AD203B41FA5}">
                      <a16:colId xmlns:a16="http://schemas.microsoft.com/office/drawing/2014/main" val="20000"/>
                    </a:ext>
                  </a:extLst>
                </a:gridCol>
                <a:gridCol w="475013">
                  <a:extLst>
                    <a:ext uri="{9D8B030D-6E8A-4147-A177-3AD203B41FA5}">
                      <a16:colId xmlns:a16="http://schemas.microsoft.com/office/drawing/2014/main" val="20001"/>
                    </a:ext>
                  </a:extLst>
                </a:gridCol>
                <a:gridCol w="475013">
                  <a:extLst>
                    <a:ext uri="{9D8B030D-6E8A-4147-A177-3AD203B41FA5}">
                      <a16:colId xmlns:a16="http://schemas.microsoft.com/office/drawing/2014/main" val="20002"/>
                    </a:ext>
                  </a:extLst>
                </a:gridCol>
              </a:tblGrid>
              <a:tr h="236598">
                <a:tc gridSpan="2">
                  <a:txBody>
                    <a:bodyPr/>
                    <a:lstStyle/>
                    <a:p>
                      <a:pPr algn="ctr"/>
                      <a:r>
                        <a:rPr lang="en-US" sz="700" b="1" dirty="0">
                          <a:solidFill>
                            <a:schemeClr val="tx1"/>
                          </a:solidFill>
                        </a:rPr>
                        <a:t>RISK WEIGHT PENALTY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700" b="1" dirty="0">
                          <a:solidFill>
                            <a:schemeClr val="tx1"/>
                          </a:solidFill>
                        </a:rPr>
                        <a:t>RISK SCORE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236598">
                <a:tc>
                  <a:txBody>
                    <a:bodyPr/>
                    <a:lstStyle/>
                    <a:p>
                      <a:pPr algn="ctr"/>
                      <a:r>
                        <a:rPr lang="en-US" sz="900" b="1" dirty="0">
                          <a:solidFill>
                            <a:schemeClr val="tx1"/>
                          </a:solidFill>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US" sz="900" b="1" dirty="0">
                          <a:solidFill>
                            <a:schemeClr val="tx1"/>
                          </a:solidFill>
                        </a:rPr>
                        <a:t>-60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US" sz="900" b="1"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10001"/>
                  </a:ext>
                </a:extLst>
              </a:tr>
              <a:tr h="236598">
                <a:tc>
                  <a:txBody>
                    <a:bodyPr/>
                    <a:lstStyle/>
                    <a:p>
                      <a:pPr algn="ctr"/>
                      <a:r>
                        <a:rPr lang="en-US" sz="900" b="1"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sz="900" b="1" dirty="0">
                          <a:solidFill>
                            <a:schemeClr val="tx1"/>
                          </a:solidFill>
                        </a:rPr>
                        <a:t>-40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sz="900" b="1"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2"/>
                  </a:ext>
                </a:extLst>
              </a:tr>
              <a:tr h="236598">
                <a:tc>
                  <a:txBody>
                    <a:bodyPr/>
                    <a:lstStyle/>
                    <a:p>
                      <a:pPr algn="ctr"/>
                      <a:r>
                        <a:rPr lang="en-US" sz="900" b="1"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900" b="1"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900" b="1"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003"/>
                  </a:ext>
                </a:extLst>
              </a:tr>
            </a:tbl>
          </a:graphicData>
        </a:graphic>
      </p:graphicFrame>
      <p:sp>
        <p:nvSpPr>
          <p:cNvPr id="21" name="5-Point Star 20"/>
          <p:cNvSpPr/>
          <p:nvPr/>
        </p:nvSpPr>
        <p:spPr>
          <a:xfrm>
            <a:off x="3350172" y="2605165"/>
            <a:ext cx="420235" cy="393799"/>
          </a:xfrm>
          <a:prstGeom prst="star5">
            <a:avLst/>
          </a:prstGeom>
          <a:solidFill>
            <a:srgbClr val="FF0000"/>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dirty="0">
              <a:solidFill>
                <a:schemeClr val="tx1"/>
              </a:solidFill>
            </a:endParaRPr>
          </a:p>
        </p:txBody>
      </p:sp>
      <p:sp>
        <p:nvSpPr>
          <p:cNvPr id="22" name="TextBox 21"/>
          <p:cNvSpPr txBox="1"/>
          <p:nvPr/>
        </p:nvSpPr>
        <p:spPr>
          <a:xfrm>
            <a:off x="3302697" y="2640752"/>
            <a:ext cx="494604" cy="338554"/>
          </a:xfrm>
          <a:prstGeom prst="rect">
            <a:avLst/>
          </a:prstGeom>
          <a:noFill/>
        </p:spPr>
        <p:txBody>
          <a:bodyPr wrap="square" rtlCol="0">
            <a:spAutoFit/>
          </a:bodyPr>
          <a:lstStyle/>
          <a:p>
            <a:pPr algn="ctr"/>
            <a:r>
              <a:rPr lang="en-US" sz="1600" b="1" dirty="0">
                <a:solidFill>
                  <a:schemeClr val="bg1"/>
                </a:solidFill>
              </a:rPr>
              <a:t>x6</a:t>
            </a:r>
            <a:endParaRPr lang="en-US" sz="2000" b="1" dirty="0">
              <a:solidFill>
                <a:schemeClr val="bg1"/>
              </a:solidFill>
            </a:endParaRPr>
          </a:p>
        </p:txBody>
      </p:sp>
      <p:grpSp>
        <p:nvGrpSpPr>
          <p:cNvPr id="20" name="Group 19">
            <a:extLst>
              <a:ext uri="{FF2B5EF4-FFF2-40B4-BE49-F238E27FC236}">
                <a16:creationId xmlns:a16="http://schemas.microsoft.com/office/drawing/2014/main" id="{C6AB662D-1526-4272-A8F5-C0394D082F3A}"/>
              </a:ext>
            </a:extLst>
          </p:cNvPr>
          <p:cNvGrpSpPr/>
          <p:nvPr/>
        </p:nvGrpSpPr>
        <p:grpSpPr>
          <a:xfrm>
            <a:off x="2113799" y="4818886"/>
            <a:ext cx="1859110" cy="1128167"/>
            <a:chOff x="2113799" y="4797620"/>
            <a:chExt cx="1859110" cy="1128167"/>
          </a:xfrm>
        </p:grpSpPr>
        <p:sp>
          <p:nvSpPr>
            <p:cNvPr id="23" name="Oval 22">
              <a:extLst>
                <a:ext uri="{FF2B5EF4-FFF2-40B4-BE49-F238E27FC236}">
                  <a16:creationId xmlns:a16="http://schemas.microsoft.com/office/drawing/2014/main" id="{5B323770-1200-4D95-A372-AF9C0DD4C2D6}"/>
                </a:ext>
              </a:extLst>
            </p:cNvPr>
            <p:cNvSpPr/>
            <p:nvPr/>
          </p:nvSpPr>
          <p:spPr>
            <a:xfrm>
              <a:off x="2113799" y="5617028"/>
              <a:ext cx="285008" cy="308759"/>
            </a:xfrm>
            <a:prstGeom prst="ellipse">
              <a:avLst/>
            </a:prstGeom>
            <a:solidFill>
              <a:schemeClr val="tx1"/>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0F0DE358-56B1-4183-942F-B4B7876A2237}"/>
                </a:ext>
              </a:extLst>
            </p:cNvPr>
            <p:cNvSpPr/>
            <p:nvPr/>
          </p:nvSpPr>
          <p:spPr>
            <a:xfrm>
              <a:off x="2266197" y="5520047"/>
              <a:ext cx="285008" cy="308759"/>
            </a:xfrm>
            <a:prstGeom prst="ellipse">
              <a:avLst/>
            </a:prstGeom>
            <a:solidFill>
              <a:srgbClr val="7030A0"/>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757A5E85-E741-4DAE-AB92-62960097183E}"/>
                </a:ext>
              </a:extLst>
            </p:cNvPr>
            <p:cNvSpPr/>
            <p:nvPr/>
          </p:nvSpPr>
          <p:spPr>
            <a:xfrm>
              <a:off x="2382975" y="5613069"/>
              <a:ext cx="285008" cy="308759"/>
            </a:xfrm>
            <a:prstGeom prst="ellipse">
              <a:avLst/>
            </a:prstGeom>
            <a:solidFill>
              <a:schemeClr val="tx1"/>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Equal 22">
              <a:extLst>
                <a:ext uri="{FF2B5EF4-FFF2-40B4-BE49-F238E27FC236}">
                  <a16:creationId xmlns:a16="http://schemas.microsoft.com/office/drawing/2014/main" id="{838A8070-2379-4BBA-AA03-ABF5E42AEF6D}"/>
                </a:ext>
              </a:extLst>
            </p:cNvPr>
            <p:cNvSpPr/>
            <p:nvPr/>
          </p:nvSpPr>
          <p:spPr>
            <a:xfrm>
              <a:off x="2719440" y="5617027"/>
              <a:ext cx="320636" cy="237507"/>
            </a:xfrm>
            <a:prstGeom prst="mathEqual">
              <a:avLst/>
            </a:prstGeom>
            <a:solidFill>
              <a:schemeClr val="tx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6" name="TextBox 35">
              <a:extLst>
                <a:ext uri="{FF2B5EF4-FFF2-40B4-BE49-F238E27FC236}">
                  <a16:creationId xmlns:a16="http://schemas.microsoft.com/office/drawing/2014/main" id="{558FF2BF-8EF5-42F0-AD78-138CB7343B01}"/>
                </a:ext>
              </a:extLst>
            </p:cNvPr>
            <p:cNvSpPr txBox="1"/>
            <p:nvPr/>
          </p:nvSpPr>
          <p:spPr>
            <a:xfrm>
              <a:off x="2956961" y="5572188"/>
              <a:ext cx="463133" cy="338554"/>
            </a:xfrm>
            <a:prstGeom prst="rect">
              <a:avLst/>
            </a:prstGeom>
            <a:noFill/>
          </p:spPr>
          <p:txBody>
            <a:bodyPr wrap="square" rtlCol="0">
              <a:spAutoFit/>
            </a:bodyPr>
            <a:lstStyle/>
            <a:p>
              <a:pPr algn="ctr"/>
              <a:r>
                <a:rPr lang="en-US" sz="1600" b="1" dirty="0"/>
                <a:t>x3</a:t>
              </a:r>
            </a:p>
          </p:txBody>
        </p:sp>
        <p:sp>
          <p:nvSpPr>
            <p:cNvPr id="37" name="TextBox 36">
              <a:extLst>
                <a:ext uri="{FF2B5EF4-FFF2-40B4-BE49-F238E27FC236}">
                  <a16:creationId xmlns:a16="http://schemas.microsoft.com/office/drawing/2014/main" id="{9876331C-D8FF-493A-A8D8-1445877C82CE}"/>
                </a:ext>
              </a:extLst>
            </p:cNvPr>
            <p:cNvSpPr txBox="1"/>
            <p:nvPr/>
          </p:nvSpPr>
          <p:spPr>
            <a:xfrm>
              <a:off x="2149434" y="4963926"/>
              <a:ext cx="1214571" cy="246221"/>
            </a:xfrm>
            <a:prstGeom prst="rect">
              <a:avLst/>
            </a:prstGeom>
            <a:noFill/>
          </p:spPr>
          <p:txBody>
            <a:bodyPr wrap="square" rtlCol="0">
              <a:spAutoFit/>
            </a:bodyPr>
            <a:lstStyle/>
            <a:p>
              <a:pPr algn="ctr"/>
              <a:r>
                <a:rPr lang="en-US" sz="1000" b="1" dirty="0"/>
                <a:t>KEY:  </a:t>
              </a:r>
            </a:p>
          </p:txBody>
        </p:sp>
        <p:grpSp>
          <p:nvGrpSpPr>
            <p:cNvPr id="38" name="Group 37">
              <a:extLst>
                <a:ext uri="{FF2B5EF4-FFF2-40B4-BE49-F238E27FC236}">
                  <a16:creationId xmlns:a16="http://schemas.microsoft.com/office/drawing/2014/main" id="{703604DE-9535-40AF-BE95-136CA67E14E7}"/>
                </a:ext>
              </a:extLst>
            </p:cNvPr>
            <p:cNvGrpSpPr/>
            <p:nvPr/>
          </p:nvGrpSpPr>
          <p:grpSpPr>
            <a:xfrm>
              <a:off x="2969104" y="4797620"/>
              <a:ext cx="510366" cy="451272"/>
              <a:chOff x="2042829" y="3135076"/>
              <a:chExt cx="1493148" cy="1333883"/>
            </a:xfrm>
          </p:grpSpPr>
          <p:sp>
            <p:nvSpPr>
              <p:cNvPr id="40" name="Rectangle 39">
                <a:extLst>
                  <a:ext uri="{FF2B5EF4-FFF2-40B4-BE49-F238E27FC236}">
                    <a16:creationId xmlns:a16="http://schemas.microsoft.com/office/drawing/2014/main" id="{62539AC6-7540-4CDE-BB4D-FE83FC95E7AA}"/>
                  </a:ext>
                </a:extLst>
              </p:cNvPr>
              <p:cNvSpPr/>
              <p:nvPr/>
            </p:nvSpPr>
            <p:spPr>
              <a:xfrm>
                <a:off x="2438677" y="3135076"/>
                <a:ext cx="672655" cy="600114"/>
              </a:xfrm>
              <a:prstGeom prst="rect">
                <a:avLst/>
              </a:prstGeom>
              <a:solidFill>
                <a:schemeClr val="tx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4E593829-2C23-400B-9E52-15252442A961}"/>
                  </a:ext>
                </a:extLst>
              </p:cNvPr>
              <p:cNvSpPr/>
              <p:nvPr/>
            </p:nvSpPr>
            <p:spPr>
              <a:xfrm>
                <a:off x="2863322" y="3868846"/>
                <a:ext cx="672655" cy="600113"/>
              </a:xfrm>
              <a:prstGeom prst="rect">
                <a:avLst/>
              </a:prstGeom>
              <a:solidFill>
                <a:schemeClr val="bg1">
                  <a:lumMod val="65000"/>
                </a:schemeClr>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4B4C805C-4FC6-40E5-BA99-A28892B1F957}"/>
                  </a:ext>
                </a:extLst>
              </p:cNvPr>
              <p:cNvSpPr/>
              <p:nvPr/>
            </p:nvSpPr>
            <p:spPr>
              <a:xfrm>
                <a:off x="2042829" y="3854989"/>
                <a:ext cx="672655" cy="600113"/>
              </a:xfrm>
              <a:prstGeom prst="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9" name="Oval 38">
              <a:extLst>
                <a:ext uri="{FF2B5EF4-FFF2-40B4-BE49-F238E27FC236}">
                  <a16:creationId xmlns:a16="http://schemas.microsoft.com/office/drawing/2014/main" id="{CF740488-26D4-473E-AD9C-715A3E0B96F6}"/>
                </a:ext>
              </a:extLst>
            </p:cNvPr>
            <p:cNvSpPr/>
            <p:nvPr/>
          </p:nvSpPr>
          <p:spPr>
            <a:xfrm>
              <a:off x="3685125" y="4878757"/>
              <a:ext cx="287784" cy="292331"/>
            </a:xfrm>
            <a:prstGeom prst="ellipse">
              <a:avLst/>
            </a:prstGeom>
            <a:solidFill>
              <a:srgbClr val="FFFF00"/>
            </a:solidFill>
            <a:ln w="76200">
              <a:solidFill>
                <a:srgbClr val="FFFF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33" name="Table 6">
            <a:extLst>
              <a:ext uri="{FF2B5EF4-FFF2-40B4-BE49-F238E27FC236}">
                <a16:creationId xmlns:a16="http://schemas.microsoft.com/office/drawing/2014/main" id="{E9C62120-F475-42CE-BB31-18859291771A}"/>
              </a:ext>
            </a:extLst>
          </p:cNvPr>
          <p:cNvGraphicFramePr>
            <a:graphicFrameLocks noGrp="1"/>
          </p:cNvGraphicFramePr>
          <p:nvPr/>
        </p:nvGraphicFramePr>
        <p:xfrm>
          <a:off x="4830969" y="719665"/>
          <a:ext cx="5737719" cy="4114800"/>
        </p:xfrm>
        <a:graphic>
          <a:graphicData uri="http://schemas.openxmlformats.org/drawingml/2006/table">
            <a:tbl>
              <a:tblPr firstRow="1" bandRow="1">
                <a:tableStyleId>{5940675A-B579-460E-94D1-54222C63F5DA}</a:tableStyleId>
              </a:tblPr>
              <a:tblGrid>
                <a:gridCol w="5737719">
                  <a:extLst>
                    <a:ext uri="{9D8B030D-6E8A-4147-A177-3AD203B41FA5}">
                      <a16:colId xmlns:a16="http://schemas.microsoft.com/office/drawing/2014/main" val="3887999668"/>
                    </a:ext>
                  </a:extLst>
                </a:gridCol>
              </a:tblGrid>
              <a:tr h="483493">
                <a:tc>
                  <a:txBody>
                    <a:bodyPr/>
                    <a:lstStyle/>
                    <a:p>
                      <a:pPr algn="ctr"/>
                      <a:r>
                        <a:rPr lang="en-US" sz="3600" b="1" dirty="0"/>
                        <a:t>PERSONNEL </a:t>
                      </a:r>
                    </a:p>
                    <a:p>
                      <a:pPr algn="ctr"/>
                      <a:r>
                        <a:rPr lang="en-US" sz="3600" b="1" dirty="0"/>
                        <a:t>JOB FUNCTIONS</a:t>
                      </a:r>
                    </a:p>
                  </a:txBody>
                  <a:tcPr/>
                </a:tc>
                <a:extLst>
                  <a:ext uri="{0D108BD9-81ED-4DB2-BD59-A6C34878D82A}">
                    <a16:rowId xmlns:a16="http://schemas.microsoft.com/office/drawing/2014/main" val="1324454018"/>
                  </a:ext>
                </a:extLst>
              </a:tr>
              <a:tr h="1246241">
                <a:tc>
                  <a:txBody>
                    <a:bodyPr/>
                    <a:lstStyle/>
                    <a:p>
                      <a:pPr algn="ctr"/>
                      <a:endParaRPr lang="en-US" sz="1800" b="1" dirty="0"/>
                    </a:p>
                    <a:p>
                      <a:pPr algn="ctr"/>
                      <a:r>
                        <a:rPr lang="en-US" sz="2400" b="1" dirty="0"/>
                        <a:t>SKILL/CAREERS- HR, TRAINING, LEGAL, POLICY FORMULATION, SEARCH &amp; SELECTION, TESTING, CERTIFICATION TRAINING, OUTSOURCING, IN SOURCING, ALL HUMAN RESOURCE MANAGEMENT CERTIFICATIONS.</a:t>
                      </a:r>
                    </a:p>
                    <a:p>
                      <a:pPr algn="ctr"/>
                      <a:endParaRPr lang="en-US" sz="2400" b="1" dirty="0"/>
                    </a:p>
                  </a:txBody>
                  <a:tcPr/>
                </a:tc>
                <a:extLst>
                  <a:ext uri="{0D108BD9-81ED-4DB2-BD59-A6C34878D82A}">
                    <a16:rowId xmlns:a16="http://schemas.microsoft.com/office/drawing/2014/main" val="682039194"/>
                  </a:ext>
                </a:extLst>
              </a:tr>
            </a:tbl>
          </a:graphicData>
        </a:graphic>
      </p:graphicFrame>
      <p:graphicFrame>
        <p:nvGraphicFramePr>
          <p:cNvPr id="24" name="Table 7">
            <a:extLst>
              <a:ext uri="{FF2B5EF4-FFF2-40B4-BE49-F238E27FC236}">
                <a16:creationId xmlns:a16="http://schemas.microsoft.com/office/drawing/2014/main" id="{236D6766-5CA8-4EB7-9735-C9BBE0FC08FD}"/>
              </a:ext>
            </a:extLst>
          </p:cNvPr>
          <p:cNvGraphicFramePr>
            <a:graphicFrameLocks noGrp="1"/>
          </p:cNvGraphicFramePr>
          <p:nvPr/>
        </p:nvGraphicFramePr>
        <p:xfrm>
          <a:off x="4727434" y="5021943"/>
          <a:ext cx="5926384" cy="944880"/>
        </p:xfrm>
        <a:graphic>
          <a:graphicData uri="http://schemas.openxmlformats.org/drawingml/2006/table">
            <a:tbl>
              <a:tblPr firstRow="1" bandRow="1">
                <a:tableStyleId>{5C22544A-7EE6-4342-B048-85BDC9FD1C3A}</a:tableStyleId>
              </a:tblPr>
              <a:tblGrid>
                <a:gridCol w="2963192">
                  <a:extLst>
                    <a:ext uri="{9D8B030D-6E8A-4147-A177-3AD203B41FA5}">
                      <a16:colId xmlns:a16="http://schemas.microsoft.com/office/drawing/2014/main" val="1028654853"/>
                    </a:ext>
                  </a:extLst>
                </a:gridCol>
                <a:gridCol w="2963192">
                  <a:extLst>
                    <a:ext uri="{9D8B030D-6E8A-4147-A177-3AD203B41FA5}">
                      <a16:colId xmlns:a16="http://schemas.microsoft.com/office/drawing/2014/main" val="2159636558"/>
                    </a:ext>
                  </a:extLst>
                </a:gridCol>
              </a:tblGrid>
              <a:tr h="370840">
                <a:tc>
                  <a:txBody>
                    <a:bodyPr/>
                    <a:lstStyle/>
                    <a:p>
                      <a:pPr algn="ctr"/>
                      <a:r>
                        <a:rPr lang="en-US" dirty="0">
                          <a:solidFill>
                            <a:srgbClr val="C00000"/>
                          </a:solidFill>
                        </a:rPr>
                        <a:t>INSIGHT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400" dirty="0">
                          <a:solidFill>
                            <a:srgbClr val="C00000"/>
                          </a:solidFill>
                        </a:rPr>
                        <a:t>SEEK AN UPGRADE COMBO WITH TARGET MARKET SKILL SETS AND NOTE: MULTI INDUSTRY EXPERIENCE IS AN ADDED BONUS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823397659"/>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1306286" y="769258"/>
            <a:ext cx="3207657" cy="5312228"/>
            <a:chOff x="1306286" y="769258"/>
            <a:chExt cx="3207657" cy="5312228"/>
          </a:xfrm>
        </p:grpSpPr>
        <p:sp>
          <p:nvSpPr>
            <p:cNvPr id="2" name="Rounded Rectangle 1"/>
            <p:cNvSpPr/>
            <p:nvPr/>
          </p:nvSpPr>
          <p:spPr>
            <a:xfrm>
              <a:off x="1306286" y="783771"/>
              <a:ext cx="3207657" cy="5297715"/>
            </a:xfrm>
            <a:prstGeom prst="roundRect">
              <a:avLst/>
            </a:prstGeom>
            <a:solidFill>
              <a:schemeClr val="bg1"/>
            </a:solidFill>
            <a:ln w="76200">
              <a:solidFill>
                <a:schemeClr val="bg1">
                  <a:lumMod val="6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 Same Side Corner Rectangle 2"/>
            <p:cNvSpPr/>
            <p:nvPr/>
          </p:nvSpPr>
          <p:spPr>
            <a:xfrm>
              <a:off x="1306286" y="769258"/>
              <a:ext cx="3207657" cy="1146626"/>
            </a:xfrm>
            <a:prstGeom prst="round2SameRect">
              <a:avLst/>
            </a:prstGeom>
            <a:solidFill>
              <a:schemeClr val="bg1">
                <a:lumMod val="85000"/>
              </a:schemeClr>
            </a:solidFill>
            <a:ln w="762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R BONNIE" pitchFamily="2" charset="0"/>
                </a:rPr>
                <a:t>PARTNERS</a:t>
              </a:r>
            </a:p>
          </p:txBody>
        </p:sp>
      </p:grpSp>
      <p:sp>
        <p:nvSpPr>
          <p:cNvPr id="12" name="TextBox 11"/>
          <p:cNvSpPr txBox="1"/>
          <p:nvPr/>
        </p:nvSpPr>
        <p:spPr>
          <a:xfrm>
            <a:off x="1492089" y="1957720"/>
            <a:ext cx="2783202" cy="261610"/>
          </a:xfrm>
          <a:prstGeom prst="rect">
            <a:avLst/>
          </a:prstGeom>
          <a:noFill/>
        </p:spPr>
        <p:txBody>
          <a:bodyPr wrap="square" rtlCol="0">
            <a:spAutoFit/>
          </a:bodyPr>
          <a:lstStyle/>
          <a:p>
            <a:pPr algn="ctr"/>
            <a:r>
              <a:rPr lang="en-US" sz="1100" b="1" dirty="0"/>
              <a:t>WHO ARE YOUR ALLIES?</a:t>
            </a:r>
          </a:p>
        </p:txBody>
      </p:sp>
      <p:sp>
        <p:nvSpPr>
          <p:cNvPr id="13" name="TextBox 12"/>
          <p:cNvSpPr txBox="1"/>
          <p:nvPr/>
        </p:nvSpPr>
        <p:spPr>
          <a:xfrm>
            <a:off x="1674421" y="2552314"/>
            <a:ext cx="760031" cy="400110"/>
          </a:xfrm>
          <a:prstGeom prst="rect">
            <a:avLst/>
          </a:prstGeom>
          <a:noFill/>
        </p:spPr>
        <p:txBody>
          <a:bodyPr wrap="square" rtlCol="0">
            <a:spAutoFit/>
          </a:bodyPr>
          <a:lstStyle/>
          <a:p>
            <a:pPr algn="ctr"/>
            <a:r>
              <a:rPr lang="en-US" sz="2000" b="1" dirty="0"/>
              <a:t>+15</a:t>
            </a:r>
            <a:endParaRPr lang="en-US" sz="2800" b="1" dirty="0"/>
          </a:p>
        </p:txBody>
      </p:sp>
      <p:graphicFrame>
        <p:nvGraphicFramePr>
          <p:cNvPr id="31" name="Table 30"/>
          <p:cNvGraphicFramePr>
            <a:graphicFrameLocks noGrp="1"/>
          </p:cNvGraphicFramePr>
          <p:nvPr/>
        </p:nvGraphicFramePr>
        <p:xfrm>
          <a:off x="2123893" y="3755405"/>
          <a:ext cx="1460664" cy="990600"/>
        </p:xfrm>
        <a:graphic>
          <a:graphicData uri="http://schemas.openxmlformats.org/drawingml/2006/table">
            <a:tbl>
              <a:tblPr firstRow="1" bandRow="1">
                <a:tableStyleId>{5C22544A-7EE6-4342-B048-85BDC9FD1C3A}</a:tableStyleId>
              </a:tblPr>
              <a:tblGrid>
                <a:gridCol w="486888">
                  <a:extLst>
                    <a:ext uri="{9D8B030D-6E8A-4147-A177-3AD203B41FA5}">
                      <a16:colId xmlns:a16="http://schemas.microsoft.com/office/drawing/2014/main" val="20000"/>
                    </a:ext>
                  </a:extLst>
                </a:gridCol>
                <a:gridCol w="486888">
                  <a:extLst>
                    <a:ext uri="{9D8B030D-6E8A-4147-A177-3AD203B41FA5}">
                      <a16:colId xmlns:a16="http://schemas.microsoft.com/office/drawing/2014/main" val="20001"/>
                    </a:ext>
                  </a:extLst>
                </a:gridCol>
                <a:gridCol w="486888">
                  <a:extLst>
                    <a:ext uri="{9D8B030D-6E8A-4147-A177-3AD203B41FA5}">
                      <a16:colId xmlns:a16="http://schemas.microsoft.com/office/drawing/2014/main" val="20002"/>
                    </a:ext>
                  </a:extLst>
                </a:gridCol>
              </a:tblGrid>
              <a:tr h="198809">
                <a:tc gridSpan="2">
                  <a:txBody>
                    <a:bodyPr/>
                    <a:lstStyle/>
                    <a:p>
                      <a:pPr algn="ctr"/>
                      <a:r>
                        <a:rPr lang="en-US" sz="700" b="1" dirty="0">
                          <a:solidFill>
                            <a:schemeClr val="tx1"/>
                          </a:solidFill>
                        </a:rPr>
                        <a:t>RISK WEIGHT PENALTY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700" b="1" dirty="0">
                          <a:solidFill>
                            <a:schemeClr val="tx1"/>
                          </a:solidFill>
                        </a:rPr>
                        <a:t>RISK SCORE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198809">
                <a:tc>
                  <a:txBody>
                    <a:bodyPr/>
                    <a:lstStyle/>
                    <a:p>
                      <a:pPr algn="ctr"/>
                      <a:r>
                        <a:rPr lang="en-US" sz="900" b="1" dirty="0">
                          <a:solidFill>
                            <a:schemeClr val="tx1"/>
                          </a:solidFill>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US" sz="900" b="1" dirty="0">
                          <a:solidFill>
                            <a:schemeClr val="tx1"/>
                          </a:solidFill>
                        </a:rPr>
                        <a:t>-60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US" sz="900" b="1"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10001"/>
                  </a:ext>
                </a:extLst>
              </a:tr>
              <a:tr h="198809">
                <a:tc>
                  <a:txBody>
                    <a:bodyPr/>
                    <a:lstStyle/>
                    <a:p>
                      <a:pPr algn="ctr"/>
                      <a:r>
                        <a:rPr lang="en-US" sz="900" b="1"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algn="ctr"/>
                      <a:r>
                        <a:rPr lang="en-US" sz="900" b="1" dirty="0">
                          <a:solidFill>
                            <a:schemeClr val="tx1"/>
                          </a:solidFill>
                        </a:rPr>
                        <a:t>-40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algn="ctr"/>
                      <a:r>
                        <a:rPr lang="en-US" sz="900" b="1"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10002"/>
                  </a:ext>
                </a:extLst>
              </a:tr>
              <a:tr h="198809">
                <a:tc>
                  <a:txBody>
                    <a:bodyPr/>
                    <a:lstStyle/>
                    <a:p>
                      <a:pPr algn="ctr"/>
                      <a:r>
                        <a:rPr lang="en-US" sz="900" b="1"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900" b="1"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900" b="1"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003"/>
                  </a:ext>
                </a:extLst>
              </a:tr>
            </a:tbl>
          </a:graphicData>
        </a:graphic>
      </p:graphicFrame>
      <p:sp>
        <p:nvSpPr>
          <p:cNvPr id="20" name="Rectangle 19"/>
          <p:cNvSpPr/>
          <p:nvPr/>
        </p:nvSpPr>
        <p:spPr>
          <a:xfrm>
            <a:off x="2140015" y="2991754"/>
            <a:ext cx="672655" cy="600114"/>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2909915" y="2989779"/>
            <a:ext cx="672655" cy="600114"/>
          </a:xfrm>
          <a:prstGeom prst="rect">
            <a:avLst/>
          </a:prstGeom>
          <a:solidFill>
            <a:schemeClr val="bg1">
              <a:lumMod val="85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5" name="Group 24">
            <a:extLst>
              <a:ext uri="{FF2B5EF4-FFF2-40B4-BE49-F238E27FC236}">
                <a16:creationId xmlns:a16="http://schemas.microsoft.com/office/drawing/2014/main" id="{8304203D-2D21-4134-9165-E45EE76FD5E9}"/>
              </a:ext>
            </a:extLst>
          </p:cNvPr>
          <p:cNvGrpSpPr/>
          <p:nvPr/>
        </p:nvGrpSpPr>
        <p:grpSpPr>
          <a:xfrm>
            <a:off x="2188230" y="4866551"/>
            <a:ext cx="2001001" cy="1128167"/>
            <a:chOff x="2113799" y="4813386"/>
            <a:chExt cx="2001001" cy="1128167"/>
          </a:xfrm>
        </p:grpSpPr>
        <p:sp>
          <p:nvSpPr>
            <p:cNvPr id="26" name="Oval 25">
              <a:extLst>
                <a:ext uri="{FF2B5EF4-FFF2-40B4-BE49-F238E27FC236}">
                  <a16:creationId xmlns:a16="http://schemas.microsoft.com/office/drawing/2014/main" id="{43556DF6-653E-4043-907E-7F4129483EE6}"/>
                </a:ext>
              </a:extLst>
            </p:cNvPr>
            <p:cNvSpPr/>
            <p:nvPr/>
          </p:nvSpPr>
          <p:spPr>
            <a:xfrm>
              <a:off x="2113799" y="5632794"/>
              <a:ext cx="285008" cy="308759"/>
            </a:xfrm>
            <a:prstGeom prst="ellipse">
              <a:avLst/>
            </a:prstGeom>
            <a:solidFill>
              <a:schemeClr val="tx1"/>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9802641C-0EF2-474C-9A06-062400645CDD}"/>
                </a:ext>
              </a:extLst>
            </p:cNvPr>
            <p:cNvSpPr/>
            <p:nvPr/>
          </p:nvSpPr>
          <p:spPr>
            <a:xfrm>
              <a:off x="2266197" y="5535813"/>
              <a:ext cx="285008" cy="308759"/>
            </a:xfrm>
            <a:prstGeom prst="ellipse">
              <a:avLst/>
            </a:prstGeom>
            <a:solidFill>
              <a:srgbClr val="7030A0"/>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16F1C984-F91C-4BC4-975B-6BE72DDF9655}"/>
                </a:ext>
              </a:extLst>
            </p:cNvPr>
            <p:cNvSpPr/>
            <p:nvPr/>
          </p:nvSpPr>
          <p:spPr>
            <a:xfrm>
              <a:off x="2382975" y="5628835"/>
              <a:ext cx="285008" cy="308759"/>
            </a:xfrm>
            <a:prstGeom prst="ellipse">
              <a:avLst/>
            </a:prstGeom>
            <a:solidFill>
              <a:schemeClr val="tx1"/>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Equal 41">
              <a:extLst>
                <a:ext uri="{FF2B5EF4-FFF2-40B4-BE49-F238E27FC236}">
                  <a16:creationId xmlns:a16="http://schemas.microsoft.com/office/drawing/2014/main" id="{EC98F883-87C8-457E-A4FC-A386B04C8C5C}"/>
                </a:ext>
              </a:extLst>
            </p:cNvPr>
            <p:cNvSpPr/>
            <p:nvPr/>
          </p:nvSpPr>
          <p:spPr>
            <a:xfrm>
              <a:off x="2719440" y="5632793"/>
              <a:ext cx="320636" cy="237507"/>
            </a:xfrm>
            <a:prstGeom prst="mathEqual">
              <a:avLst/>
            </a:prstGeom>
            <a:solidFill>
              <a:schemeClr val="tx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6" name="TextBox 35">
              <a:extLst>
                <a:ext uri="{FF2B5EF4-FFF2-40B4-BE49-F238E27FC236}">
                  <a16:creationId xmlns:a16="http://schemas.microsoft.com/office/drawing/2014/main" id="{7C99B414-F90E-4F66-A2E8-B4393A58669A}"/>
                </a:ext>
              </a:extLst>
            </p:cNvPr>
            <p:cNvSpPr txBox="1"/>
            <p:nvPr/>
          </p:nvSpPr>
          <p:spPr>
            <a:xfrm>
              <a:off x="2956961" y="5587954"/>
              <a:ext cx="463133" cy="338554"/>
            </a:xfrm>
            <a:prstGeom prst="rect">
              <a:avLst/>
            </a:prstGeom>
            <a:noFill/>
          </p:spPr>
          <p:txBody>
            <a:bodyPr wrap="square" rtlCol="0">
              <a:spAutoFit/>
            </a:bodyPr>
            <a:lstStyle/>
            <a:p>
              <a:pPr algn="ctr"/>
              <a:r>
                <a:rPr lang="en-US" sz="1600" b="1" dirty="0"/>
                <a:t>x3</a:t>
              </a:r>
            </a:p>
          </p:txBody>
        </p:sp>
        <p:sp>
          <p:nvSpPr>
            <p:cNvPr id="37" name="TextBox 36">
              <a:extLst>
                <a:ext uri="{FF2B5EF4-FFF2-40B4-BE49-F238E27FC236}">
                  <a16:creationId xmlns:a16="http://schemas.microsoft.com/office/drawing/2014/main" id="{76ECF645-4797-49B9-85FC-60EDF11E1C79}"/>
                </a:ext>
              </a:extLst>
            </p:cNvPr>
            <p:cNvSpPr txBox="1"/>
            <p:nvPr/>
          </p:nvSpPr>
          <p:spPr>
            <a:xfrm>
              <a:off x="2136834" y="5022223"/>
              <a:ext cx="1227207" cy="246027"/>
            </a:xfrm>
            <a:prstGeom prst="rect">
              <a:avLst/>
            </a:prstGeom>
            <a:noFill/>
          </p:spPr>
          <p:txBody>
            <a:bodyPr wrap="square" rtlCol="0">
              <a:spAutoFit/>
            </a:bodyPr>
            <a:lstStyle/>
            <a:p>
              <a:pPr algn="ctr"/>
              <a:r>
                <a:rPr lang="en-US" sz="1000" b="1" dirty="0"/>
                <a:t>KEY:  </a:t>
              </a:r>
            </a:p>
          </p:txBody>
        </p:sp>
        <p:grpSp>
          <p:nvGrpSpPr>
            <p:cNvPr id="38" name="Group 37">
              <a:extLst>
                <a:ext uri="{FF2B5EF4-FFF2-40B4-BE49-F238E27FC236}">
                  <a16:creationId xmlns:a16="http://schemas.microsoft.com/office/drawing/2014/main" id="{16600F0C-3450-410D-88E5-BE5F5595413F}"/>
                </a:ext>
              </a:extLst>
            </p:cNvPr>
            <p:cNvGrpSpPr/>
            <p:nvPr/>
          </p:nvGrpSpPr>
          <p:grpSpPr>
            <a:xfrm>
              <a:off x="3024790" y="4813386"/>
              <a:ext cx="510366" cy="451272"/>
              <a:chOff x="2042829" y="3135076"/>
              <a:chExt cx="1493148" cy="1333883"/>
            </a:xfrm>
          </p:grpSpPr>
          <p:sp>
            <p:nvSpPr>
              <p:cNvPr id="42" name="Rectangle 41">
                <a:extLst>
                  <a:ext uri="{FF2B5EF4-FFF2-40B4-BE49-F238E27FC236}">
                    <a16:creationId xmlns:a16="http://schemas.microsoft.com/office/drawing/2014/main" id="{FD2694DA-129F-4E10-B61C-55D9D1239398}"/>
                  </a:ext>
                </a:extLst>
              </p:cNvPr>
              <p:cNvSpPr/>
              <p:nvPr/>
            </p:nvSpPr>
            <p:spPr>
              <a:xfrm>
                <a:off x="2438677" y="3135076"/>
                <a:ext cx="672655" cy="600114"/>
              </a:xfrm>
              <a:prstGeom prst="rect">
                <a:avLst/>
              </a:prstGeom>
              <a:solidFill>
                <a:schemeClr val="tx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64F2D449-E34B-4B0C-A5BE-1169866BEACC}"/>
                  </a:ext>
                </a:extLst>
              </p:cNvPr>
              <p:cNvSpPr/>
              <p:nvPr/>
            </p:nvSpPr>
            <p:spPr>
              <a:xfrm>
                <a:off x="2863322" y="3868846"/>
                <a:ext cx="672655" cy="600113"/>
              </a:xfrm>
              <a:prstGeom prst="rect">
                <a:avLst/>
              </a:prstGeom>
              <a:solidFill>
                <a:schemeClr val="bg1">
                  <a:lumMod val="65000"/>
                </a:schemeClr>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62F405C1-DB56-40D1-81E6-5A1A0B6A29AC}"/>
                  </a:ext>
                </a:extLst>
              </p:cNvPr>
              <p:cNvSpPr/>
              <p:nvPr/>
            </p:nvSpPr>
            <p:spPr>
              <a:xfrm>
                <a:off x="2042829" y="3854989"/>
                <a:ext cx="672655" cy="600113"/>
              </a:xfrm>
              <a:prstGeom prst="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9" name="Group 19">
              <a:extLst>
                <a:ext uri="{FF2B5EF4-FFF2-40B4-BE49-F238E27FC236}">
                  <a16:creationId xmlns:a16="http://schemas.microsoft.com/office/drawing/2014/main" id="{978762A9-820B-42DC-B5E4-B77ABCD89B49}"/>
                </a:ext>
              </a:extLst>
            </p:cNvPr>
            <p:cNvGrpSpPr/>
            <p:nvPr/>
          </p:nvGrpSpPr>
          <p:grpSpPr>
            <a:xfrm>
              <a:off x="3661090" y="4868299"/>
              <a:ext cx="453710" cy="428915"/>
              <a:chOff x="2524836" y="3057099"/>
              <a:chExt cx="723331" cy="709683"/>
            </a:xfrm>
            <a:effectLst>
              <a:outerShdw blurRad="50800" dist="38100" dir="2700000" algn="tl" rotWithShape="0">
                <a:prstClr val="black">
                  <a:alpha val="40000"/>
                </a:prstClr>
              </a:outerShdw>
            </a:effectLst>
          </p:grpSpPr>
          <p:sp>
            <p:nvSpPr>
              <p:cNvPr id="40" name="Oval 39">
                <a:extLst>
                  <a:ext uri="{FF2B5EF4-FFF2-40B4-BE49-F238E27FC236}">
                    <a16:creationId xmlns:a16="http://schemas.microsoft.com/office/drawing/2014/main" id="{F47F1776-6233-451D-A1CE-248EBFD606B2}"/>
                  </a:ext>
                </a:extLst>
              </p:cNvPr>
              <p:cNvSpPr/>
              <p:nvPr/>
            </p:nvSpPr>
            <p:spPr>
              <a:xfrm>
                <a:off x="2524836" y="3057099"/>
                <a:ext cx="723331" cy="709683"/>
              </a:xfrm>
              <a:prstGeom prst="ellipse">
                <a:avLst/>
              </a:prstGeom>
              <a:solidFill>
                <a:schemeClr val="bg1"/>
              </a:solidFill>
              <a:ln w="317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03449536-8DC1-4F11-B190-C30303F8C55B}"/>
                  </a:ext>
                </a:extLst>
              </p:cNvPr>
              <p:cNvSpPr/>
              <p:nvPr/>
            </p:nvSpPr>
            <p:spPr>
              <a:xfrm>
                <a:off x="2663589" y="3193571"/>
                <a:ext cx="448102" cy="450375"/>
              </a:xfrm>
              <a:prstGeom prst="ellipse">
                <a:avLst/>
              </a:prstGeom>
              <a:solidFill>
                <a:srgbClr val="FFFF00"/>
              </a:solidFill>
              <a:ln w="317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aphicFrame>
        <p:nvGraphicFramePr>
          <p:cNvPr id="45" name="Table 6">
            <a:extLst>
              <a:ext uri="{FF2B5EF4-FFF2-40B4-BE49-F238E27FC236}">
                <a16:creationId xmlns:a16="http://schemas.microsoft.com/office/drawing/2014/main" id="{5B958BCE-491F-4F2E-93F5-95522C5772A6}"/>
              </a:ext>
            </a:extLst>
          </p:cNvPr>
          <p:cNvGraphicFramePr>
            <a:graphicFrameLocks noGrp="1"/>
          </p:cNvGraphicFramePr>
          <p:nvPr/>
        </p:nvGraphicFramePr>
        <p:xfrm>
          <a:off x="4830969" y="719665"/>
          <a:ext cx="5737719" cy="3383280"/>
        </p:xfrm>
        <a:graphic>
          <a:graphicData uri="http://schemas.openxmlformats.org/drawingml/2006/table">
            <a:tbl>
              <a:tblPr firstRow="1" bandRow="1">
                <a:tableStyleId>{5940675A-B579-460E-94D1-54222C63F5DA}</a:tableStyleId>
              </a:tblPr>
              <a:tblGrid>
                <a:gridCol w="5737719">
                  <a:extLst>
                    <a:ext uri="{9D8B030D-6E8A-4147-A177-3AD203B41FA5}">
                      <a16:colId xmlns:a16="http://schemas.microsoft.com/office/drawing/2014/main" val="3887999668"/>
                    </a:ext>
                  </a:extLst>
                </a:gridCol>
              </a:tblGrid>
              <a:tr h="483493">
                <a:tc>
                  <a:txBody>
                    <a:bodyPr/>
                    <a:lstStyle/>
                    <a:p>
                      <a:pPr algn="ctr"/>
                      <a:r>
                        <a:rPr lang="en-US" sz="3600" b="1" dirty="0"/>
                        <a:t>PARTNERS </a:t>
                      </a:r>
                    </a:p>
                    <a:p>
                      <a:pPr algn="ctr"/>
                      <a:r>
                        <a:rPr lang="en-US" sz="3600" b="1" dirty="0"/>
                        <a:t>JOB FUNCTIONS</a:t>
                      </a:r>
                    </a:p>
                  </a:txBody>
                  <a:tcPr/>
                </a:tc>
                <a:extLst>
                  <a:ext uri="{0D108BD9-81ED-4DB2-BD59-A6C34878D82A}">
                    <a16:rowId xmlns:a16="http://schemas.microsoft.com/office/drawing/2014/main" val="1324454018"/>
                  </a:ext>
                </a:extLst>
              </a:tr>
              <a:tr h="1246241">
                <a:tc>
                  <a:txBody>
                    <a:bodyPr/>
                    <a:lstStyle/>
                    <a:p>
                      <a:pPr algn="ctr"/>
                      <a:endParaRPr lang="en-US" sz="1800" b="1" dirty="0"/>
                    </a:p>
                    <a:p>
                      <a:pPr algn="ctr"/>
                      <a:r>
                        <a:rPr lang="en-US" sz="2400" b="1" dirty="0"/>
                        <a:t>SKILL/CAREERS- LEGAL, FINANCIAL ANALYST, NEGOTIATIONS, MARKETING, CORPORATE COMMUNICATIONS, BUSINESS FORECASTING.</a:t>
                      </a:r>
                    </a:p>
                    <a:p>
                      <a:pPr algn="ctr"/>
                      <a:endParaRPr lang="en-US" sz="2400" b="1" dirty="0"/>
                    </a:p>
                  </a:txBody>
                  <a:tcPr/>
                </a:tc>
                <a:extLst>
                  <a:ext uri="{0D108BD9-81ED-4DB2-BD59-A6C34878D82A}">
                    <a16:rowId xmlns:a16="http://schemas.microsoft.com/office/drawing/2014/main" val="682039194"/>
                  </a:ext>
                </a:extLst>
              </a:tr>
            </a:tbl>
          </a:graphicData>
        </a:graphic>
      </p:graphicFrame>
      <p:graphicFrame>
        <p:nvGraphicFramePr>
          <p:cNvPr id="27" name="Table 7">
            <a:extLst>
              <a:ext uri="{FF2B5EF4-FFF2-40B4-BE49-F238E27FC236}">
                <a16:creationId xmlns:a16="http://schemas.microsoft.com/office/drawing/2014/main" id="{83CAAB22-199C-486A-A3E9-32DD8BA5E2FC}"/>
              </a:ext>
            </a:extLst>
          </p:cNvPr>
          <p:cNvGraphicFramePr>
            <a:graphicFrameLocks noGrp="1"/>
          </p:cNvGraphicFramePr>
          <p:nvPr/>
        </p:nvGraphicFramePr>
        <p:xfrm>
          <a:off x="4736636" y="4637668"/>
          <a:ext cx="5926384" cy="1158240"/>
        </p:xfrm>
        <a:graphic>
          <a:graphicData uri="http://schemas.openxmlformats.org/drawingml/2006/table">
            <a:tbl>
              <a:tblPr firstRow="1" bandRow="1">
                <a:tableStyleId>{5C22544A-7EE6-4342-B048-85BDC9FD1C3A}</a:tableStyleId>
              </a:tblPr>
              <a:tblGrid>
                <a:gridCol w="2963192">
                  <a:extLst>
                    <a:ext uri="{9D8B030D-6E8A-4147-A177-3AD203B41FA5}">
                      <a16:colId xmlns:a16="http://schemas.microsoft.com/office/drawing/2014/main" val="1028654853"/>
                    </a:ext>
                  </a:extLst>
                </a:gridCol>
                <a:gridCol w="2963192">
                  <a:extLst>
                    <a:ext uri="{9D8B030D-6E8A-4147-A177-3AD203B41FA5}">
                      <a16:colId xmlns:a16="http://schemas.microsoft.com/office/drawing/2014/main" val="2159636558"/>
                    </a:ext>
                  </a:extLst>
                </a:gridCol>
              </a:tblGrid>
              <a:tr h="370840">
                <a:tc>
                  <a:txBody>
                    <a:bodyPr/>
                    <a:lstStyle/>
                    <a:p>
                      <a:pPr algn="ctr"/>
                      <a:r>
                        <a:rPr lang="en-US" dirty="0">
                          <a:solidFill>
                            <a:srgbClr val="C00000"/>
                          </a:solidFill>
                        </a:rPr>
                        <a:t>INSIGHT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400" dirty="0">
                          <a:solidFill>
                            <a:srgbClr val="C00000"/>
                          </a:solidFill>
                        </a:rPr>
                        <a:t>SEEK AN UPGRADE COMBO WITH TARGET MARKET &amp; CORE OBJECTIVES SKILL SETS AND NOTE, MULTI INDUSTRY EXPERIENCE IS AN ADDED BONUS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823397659"/>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1306286" y="769258"/>
            <a:ext cx="3207657" cy="5312228"/>
            <a:chOff x="1306286" y="769258"/>
            <a:chExt cx="3207657" cy="5312228"/>
          </a:xfrm>
        </p:grpSpPr>
        <p:sp>
          <p:nvSpPr>
            <p:cNvPr id="2" name="Rounded Rectangle 1"/>
            <p:cNvSpPr/>
            <p:nvPr/>
          </p:nvSpPr>
          <p:spPr>
            <a:xfrm>
              <a:off x="1306286" y="783771"/>
              <a:ext cx="3207657" cy="5297715"/>
            </a:xfrm>
            <a:prstGeom prst="roundRect">
              <a:avLst/>
            </a:prstGeom>
            <a:solidFill>
              <a:schemeClr val="bg1"/>
            </a:solidFill>
            <a:ln w="76200">
              <a:solidFill>
                <a:schemeClr val="bg1">
                  <a:lumMod val="6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 Same Side Corner Rectangle 2"/>
            <p:cNvSpPr/>
            <p:nvPr/>
          </p:nvSpPr>
          <p:spPr>
            <a:xfrm>
              <a:off x="1306286" y="769258"/>
              <a:ext cx="3207657" cy="1146626"/>
            </a:xfrm>
            <a:prstGeom prst="round2SameRect">
              <a:avLst/>
            </a:prstGeom>
            <a:solidFill>
              <a:schemeClr val="bg1">
                <a:lumMod val="85000"/>
              </a:schemeClr>
            </a:solidFill>
            <a:ln w="762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latin typeface="AR BONNIE" pitchFamily="2" charset="0"/>
                </a:rPr>
                <a:t>TARGET MARKET</a:t>
              </a:r>
            </a:p>
            <a:p>
              <a:pPr algn="ctr"/>
              <a:r>
                <a:rPr lang="en-US" sz="1400" b="1" dirty="0">
                  <a:solidFill>
                    <a:schemeClr val="tx1"/>
                  </a:solidFill>
                  <a:latin typeface="AR BONNIE" pitchFamily="2" charset="0"/>
                </a:rPr>
                <a:t>MASS MARKET</a:t>
              </a:r>
            </a:p>
          </p:txBody>
        </p:sp>
      </p:grpSp>
      <p:sp>
        <p:nvSpPr>
          <p:cNvPr id="12" name="TextBox 11"/>
          <p:cNvSpPr txBox="1"/>
          <p:nvPr/>
        </p:nvSpPr>
        <p:spPr>
          <a:xfrm>
            <a:off x="1330035" y="1917672"/>
            <a:ext cx="3182587" cy="507831"/>
          </a:xfrm>
          <a:prstGeom prst="rect">
            <a:avLst/>
          </a:prstGeom>
          <a:noFill/>
        </p:spPr>
        <p:txBody>
          <a:bodyPr wrap="square" rtlCol="0">
            <a:spAutoFit/>
          </a:bodyPr>
          <a:lstStyle/>
          <a:p>
            <a:pPr algn="ctr"/>
            <a:r>
              <a:rPr lang="en-US" sz="900" b="1" dirty="0"/>
              <a:t>WHO ARE YOUR CUSTOMERS/CLIENTS?</a:t>
            </a:r>
          </a:p>
          <a:p>
            <a:pPr algn="ctr"/>
            <a:r>
              <a:rPr lang="en-US" sz="900" b="1" dirty="0"/>
              <a:t>YOUR STRUCTURE MUST BE PURPOSE DESIGNED TO MEET THERE NEEDS AND OR SOLVE THEIR PROBLEMS</a:t>
            </a:r>
          </a:p>
        </p:txBody>
      </p:sp>
      <p:sp>
        <p:nvSpPr>
          <p:cNvPr id="13" name="TextBox 12"/>
          <p:cNvSpPr txBox="1"/>
          <p:nvPr/>
        </p:nvSpPr>
        <p:spPr>
          <a:xfrm>
            <a:off x="1781297" y="2460354"/>
            <a:ext cx="771895" cy="400110"/>
          </a:xfrm>
          <a:prstGeom prst="rect">
            <a:avLst/>
          </a:prstGeom>
          <a:noFill/>
        </p:spPr>
        <p:txBody>
          <a:bodyPr wrap="square" rtlCol="0">
            <a:spAutoFit/>
          </a:bodyPr>
          <a:lstStyle/>
          <a:p>
            <a:pPr algn="ctr"/>
            <a:r>
              <a:rPr lang="en-US" sz="2000" b="1" dirty="0"/>
              <a:t>+15</a:t>
            </a:r>
            <a:endParaRPr lang="en-US" sz="2800" b="1" dirty="0"/>
          </a:p>
        </p:txBody>
      </p:sp>
      <p:grpSp>
        <p:nvGrpSpPr>
          <p:cNvPr id="35" name="Group 34"/>
          <p:cNvGrpSpPr/>
          <p:nvPr/>
        </p:nvGrpSpPr>
        <p:grpSpPr>
          <a:xfrm>
            <a:off x="3362811" y="2583899"/>
            <a:ext cx="494604" cy="393799"/>
            <a:chOff x="2404984" y="2565778"/>
            <a:chExt cx="851338" cy="655093"/>
          </a:xfrm>
        </p:grpSpPr>
        <p:sp>
          <p:nvSpPr>
            <p:cNvPr id="36" name="5-Point Star 35"/>
            <p:cNvSpPr/>
            <p:nvPr/>
          </p:nvSpPr>
          <p:spPr>
            <a:xfrm>
              <a:off x="2470246" y="2565778"/>
              <a:ext cx="723330" cy="655093"/>
            </a:xfrm>
            <a:prstGeom prst="star5">
              <a:avLst/>
            </a:prstGeom>
            <a:solidFill>
              <a:srgbClr val="FFFF00"/>
            </a:solidFill>
            <a:ln w="571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dirty="0">
                <a:solidFill>
                  <a:schemeClr val="tx1"/>
                </a:solidFill>
              </a:endParaRPr>
            </a:p>
          </p:txBody>
        </p:sp>
        <p:sp>
          <p:nvSpPr>
            <p:cNvPr id="37" name="TextBox 36"/>
            <p:cNvSpPr txBox="1"/>
            <p:nvPr/>
          </p:nvSpPr>
          <p:spPr>
            <a:xfrm>
              <a:off x="2404984" y="2744777"/>
              <a:ext cx="851338" cy="392421"/>
            </a:xfrm>
            <a:prstGeom prst="rect">
              <a:avLst/>
            </a:prstGeom>
            <a:noFill/>
          </p:spPr>
          <p:txBody>
            <a:bodyPr wrap="square" rtlCol="0">
              <a:spAutoFit/>
            </a:bodyPr>
            <a:lstStyle/>
            <a:p>
              <a:pPr algn="ctr"/>
              <a:r>
                <a:rPr lang="en-US" sz="1100" b="1" dirty="0">
                  <a:solidFill>
                    <a:srgbClr val="FF0000"/>
                  </a:solidFill>
                </a:rPr>
                <a:t>x2</a:t>
              </a:r>
              <a:endParaRPr lang="en-US" sz="1400" b="1" dirty="0">
                <a:solidFill>
                  <a:srgbClr val="FF0000"/>
                </a:solidFill>
              </a:endParaRPr>
            </a:p>
          </p:txBody>
        </p:sp>
      </p:grpSp>
      <p:graphicFrame>
        <p:nvGraphicFramePr>
          <p:cNvPr id="39" name="Table 38"/>
          <p:cNvGraphicFramePr>
            <a:graphicFrameLocks noGrp="1"/>
          </p:cNvGraphicFramePr>
          <p:nvPr/>
        </p:nvGraphicFramePr>
        <p:xfrm>
          <a:off x="2090058" y="4254297"/>
          <a:ext cx="1472538" cy="914400"/>
        </p:xfrm>
        <a:graphic>
          <a:graphicData uri="http://schemas.openxmlformats.org/drawingml/2006/table">
            <a:tbl>
              <a:tblPr firstRow="1" bandRow="1">
                <a:tableStyleId>{5C22544A-7EE6-4342-B048-85BDC9FD1C3A}</a:tableStyleId>
              </a:tblPr>
              <a:tblGrid>
                <a:gridCol w="490846">
                  <a:extLst>
                    <a:ext uri="{9D8B030D-6E8A-4147-A177-3AD203B41FA5}">
                      <a16:colId xmlns:a16="http://schemas.microsoft.com/office/drawing/2014/main" val="20000"/>
                    </a:ext>
                  </a:extLst>
                </a:gridCol>
                <a:gridCol w="490846">
                  <a:extLst>
                    <a:ext uri="{9D8B030D-6E8A-4147-A177-3AD203B41FA5}">
                      <a16:colId xmlns:a16="http://schemas.microsoft.com/office/drawing/2014/main" val="20001"/>
                    </a:ext>
                  </a:extLst>
                </a:gridCol>
                <a:gridCol w="490846">
                  <a:extLst>
                    <a:ext uri="{9D8B030D-6E8A-4147-A177-3AD203B41FA5}">
                      <a16:colId xmlns:a16="http://schemas.microsoft.com/office/drawing/2014/main" val="20002"/>
                    </a:ext>
                  </a:extLst>
                </a:gridCol>
              </a:tblGrid>
              <a:tr h="198809">
                <a:tc gridSpan="2">
                  <a:txBody>
                    <a:bodyPr/>
                    <a:lstStyle/>
                    <a:p>
                      <a:pPr algn="ctr"/>
                      <a:r>
                        <a:rPr lang="en-US" sz="600" dirty="0">
                          <a:solidFill>
                            <a:schemeClr val="tx1"/>
                          </a:solidFill>
                        </a:rPr>
                        <a:t>RISK WEIGHT PENALTY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600" dirty="0">
                          <a:solidFill>
                            <a:schemeClr val="tx1"/>
                          </a:solidFill>
                        </a:rPr>
                        <a:t>RISK SCORE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198809">
                <a:tc>
                  <a:txBody>
                    <a:bodyPr/>
                    <a:lstStyle/>
                    <a:p>
                      <a:pPr algn="ctr"/>
                      <a:r>
                        <a:rPr lang="en-US" sz="800" dirty="0">
                          <a:solidFill>
                            <a:schemeClr val="tx1"/>
                          </a:solidFill>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US" sz="800" dirty="0">
                          <a:solidFill>
                            <a:schemeClr val="tx1"/>
                          </a:solidFill>
                        </a:rPr>
                        <a:t>-60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US" sz="80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10001"/>
                  </a:ext>
                </a:extLst>
              </a:tr>
              <a:tr h="198809">
                <a:tc>
                  <a:txBody>
                    <a:bodyPr/>
                    <a:lstStyle/>
                    <a:p>
                      <a:pPr algn="ctr"/>
                      <a:r>
                        <a:rPr lang="en-US" sz="80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sz="800" dirty="0">
                          <a:solidFill>
                            <a:schemeClr val="tx1"/>
                          </a:solidFill>
                        </a:rPr>
                        <a:t>-40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sz="80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2"/>
                  </a:ext>
                </a:extLst>
              </a:tr>
              <a:tr h="198809">
                <a:tc>
                  <a:txBody>
                    <a:bodyPr/>
                    <a:lstStyle/>
                    <a:p>
                      <a:pPr algn="ctr"/>
                      <a:r>
                        <a:rPr lang="en-US" sz="80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80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80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003"/>
                  </a:ext>
                </a:extLst>
              </a:tr>
            </a:tbl>
          </a:graphicData>
        </a:graphic>
      </p:graphicFrame>
      <p:sp>
        <p:nvSpPr>
          <p:cNvPr id="26" name="Rectangle 25"/>
          <p:cNvSpPr/>
          <p:nvPr/>
        </p:nvSpPr>
        <p:spPr>
          <a:xfrm>
            <a:off x="2486177" y="2900622"/>
            <a:ext cx="672655" cy="600114"/>
          </a:xfrm>
          <a:prstGeom prst="rect">
            <a:avLst/>
          </a:prstGeom>
          <a:solidFill>
            <a:schemeClr val="tx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p:cNvSpPr/>
          <p:nvPr/>
        </p:nvSpPr>
        <p:spPr>
          <a:xfrm>
            <a:off x="2104185" y="3563660"/>
            <a:ext cx="672655" cy="600114"/>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p:cNvSpPr/>
          <p:nvPr/>
        </p:nvSpPr>
        <p:spPr>
          <a:xfrm>
            <a:off x="2850353" y="3561680"/>
            <a:ext cx="672655" cy="600114"/>
          </a:xfrm>
          <a:prstGeom prst="rect">
            <a:avLst/>
          </a:prstGeom>
          <a:solidFill>
            <a:schemeClr val="bg1">
              <a:lumMod val="85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5" name="Group 24">
            <a:extLst>
              <a:ext uri="{FF2B5EF4-FFF2-40B4-BE49-F238E27FC236}">
                <a16:creationId xmlns:a16="http://schemas.microsoft.com/office/drawing/2014/main" id="{5FF1A785-A2BC-4897-BFD0-75A0B3715C3A}"/>
              </a:ext>
            </a:extLst>
          </p:cNvPr>
          <p:cNvGrpSpPr/>
          <p:nvPr/>
        </p:nvGrpSpPr>
        <p:grpSpPr>
          <a:xfrm>
            <a:off x="2057121" y="5227776"/>
            <a:ext cx="1751544" cy="733644"/>
            <a:chOff x="2113799" y="5065634"/>
            <a:chExt cx="1971316" cy="860153"/>
          </a:xfrm>
        </p:grpSpPr>
        <p:sp>
          <p:nvSpPr>
            <p:cNvPr id="40" name="Oval 39">
              <a:extLst>
                <a:ext uri="{FF2B5EF4-FFF2-40B4-BE49-F238E27FC236}">
                  <a16:creationId xmlns:a16="http://schemas.microsoft.com/office/drawing/2014/main" id="{AFE13285-47E9-4411-89F0-E37CB107F8FB}"/>
                </a:ext>
              </a:extLst>
            </p:cNvPr>
            <p:cNvSpPr/>
            <p:nvPr/>
          </p:nvSpPr>
          <p:spPr>
            <a:xfrm>
              <a:off x="2113799" y="5617028"/>
              <a:ext cx="285008" cy="308759"/>
            </a:xfrm>
            <a:prstGeom prst="ellipse">
              <a:avLst/>
            </a:prstGeom>
            <a:solidFill>
              <a:schemeClr val="tx1"/>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CE7C39AA-5D65-49C8-B9ED-DC790B0E092F}"/>
                </a:ext>
              </a:extLst>
            </p:cNvPr>
            <p:cNvSpPr/>
            <p:nvPr/>
          </p:nvSpPr>
          <p:spPr>
            <a:xfrm>
              <a:off x="2266197" y="5520047"/>
              <a:ext cx="285008" cy="308759"/>
            </a:xfrm>
            <a:prstGeom prst="ellipse">
              <a:avLst/>
            </a:prstGeom>
            <a:solidFill>
              <a:srgbClr val="7030A0"/>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7E380180-D40F-47DB-BD5A-1B73DE2E53C1}"/>
                </a:ext>
              </a:extLst>
            </p:cNvPr>
            <p:cNvSpPr/>
            <p:nvPr/>
          </p:nvSpPr>
          <p:spPr>
            <a:xfrm>
              <a:off x="2382975" y="5613069"/>
              <a:ext cx="285008" cy="308759"/>
            </a:xfrm>
            <a:prstGeom prst="ellipse">
              <a:avLst/>
            </a:prstGeom>
            <a:solidFill>
              <a:schemeClr val="tx1"/>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Equal 50">
              <a:extLst>
                <a:ext uri="{FF2B5EF4-FFF2-40B4-BE49-F238E27FC236}">
                  <a16:creationId xmlns:a16="http://schemas.microsoft.com/office/drawing/2014/main" id="{10C05C05-8CF1-4BDA-9274-07065C6DCB9E}"/>
                </a:ext>
              </a:extLst>
            </p:cNvPr>
            <p:cNvSpPr/>
            <p:nvPr/>
          </p:nvSpPr>
          <p:spPr>
            <a:xfrm>
              <a:off x="2719440" y="5617027"/>
              <a:ext cx="320636" cy="237507"/>
            </a:xfrm>
            <a:prstGeom prst="mathEqual">
              <a:avLst/>
            </a:prstGeom>
            <a:solidFill>
              <a:schemeClr val="tx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4" name="TextBox 43">
              <a:extLst>
                <a:ext uri="{FF2B5EF4-FFF2-40B4-BE49-F238E27FC236}">
                  <a16:creationId xmlns:a16="http://schemas.microsoft.com/office/drawing/2014/main" id="{C4DC4BBD-97C0-4629-A666-11A26F8C75D6}"/>
                </a:ext>
              </a:extLst>
            </p:cNvPr>
            <p:cNvSpPr txBox="1"/>
            <p:nvPr/>
          </p:nvSpPr>
          <p:spPr>
            <a:xfrm>
              <a:off x="2826336" y="5572188"/>
              <a:ext cx="1258779" cy="338554"/>
            </a:xfrm>
            <a:prstGeom prst="rect">
              <a:avLst/>
            </a:prstGeom>
            <a:noFill/>
          </p:spPr>
          <p:txBody>
            <a:bodyPr wrap="square" rtlCol="0">
              <a:spAutoFit/>
            </a:bodyPr>
            <a:lstStyle/>
            <a:p>
              <a:pPr algn="ctr"/>
              <a:r>
                <a:rPr lang="en-US" sz="1600" b="1" dirty="0"/>
                <a:t>x3 and x2</a:t>
              </a:r>
            </a:p>
          </p:txBody>
        </p:sp>
        <p:sp>
          <p:nvSpPr>
            <p:cNvPr id="45" name="TextBox 44">
              <a:extLst>
                <a:ext uri="{FF2B5EF4-FFF2-40B4-BE49-F238E27FC236}">
                  <a16:creationId xmlns:a16="http://schemas.microsoft.com/office/drawing/2014/main" id="{087B6E21-AA5E-4945-84BA-69825F65AC96}"/>
                </a:ext>
              </a:extLst>
            </p:cNvPr>
            <p:cNvSpPr txBox="1"/>
            <p:nvPr/>
          </p:nvSpPr>
          <p:spPr>
            <a:xfrm>
              <a:off x="2826336" y="5122691"/>
              <a:ext cx="905696" cy="288679"/>
            </a:xfrm>
            <a:prstGeom prst="rect">
              <a:avLst/>
            </a:prstGeom>
            <a:noFill/>
          </p:spPr>
          <p:txBody>
            <a:bodyPr wrap="square" rtlCol="0">
              <a:spAutoFit/>
            </a:bodyPr>
            <a:lstStyle/>
            <a:p>
              <a:r>
                <a:rPr lang="en-US" sz="1000" b="1" dirty="0"/>
                <a:t>KEY:  </a:t>
              </a:r>
            </a:p>
          </p:txBody>
        </p:sp>
        <p:grpSp>
          <p:nvGrpSpPr>
            <p:cNvPr id="46" name="Group 19">
              <a:extLst>
                <a:ext uri="{FF2B5EF4-FFF2-40B4-BE49-F238E27FC236}">
                  <a16:creationId xmlns:a16="http://schemas.microsoft.com/office/drawing/2014/main" id="{688B1373-3E54-4B44-A2CD-948CC1C7554B}"/>
                </a:ext>
              </a:extLst>
            </p:cNvPr>
            <p:cNvGrpSpPr/>
            <p:nvPr/>
          </p:nvGrpSpPr>
          <p:grpSpPr>
            <a:xfrm>
              <a:off x="3231608" y="5065634"/>
              <a:ext cx="356935" cy="366878"/>
              <a:chOff x="2429301" y="2947916"/>
              <a:chExt cx="914400" cy="914400"/>
            </a:xfrm>
            <a:effectLst>
              <a:outerShdw blurRad="50800" dist="38100" dir="2700000" algn="tl" rotWithShape="0">
                <a:prstClr val="black">
                  <a:alpha val="40000"/>
                </a:prstClr>
              </a:outerShdw>
            </a:effectLst>
          </p:grpSpPr>
          <p:sp>
            <p:nvSpPr>
              <p:cNvPr id="47" name="Oval 46">
                <a:extLst>
                  <a:ext uri="{FF2B5EF4-FFF2-40B4-BE49-F238E27FC236}">
                    <a16:creationId xmlns:a16="http://schemas.microsoft.com/office/drawing/2014/main" id="{7088DFD5-F014-4C81-9420-209158613BAB}"/>
                  </a:ext>
                </a:extLst>
              </p:cNvPr>
              <p:cNvSpPr/>
              <p:nvPr/>
            </p:nvSpPr>
            <p:spPr>
              <a:xfrm>
                <a:off x="2429301" y="2947916"/>
                <a:ext cx="914400" cy="914400"/>
              </a:xfrm>
              <a:prstGeom prst="ellipse">
                <a:avLst/>
              </a:prstGeom>
              <a:solidFill>
                <a:schemeClr val="bg1"/>
              </a:solidFill>
              <a:ln w="317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ACC153BB-6F09-4CC1-B1B7-62C0963CFB00}"/>
                  </a:ext>
                </a:extLst>
              </p:cNvPr>
              <p:cNvSpPr/>
              <p:nvPr/>
            </p:nvSpPr>
            <p:spPr>
              <a:xfrm>
                <a:off x="2524836" y="3057099"/>
                <a:ext cx="723331" cy="709683"/>
              </a:xfrm>
              <a:prstGeom prst="ellipse">
                <a:avLst/>
              </a:prstGeom>
              <a:solidFill>
                <a:schemeClr val="bg1"/>
              </a:solidFill>
              <a:ln w="317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75D8EE14-7681-4122-8E06-6643D4839691}"/>
                  </a:ext>
                </a:extLst>
              </p:cNvPr>
              <p:cNvSpPr/>
              <p:nvPr/>
            </p:nvSpPr>
            <p:spPr>
              <a:xfrm>
                <a:off x="2663589" y="3193571"/>
                <a:ext cx="448102" cy="450375"/>
              </a:xfrm>
              <a:prstGeom prst="ellipse">
                <a:avLst/>
              </a:prstGeom>
              <a:solidFill>
                <a:srgbClr val="FFFF00"/>
              </a:solidFill>
              <a:ln w="317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aphicFrame>
        <p:nvGraphicFramePr>
          <p:cNvPr id="38" name="Table 6">
            <a:extLst>
              <a:ext uri="{FF2B5EF4-FFF2-40B4-BE49-F238E27FC236}">
                <a16:creationId xmlns:a16="http://schemas.microsoft.com/office/drawing/2014/main" id="{053021A8-E9C9-4A52-9A89-4FB6C4B8860D}"/>
              </a:ext>
            </a:extLst>
          </p:cNvPr>
          <p:cNvGraphicFramePr>
            <a:graphicFrameLocks noGrp="1"/>
          </p:cNvGraphicFramePr>
          <p:nvPr/>
        </p:nvGraphicFramePr>
        <p:xfrm>
          <a:off x="4830969" y="719665"/>
          <a:ext cx="5737719" cy="4023360"/>
        </p:xfrm>
        <a:graphic>
          <a:graphicData uri="http://schemas.openxmlformats.org/drawingml/2006/table">
            <a:tbl>
              <a:tblPr firstRow="1" bandRow="1">
                <a:tableStyleId>{5940675A-B579-460E-94D1-54222C63F5DA}</a:tableStyleId>
              </a:tblPr>
              <a:tblGrid>
                <a:gridCol w="5737719">
                  <a:extLst>
                    <a:ext uri="{9D8B030D-6E8A-4147-A177-3AD203B41FA5}">
                      <a16:colId xmlns:a16="http://schemas.microsoft.com/office/drawing/2014/main" val="3887999668"/>
                    </a:ext>
                  </a:extLst>
                </a:gridCol>
              </a:tblGrid>
              <a:tr h="483493">
                <a:tc>
                  <a:txBody>
                    <a:bodyPr/>
                    <a:lstStyle/>
                    <a:p>
                      <a:pPr algn="ctr"/>
                      <a:r>
                        <a:rPr lang="en-US" sz="3200" b="1" dirty="0"/>
                        <a:t>TARGET MARKET </a:t>
                      </a:r>
                    </a:p>
                    <a:p>
                      <a:pPr algn="ctr"/>
                      <a:r>
                        <a:rPr lang="en-US" sz="3200" b="1" dirty="0"/>
                        <a:t>MASS MARKET</a:t>
                      </a:r>
                    </a:p>
                    <a:p>
                      <a:pPr algn="ctr"/>
                      <a:r>
                        <a:rPr lang="en-US" sz="3200" b="1" dirty="0"/>
                        <a:t>JOB FUNCTIONS</a:t>
                      </a:r>
                    </a:p>
                  </a:txBody>
                  <a:tcPr/>
                </a:tc>
                <a:extLst>
                  <a:ext uri="{0D108BD9-81ED-4DB2-BD59-A6C34878D82A}">
                    <a16:rowId xmlns:a16="http://schemas.microsoft.com/office/drawing/2014/main" val="1324454018"/>
                  </a:ext>
                </a:extLst>
              </a:tr>
              <a:tr h="1246241">
                <a:tc>
                  <a:txBody>
                    <a:bodyPr/>
                    <a:lstStyle/>
                    <a:p>
                      <a:pPr algn="ctr"/>
                      <a:endParaRPr lang="en-US" sz="1600" b="1" dirty="0"/>
                    </a:p>
                    <a:p>
                      <a:pPr algn="ctr"/>
                      <a:r>
                        <a:rPr lang="en-US" sz="2000" b="1" dirty="0"/>
                        <a:t>SKILL/CAREER- MARKETING, PRODUCT RESEARCH &amp; DEVELOPMENT,  USER EXPERIENCE (IX), SOCIOLOGY, ECONOMIC ANALYSIS, PSYCHOLOGY, PRODUCT/SERVICE DESIGN, SALES, COMMUNITY DEVELOPMENT, TREND ANALYSIS, CORPORATE COMMUNICATIONS.</a:t>
                      </a:r>
                    </a:p>
                    <a:p>
                      <a:pPr algn="ctr"/>
                      <a:endParaRPr lang="en-US" sz="2000" b="1" dirty="0"/>
                    </a:p>
                  </a:txBody>
                  <a:tcPr/>
                </a:tc>
                <a:extLst>
                  <a:ext uri="{0D108BD9-81ED-4DB2-BD59-A6C34878D82A}">
                    <a16:rowId xmlns:a16="http://schemas.microsoft.com/office/drawing/2014/main" val="682039194"/>
                  </a:ext>
                </a:extLst>
              </a:tr>
            </a:tbl>
          </a:graphicData>
        </a:graphic>
      </p:graphicFrame>
      <p:graphicFrame>
        <p:nvGraphicFramePr>
          <p:cNvPr id="29" name="Table 7">
            <a:extLst>
              <a:ext uri="{FF2B5EF4-FFF2-40B4-BE49-F238E27FC236}">
                <a16:creationId xmlns:a16="http://schemas.microsoft.com/office/drawing/2014/main" id="{4B4CA226-A299-491D-A12D-05835BCBEAA7}"/>
              </a:ext>
            </a:extLst>
          </p:cNvPr>
          <p:cNvGraphicFramePr>
            <a:graphicFrameLocks noGrp="1"/>
          </p:cNvGraphicFramePr>
          <p:nvPr/>
        </p:nvGraphicFramePr>
        <p:xfrm>
          <a:off x="4736636" y="4882222"/>
          <a:ext cx="5926384" cy="944880"/>
        </p:xfrm>
        <a:graphic>
          <a:graphicData uri="http://schemas.openxmlformats.org/drawingml/2006/table">
            <a:tbl>
              <a:tblPr firstRow="1" bandRow="1">
                <a:tableStyleId>{5C22544A-7EE6-4342-B048-85BDC9FD1C3A}</a:tableStyleId>
              </a:tblPr>
              <a:tblGrid>
                <a:gridCol w="2963192">
                  <a:extLst>
                    <a:ext uri="{9D8B030D-6E8A-4147-A177-3AD203B41FA5}">
                      <a16:colId xmlns:a16="http://schemas.microsoft.com/office/drawing/2014/main" val="1028654853"/>
                    </a:ext>
                  </a:extLst>
                </a:gridCol>
                <a:gridCol w="2963192">
                  <a:extLst>
                    <a:ext uri="{9D8B030D-6E8A-4147-A177-3AD203B41FA5}">
                      <a16:colId xmlns:a16="http://schemas.microsoft.com/office/drawing/2014/main" val="2159636558"/>
                    </a:ext>
                  </a:extLst>
                </a:gridCol>
              </a:tblGrid>
              <a:tr h="370840">
                <a:tc>
                  <a:txBody>
                    <a:bodyPr/>
                    <a:lstStyle/>
                    <a:p>
                      <a:pPr algn="ctr"/>
                      <a:r>
                        <a:rPr lang="en-US" dirty="0">
                          <a:solidFill>
                            <a:srgbClr val="C00000"/>
                          </a:solidFill>
                        </a:rPr>
                        <a:t>INSIGHT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400" dirty="0">
                          <a:solidFill>
                            <a:srgbClr val="C00000"/>
                          </a:solidFill>
                        </a:rPr>
                        <a:t>SEEK AN UPGRADE COMBO WITH CORE VALUES SKILL SETS AND NOTE, MULTI INDUSTRY EXPERIENCE IS AN ADDED BONUS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823397659"/>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1306286" y="769258"/>
            <a:ext cx="3207657" cy="5312228"/>
            <a:chOff x="1306286" y="769258"/>
            <a:chExt cx="3207657" cy="5312228"/>
          </a:xfrm>
        </p:grpSpPr>
        <p:sp>
          <p:nvSpPr>
            <p:cNvPr id="2" name="Rounded Rectangle 1"/>
            <p:cNvSpPr/>
            <p:nvPr/>
          </p:nvSpPr>
          <p:spPr>
            <a:xfrm>
              <a:off x="1306286" y="783771"/>
              <a:ext cx="3207657" cy="5297715"/>
            </a:xfrm>
            <a:prstGeom prst="roundRect">
              <a:avLst/>
            </a:prstGeom>
            <a:solidFill>
              <a:schemeClr val="bg1"/>
            </a:solidFill>
            <a:ln w="76200">
              <a:solidFill>
                <a:schemeClr val="bg1">
                  <a:lumMod val="6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 Same Side Corner Rectangle 2"/>
            <p:cNvSpPr/>
            <p:nvPr/>
          </p:nvSpPr>
          <p:spPr>
            <a:xfrm>
              <a:off x="1306286" y="769258"/>
              <a:ext cx="3207657" cy="1146626"/>
            </a:xfrm>
            <a:prstGeom prst="round2SameRect">
              <a:avLst/>
            </a:prstGeom>
            <a:solidFill>
              <a:schemeClr val="bg1">
                <a:lumMod val="85000"/>
              </a:schemeClr>
            </a:solidFill>
            <a:ln w="762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latin typeface="AR BONNIE" pitchFamily="2" charset="0"/>
                </a:rPr>
                <a:t>TARGET MARKET</a:t>
              </a:r>
            </a:p>
            <a:p>
              <a:pPr algn="ctr"/>
              <a:r>
                <a:rPr lang="en-US" sz="1400" b="1" dirty="0">
                  <a:solidFill>
                    <a:schemeClr val="tx1"/>
                  </a:solidFill>
                  <a:latin typeface="AR BONNIE" pitchFamily="2" charset="0"/>
                </a:rPr>
                <a:t>SELECT MARKET</a:t>
              </a:r>
            </a:p>
          </p:txBody>
        </p:sp>
      </p:grpSp>
      <p:sp>
        <p:nvSpPr>
          <p:cNvPr id="34" name="TextBox 33"/>
          <p:cNvSpPr txBox="1"/>
          <p:nvPr/>
        </p:nvSpPr>
        <p:spPr>
          <a:xfrm>
            <a:off x="1330035" y="1907039"/>
            <a:ext cx="3182587" cy="507831"/>
          </a:xfrm>
          <a:prstGeom prst="rect">
            <a:avLst/>
          </a:prstGeom>
          <a:noFill/>
        </p:spPr>
        <p:txBody>
          <a:bodyPr wrap="square" rtlCol="0">
            <a:spAutoFit/>
          </a:bodyPr>
          <a:lstStyle/>
          <a:p>
            <a:pPr algn="ctr"/>
            <a:r>
              <a:rPr lang="en-US" sz="900" b="1" dirty="0"/>
              <a:t>WHO ARE YOUR CUSTOMERS/CLIENTS?</a:t>
            </a:r>
          </a:p>
          <a:p>
            <a:pPr algn="ctr"/>
            <a:r>
              <a:rPr lang="en-US" sz="900" b="1" dirty="0"/>
              <a:t>YOUR STRUCTURE MUST BE PURPOSE DESIGNED TO MEET THERE NEEDS AND OR SOLVE THEIR PROBLEMS</a:t>
            </a:r>
          </a:p>
        </p:txBody>
      </p:sp>
      <p:sp>
        <p:nvSpPr>
          <p:cNvPr id="36" name="TextBox 35"/>
          <p:cNvSpPr txBox="1"/>
          <p:nvPr/>
        </p:nvSpPr>
        <p:spPr>
          <a:xfrm>
            <a:off x="1781297" y="2524152"/>
            <a:ext cx="771895" cy="400110"/>
          </a:xfrm>
          <a:prstGeom prst="rect">
            <a:avLst/>
          </a:prstGeom>
          <a:noFill/>
        </p:spPr>
        <p:txBody>
          <a:bodyPr wrap="square" rtlCol="0">
            <a:spAutoFit/>
          </a:bodyPr>
          <a:lstStyle/>
          <a:p>
            <a:pPr algn="ctr"/>
            <a:r>
              <a:rPr lang="en-US" sz="2000" b="1" dirty="0"/>
              <a:t>+15</a:t>
            </a:r>
            <a:endParaRPr lang="en-US" sz="2800" b="1" dirty="0"/>
          </a:p>
        </p:txBody>
      </p:sp>
      <p:grpSp>
        <p:nvGrpSpPr>
          <p:cNvPr id="37" name="Group 36"/>
          <p:cNvGrpSpPr/>
          <p:nvPr/>
        </p:nvGrpSpPr>
        <p:grpSpPr>
          <a:xfrm>
            <a:off x="3224586" y="2541367"/>
            <a:ext cx="494604" cy="393799"/>
            <a:chOff x="2404984" y="2565778"/>
            <a:chExt cx="851338" cy="655093"/>
          </a:xfrm>
        </p:grpSpPr>
        <p:sp>
          <p:nvSpPr>
            <p:cNvPr id="38" name="5-Point Star 37"/>
            <p:cNvSpPr/>
            <p:nvPr/>
          </p:nvSpPr>
          <p:spPr>
            <a:xfrm>
              <a:off x="2470246" y="2565778"/>
              <a:ext cx="723330" cy="655093"/>
            </a:xfrm>
            <a:prstGeom prst="star5">
              <a:avLst/>
            </a:prstGeom>
            <a:solidFill>
              <a:srgbClr val="FFFF00"/>
            </a:solidFill>
            <a:ln w="571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dirty="0">
                <a:solidFill>
                  <a:schemeClr val="tx1"/>
                </a:solidFill>
              </a:endParaRPr>
            </a:p>
          </p:txBody>
        </p:sp>
        <p:sp>
          <p:nvSpPr>
            <p:cNvPr id="45" name="TextBox 44"/>
            <p:cNvSpPr txBox="1"/>
            <p:nvPr/>
          </p:nvSpPr>
          <p:spPr>
            <a:xfrm>
              <a:off x="2404984" y="2744777"/>
              <a:ext cx="851338" cy="392421"/>
            </a:xfrm>
            <a:prstGeom prst="rect">
              <a:avLst/>
            </a:prstGeom>
            <a:noFill/>
          </p:spPr>
          <p:txBody>
            <a:bodyPr wrap="square" rtlCol="0">
              <a:spAutoFit/>
            </a:bodyPr>
            <a:lstStyle/>
            <a:p>
              <a:pPr algn="ctr"/>
              <a:r>
                <a:rPr lang="en-US" sz="1100" b="1" dirty="0">
                  <a:solidFill>
                    <a:srgbClr val="FF0000"/>
                  </a:solidFill>
                </a:rPr>
                <a:t>x2</a:t>
              </a:r>
              <a:endParaRPr lang="en-US" sz="1400" b="1" dirty="0">
                <a:solidFill>
                  <a:srgbClr val="FF0000"/>
                </a:solidFill>
              </a:endParaRPr>
            </a:p>
          </p:txBody>
        </p:sp>
      </p:grpSp>
      <p:graphicFrame>
        <p:nvGraphicFramePr>
          <p:cNvPr id="46" name="Table 45"/>
          <p:cNvGraphicFramePr>
            <a:graphicFrameLocks noGrp="1"/>
          </p:cNvGraphicFramePr>
          <p:nvPr/>
        </p:nvGraphicFramePr>
        <p:xfrm>
          <a:off x="2090058" y="4286196"/>
          <a:ext cx="1472538" cy="914400"/>
        </p:xfrm>
        <a:graphic>
          <a:graphicData uri="http://schemas.openxmlformats.org/drawingml/2006/table">
            <a:tbl>
              <a:tblPr firstRow="1" bandRow="1">
                <a:tableStyleId>{5C22544A-7EE6-4342-B048-85BDC9FD1C3A}</a:tableStyleId>
              </a:tblPr>
              <a:tblGrid>
                <a:gridCol w="490846">
                  <a:extLst>
                    <a:ext uri="{9D8B030D-6E8A-4147-A177-3AD203B41FA5}">
                      <a16:colId xmlns:a16="http://schemas.microsoft.com/office/drawing/2014/main" val="20000"/>
                    </a:ext>
                  </a:extLst>
                </a:gridCol>
                <a:gridCol w="490846">
                  <a:extLst>
                    <a:ext uri="{9D8B030D-6E8A-4147-A177-3AD203B41FA5}">
                      <a16:colId xmlns:a16="http://schemas.microsoft.com/office/drawing/2014/main" val="20001"/>
                    </a:ext>
                  </a:extLst>
                </a:gridCol>
                <a:gridCol w="490846">
                  <a:extLst>
                    <a:ext uri="{9D8B030D-6E8A-4147-A177-3AD203B41FA5}">
                      <a16:colId xmlns:a16="http://schemas.microsoft.com/office/drawing/2014/main" val="20002"/>
                    </a:ext>
                  </a:extLst>
                </a:gridCol>
              </a:tblGrid>
              <a:tr h="198809">
                <a:tc gridSpan="2">
                  <a:txBody>
                    <a:bodyPr/>
                    <a:lstStyle/>
                    <a:p>
                      <a:pPr algn="ctr"/>
                      <a:r>
                        <a:rPr lang="en-US" sz="600" dirty="0">
                          <a:solidFill>
                            <a:schemeClr val="tx1"/>
                          </a:solidFill>
                        </a:rPr>
                        <a:t>RISK WEIGHT PENALTY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600" dirty="0">
                          <a:solidFill>
                            <a:schemeClr val="tx1"/>
                          </a:solidFill>
                        </a:rPr>
                        <a:t>RISK SCORE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198809">
                <a:tc>
                  <a:txBody>
                    <a:bodyPr/>
                    <a:lstStyle/>
                    <a:p>
                      <a:pPr algn="ctr"/>
                      <a:r>
                        <a:rPr lang="en-US" sz="800" dirty="0">
                          <a:solidFill>
                            <a:schemeClr val="tx1"/>
                          </a:solidFill>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US" sz="800" dirty="0">
                          <a:solidFill>
                            <a:schemeClr val="tx1"/>
                          </a:solidFill>
                        </a:rPr>
                        <a:t>-60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US" sz="80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10001"/>
                  </a:ext>
                </a:extLst>
              </a:tr>
              <a:tr h="198809">
                <a:tc>
                  <a:txBody>
                    <a:bodyPr/>
                    <a:lstStyle/>
                    <a:p>
                      <a:pPr algn="ctr"/>
                      <a:r>
                        <a:rPr lang="en-US" sz="80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sz="800" dirty="0">
                          <a:solidFill>
                            <a:schemeClr val="tx1"/>
                          </a:solidFill>
                        </a:rPr>
                        <a:t>-40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sz="80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2"/>
                  </a:ext>
                </a:extLst>
              </a:tr>
              <a:tr h="198809">
                <a:tc>
                  <a:txBody>
                    <a:bodyPr/>
                    <a:lstStyle/>
                    <a:p>
                      <a:pPr algn="ctr"/>
                      <a:r>
                        <a:rPr lang="en-US" sz="80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80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80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003"/>
                  </a:ext>
                </a:extLst>
              </a:tr>
            </a:tbl>
          </a:graphicData>
        </a:graphic>
      </p:graphicFrame>
      <p:sp>
        <p:nvSpPr>
          <p:cNvPr id="47" name="Rectangle 46"/>
          <p:cNvSpPr/>
          <p:nvPr/>
        </p:nvSpPr>
        <p:spPr>
          <a:xfrm>
            <a:off x="2486177" y="2964420"/>
            <a:ext cx="672655" cy="600114"/>
          </a:xfrm>
          <a:prstGeom prst="rect">
            <a:avLst/>
          </a:prstGeom>
          <a:solidFill>
            <a:schemeClr val="tx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p:cNvSpPr/>
          <p:nvPr/>
        </p:nvSpPr>
        <p:spPr>
          <a:xfrm>
            <a:off x="2104185" y="3627458"/>
            <a:ext cx="672655" cy="600114"/>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p:cNvSpPr/>
          <p:nvPr/>
        </p:nvSpPr>
        <p:spPr>
          <a:xfrm>
            <a:off x="2850353" y="3625478"/>
            <a:ext cx="672655" cy="600114"/>
          </a:xfrm>
          <a:prstGeom prst="rect">
            <a:avLst/>
          </a:prstGeom>
          <a:solidFill>
            <a:schemeClr val="bg1">
              <a:lumMod val="75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5" name="Group 24">
            <a:extLst>
              <a:ext uri="{FF2B5EF4-FFF2-40B4-BE49-F238E27FC236}">
                <a16:creationId xmlns:a16="http://schemas.microsoft.com/office/drawing/2014/main" id="{C7FA5A52-1F6E-40D4-8C4A-1717F2E93E9F}"/>
              </a:ext>
            </a:extLst>
          </p:cNvPr>
          <p:cNvGrpSpPr/>
          <p:nvPr/>
        </p:nvGrpSpPr>
        <p:grpSpPr>
          <a:xfrm>
            <a:off x="2067753" y="5249042"/>
            <a:ext cx="1804708" cy="733644"/>
            <a:chOff x="2113799" y="5065634"/>
            <a:chExt cx="2031151" cy="860153"/>
          </a:xfrm>
        </p:grpSpPr>
        <p:sp>
          <p:nvSpPr>
            <p:cNvPr id="26" name="Oval 25">
              <a:extLst>
                <a:ext uri="{FF2B5EF4-FFF2-40B4-BE49-F238E27FC236}">
                  <a16:creationId xmlns:a16="http://schemas.microsoft.com/office/drawing/2014/main" id="{22F8A7E4-4325-4CA7-8CE4-FB35D4A8A64C}"/>
                </a:ext>
              </a:extLst>
            </p:cNvPr>
            <p:cNvSpPr/>
            <p:nvPr/>
          </p:nvSpPr>
          <p:spPr>
            <a:xfrm>
              <a:off x="2113799" y="5617028"/>
              <a:ext cx="285008" cy="308759"/>
            </a:xfrm>
            <a:prstGeom prst="ellipse">
              <a:avLst/>
            </a:prstGeom>
            <a:solidFill>
              <a:schemeClr val="tx1"/>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BB71D674-84DF-4593-A882-AE446AAF3178}"/>
                </a:ext>
              </a:extLst>
            </p:cNvPr>
            <p:cNvSpPr/>
            <p:nvPr/>
          </p:nvSpPr>
          <p:spPr>
            <a:xfrm>
              <a:off x="2266197" y="5520047"/>
              <a:ext cx="285008" cy="308759"/>
            </a:xfrm>
            <a:prstGeom prst="ellipse">
              <a:avLst/>
            </a:prstGeom>
            <a:solidFill>
              <a:srgbClr val="7030A0"/>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1295738A-AA7F-4C5D-8F95-49659E8E0B2F}"/>
                </a:ext>
              </a:extLst>
            </p:cNvPr>
            <p:cNvSpPr/>
            <p:nvPr/>
          </p:nvSpPr>
          <p:spPr>
            <a:xfrm>
              <a:off x="2382975" y="5613069"/>
              <a:ext cx="285008" cy="308759"/>
            </a:xfrm>
            <a:prstGeom prst="ellipse">
              <a:avLst/>
            </a:prstGeom>
            <a:solidFill>
              <a:schemeClr val="tx1"/>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Equal 50">
              <a:extLst>
                <a:ext uri="{FF2B5EF4-FFF2-40B4-BE49-F238E27FC236}">
                  <a16:creationId xmlns:a16="http://schemas.microsoft.com/office/drawing/2014/main" id="{FDA2DE61-8FB5-4E68-94A1-2484977B1D10}"/>
                </a:ext>
              </a:extLst>
            </p:cNvPr>
            <p:cNvSpPr/>
            <p:nvPr/>
          </p:nvSpPr>
          <p:spPr>
            <a:xfrm>
              <a:off x="2719440" y="5617027"/>
              <a:ext cx="320636" cy="237507"/>
            </a:xfrm>
            <a:prstGeom prst="mathEqual">
              <a:avLst/>
            </a:prstGeom>
            <a:solidFill>
              <a:schemeClr val="tx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0" name="TextBox 39">
              <a:extLst>
                <a:ext uri="{FF2B5EF4-FFF2-40B4-BE49-F238E27FC236}">
                  <a16:creationId xmlns:a16="http://schemas.microsoft.com/office/drawing/2014/main" id="{85690801-9A98-4E4C-A40C-648A4F31539E}"/>
                </a:ext>
              </a:extLst>
            </p:cNvPr>
            <p:cNvSpPr txBox="1"/>
            <p:nvPr/>
          </p:nvSpPr>
          <p:spPr>
            <a:xfrm>
              <a:off x="2886171" y="5522321"/>
              <a:ext cx="1258779" cy="338554"/>
            </a:xfrm>
            <a:prstGeom prst="rect">
              <a:avLst/>
            </a:prstGeom>
            <a:noFill/>
          </p:spPr>
          <p:txBody>
            <a:bodyPr wrap="square" rtlCol="0">
              <a:spAutoFit/>
            </a:bodyPr>
            <a:lstStyle/>
            <a:p>
              <a:pPr algn="ctr"/>
              <a:r>
                <a:rPr lang="en-US" sz="1600" b="1" dirty="0"/>
                <a:t>x3 and x2</a:t>
              </a:r>
            </a:p>
          </p:txBody>
        </p:sp>
        <p:sp>
          <p:nvSpPr>
            <p:cNvPr id="41" name="TextBox 40">
              <a:extLst>
                <a:ext uri="{FF2B5EF4-FFF2-40B4-BE49-F238E27FC236}">
                  <a16:creationId xmlns:a16="http://schemas.microsoft.com/office/drawing/2014/main" id="{270BBCFD-1BB9-4BE7-A6BF-8FE4688AF0E3}"/>
                </a:ext>
              </a:extLst>
            </p:cNvPr>
            <p:cNvSpPr txBox="1"/>
            <p:nvPr/>
          </p:nvSpPr>
          <p:spPr>
            <a:xfrm>
              <a:off x="2802405" y="5122691"/>
              <a:ext cx="929626" cy="288679"/>
            </a:xfrm>
            <a:prstGeom prst="rect">
              <a:avLst/>
            </a:prstGeom>
            <a:noFill/>
          </p:spPr>
          <p:txBody>
            <a:bodyPr wrap="square" rtlCol="0">
              <a:spAutoFit/>
            </a:bodyPr>
            <a:lstStyle/>
            <a:p>
              <a:r>
                <a:rPr lang="en-US" sz="1000" b="1" dirty="0"/>
                <a:t>KEY:  </a:t>
              </a:r>
            </a:p>
          </p:txBody>
        </p:sp>
        <p:grpSp>
          <p:nvGrpSpPr>
            <p:cNvPr id="43" name="Group 19">
              <a:extLst>
                <a:ext uri="{FF2B5EF4-FFF2-40B4-BE49-F238E27FC236}">
                  <a16:creationId xmlns:a16="http://schemas.microsoft.com/office/drawing/2014/main" id="{1EDA4AF5-9BA4-42FF-8E16-51D9F9B8DF43}"/>
                </a:ext>
              </a:extLst>
            </p:cNvPr>
            <p:cNvGrpSpPr/>
            <p:nvPr/>
          </p:nvGrpSpPr>
          <p:grpSpPr>
            <a:xfrm>
              <a:off x="3231608" y="5065634"/>
              <a:ext cx="356935" cy="366878"/>
              <a:chOff x="2429301" y="2947916"/>
              <a:chExt cx="914400" cy="914400"/>
            </a:xfrm>
            <a:effectLst>
              <a:outerShdw blurRad="50800" dist="38100" dir="2700000" algn="tl" rotWithShape="0">
                <a:prstClr val="black">
                  <a:alpha val="40000"/>
                </a:prstClr>
              </a:outerShdw>
            </a:effectLst>
          </p:grpSpPr>
          <p:sp>
            <p:nvSpPr>
              <p:cNvPr id="44" name="Oval 43">
                <a:extLst>
                  <a:ext uri="{FF2B5EF4-FFF2-40B4-BE49-F238E27FC236}">
                    <a16:creationId xmlns:a16="http://schemas.microsoft.com/office/drawing/2014/main" id="{F2FB2E7D-4AEF-425C-9AEF-43A19E8944BA}"/>
                  </a:ext>
                </a:extLst>
              </p:cNvPr>
              <p:cNvSpPr/>
              <p:nvPr/>
            </p:nvSpPr>
            <p:spPr>
              <a:xfrm>
                <a:off x="2429301" y="2947916"/>
                <a:ext cx="914400" cy="914400"/>
              </a:xfrm>
              <a:prstGeom prst="ellipse">
                <a:avLst/>
              </a:prstGeom>
              <a:solidFill>
                <a:schemeClr val="bg1"/>
              </a:solidFill>
              <a:ln w="317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F0C4F6D8-FA0F-4DC3-9CF6-53A6E3125C33}"/>
                  </a:ext>
                </a:extLst>
              </p:cNvPr>
              <p:cNvSpPr/>
              <p:nvPr/>
            </p:nvSpPr>
            <p:spPr>
              <a:xfrm>
                <a:off x="2524836" y="3057099"/>
                <a:ext cx="723331" cy="709683"/>
              </a:xfrm>
              <a:prstGeom prst="ellipse">
                <a:avLst/>
              </a:prstGeom>
              <a:solidFill>
                <a:schemeClr val="bg1"/>
              </a:solidFill>
              <a:ln w="317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60CAA86F-197C-4D03-BBD5-F94E411E04D7}"/>
                  </a:ext>
                </a:extLst>
              </p:cNvPr>
              <p:cNvSpPr/>
              <p:nvPr/>
            </p:nvSpPr>
            <p:spPr>
              <a:xfrm>
                <a:off x="2663589" y="3193571"/>
                <a:ext cx="448102" cy="450375"/>
              </a:xfrm>
              <a:prstGeom prst="ellipse">
                <a:avLst/>
              </a:prstGeom>
              <a:solidFill>
                <a:srgbClr val="FFFF00"/>
              </a:solidFill>
              <a:ln w="317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aphicFrame>
        <p:nvGraphicFramePr>
          <p:cNvPr id="42" name="Table 6">
            <a:extLst>
              <a:ext uri="{FF2B5EF4-FFF2-40B4-BE49-F238E27FC236}">
                <a16:creationId xmlns:a16="http://schemas.microsoft.com/office/drawing/2014/main" id="{D4492DD8-3ABD-42C1-A989-95A8BF6973C6}"/>
              </a:ext>
            </a:extLst>
          </p:cNvPr>
          <p:cNvGraphicFramePr>
            <a:graphicFrameLocks noGrp="1"/>
          </p:cNvGraphicFramePr>
          <p:nvPr/>
        </p:nvGraphicFramePr>
        <p:xfrm>
          <a:off x="4830969" y="719665"/>
          <a:ext cx="5737719" cy="4023360"/>
        </p:xfrm>
        <a:graphic>
          <a:graphicData uri="http://schemas.openxmlformats.org/drawingml/2006/table">
            <a:tbl>
              <a:tblPr firstRow="1" bandRow="1">
                <a:tableStyleId>{5940675A-B579-460E-94D1-54222C63F5DA}</a:tableStyleId>
              </a:tblPr>
              <a:tblGrid>
                <a:gridCol w="5737719">
                  <a:extLst>
                    <a:ext uri="{9D8B030D-6E8A-4147-A177-3AD203B41FA5}">
                      <a16:colId xmlns:a16="http://schemas.microsoft.com/office/drawing/2014/main" val="3887999668"/>
                    </a:ext>
                  </a:extLst>
                </a:gridCol>
              </a:tblGrid>
              <a:tr h="483493">
                <a:tc>
                  <a:txBody>
                    <a:bodyPr/>
                    <a:lstStyle/>
                    <a:p>
                      <a:pPr algn="ctr"/>
                      <a:r>
                        <a:rPr lang="en-US" sz="3200" b="1" dirty="0"/>
                        <a:t>TARGET MARKET </a:t>
                      </a:r>
                    </a:p>
                    <a:p>
                      <a:pPr algn="ctr"/>
                      <a:r>
                        <a:rPr lang="en-US" sz="3200" b="1" dirty="0"/>
                        <a:t>SELECT</a:t>
                      </a:r>
                    </a:p>
                    <a:p>
                      <a:pPr algn="ctr"/>
                      <a:r>
                        <a:rPr lang="en-US" sz="3200" b="1" dirty="0"/>
                        <a:t>JOB FUNCTIONS</a:t>
                      </a:r>
                    </a:p>
                  </a:txBody>
                  <a:tcPr/>
                </a:tc>
                <a:extLst>
                  <a:ext uri="{0D108BD9-81ED-4DB2-BD59-A6C34878D82A}">
                    <a16:rowId xmlns:a16="http://schemas.microsoft.com/office/drawing/2014/main" val="1324454018"/>
                  </a:ext>
                </a:extLst>
              </a:tr>
              <a:tr h="1246241">
                <a:tc>
                  <a:txBody>
                    <a:bodyPr/>
                    <a:lstStyle/>
                    <a:p>
                      <a:pPr algn="ctr"/>
                      <a:endParaRPr lang="en-US" sz="1600" b="1" dirty="0"/>
                    </a:p>
                    <a:p>
                      <a:pPr algn="ctr"/>
                      <a:r>
                        <a:rPr lang="en-US" sz="2000" b="1" dirty="0"/>
                        <a:t>SKILL/CAREER- MARKETING, PRODUCT RESEARCH &amp; DEVELOPMENT,  USER EXPERIENCE (IX), SOCIOLOGY, ECONOMIC ANALYSIS, PSYCHOLOGY, PRODUCT/SERVICE DESIGN, SALES, COMMUNITY DEVELOPMENT, TREND ANALYSIS, CORPORATE COMMUNICATIONS.</a:t>
                      </a:r>
                    </a:p>
                    <a:p>
                      <a:pPr algn="ctr"/>
                      <a:endParaRPr lang="en-US" sz="2000" b="1" dirty="0"/>
                    </a:p>
                  </a:txBody>
                  <a:tcPr/>
                </a:tc>
                <a:extLst>
                  <a:ext uri="{0D108BD9-81ED-4DB2-BD59-A6C34878D82A}">
                    <a16:rowId xmlns:a16="http://schemas.microsoft.com/office/drawing/2014/main" val="682039194"/>
                  </a:ext>
                </a:extLst>
              </a:tr>
            </a:tbl>
          </a:graphicData>
        </a:graphic>
      </p:graphicFrame>
      <p:graphicFrame>
        <p:nvGraphicFramePr>
          <p:cNvPr id="28" name="Table 7">
            <a:extLst>
              <a:ext uri="{FF2B5EF4-FFF2-40B4-BE49-F238E27FC236}">
                <a16:creationId xmlns:a16="http://schemas.microsoft.com/office/drawing/2014/main" id="{506C9FC5-4C71-406D-A185-0BE36A086263}"/>
              </a:ext>
            </a:extLst>
          </p:cNvPr>
          <p:cNvGraphicFramePr>
            <a:graphicFrameLocks noGrp="1"/>
          </p:cNvGraphicFramePr>
          <p:nvPr/>
        </p:nvGraphicFramePr>
        <p:xfrm>
          <a:off x="4736636" y="4946020"/>
          <a:ext cx="5926384" cy="944880"/>
        </p:xfrm>
        <a:graphic>
          <a:graphicData uri="http://schemas.openxmlformats.org/drawingml/2006/table">
            <a:tbl>
              <a:tblPr firstRow="1" bandRow="1">
                <a:tableStyleId>{5C22544A-7EE6-4342-B048-85BDC9FD1C3A}</a:tableStyleId>
              </a:tblPr>
              <a:tblGrid>
                <a:gridCol w="2963192">
                  <a:extLst>
                    <a:ext uri="{9D8B030D-6E8A-4147-A177-3AD203B41FA5}">
                      <a16:colId xmlns:a16="http://schemas.microsoft.com/office/drawing/2014/main" val="1028654853"/>
                    </a:ext>
                  </a:extLst>
                </a:gridCol>
                <a:gridCol w="2963192">
                  <a:extLst>
                    <a:ext uri="{9D8B030D-6E8A-4147-A177-3AD203B41FA5}">
                      <a16:colId xmlns:a16="http://schemas.microsoft.com/office/drawing/2014/main" val="2159636558"/>
                    </a:ext>
                  </a:extLst>
                </a:gridCol>
              </a:tblGrid>
              <a:tr h="370840">
                <a:tc>
                  <a:txBody>
                    <a:bodyPr/>
                    <a:lstStyle/>
                    <a:p>
                      <a:pPr algn="ctr"/>
                      <a:r>
                        <a:rPr lang="en-US" dirty="0">
                          <a:solidFill>
                            <a:srgbClr val="C00000"/>
                          </a:solidFill>
                        </a:rPr>
                        <a:t>INSIGHT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400" dirty="0">
                          <a:solidFill>
                            <a:srgbClr val="C00000"/>
                          </a:solidFill>
                        </a:rPr>
                        <a:t>SEEK AN UPGRADE COMBO WITH CORE VALUES SKILL SETS AND NOTE, MULTI INDUSTRY EXPERIENCE IS AN ADDED BONUS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823397659"/>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9797716" cy="1325563"/>
          </a:xfrm>
          <a:solidFill>
            <a:schemeClr val="bg1">
              <a:lumMod val="75000"/>
            </a:schemeClr>
          </a:solidFill>
        </p:spPr>
        <p:txBody>
          <a:bodyPr/>
          <a:lstStyle/>
          <a:p>
            <a:r>
              <a:rPr lang="en-US" b="1" dirty="0"/>
              <a:t>PEOPLE CARDS: SKILL SETS</a:t>
            </a:r>
          </a:p>
        </p:txBody>
      </p:sp>
      <p:sp>
        <p:nvSpPr>
          <p:cNvPr id="3" name="Content Placeholder 2"/>
          <p:cNvSpPr>
            <a:spLocks noGrp="1"/>
          </p:cNvSpPr>
          <p:nvPr>
            <p:ph idx="1"/>
          </p:nvPr>
        </p:nvSpPr>
        <p:spPr>
          <a:xfrm>
            <a:off x="838200" y="1825625"/>
            <a:ext cx="9419897" cy="4351338"/>
          </a:xfrm>
        </p:spPr>
        <p:txBody>
          <a:bodyPr>
            <a:normAutofit fontScale="92500" lnSpcReduction="10000"/>
          </a:bodyPr>
          <a:lstStyle/>
          <a:p>
            <a:r>
              <a:rPr lang="en-US" dirty="0"/>
              <a:t>PERSONNEL: Skill/Careers- HR, Training, Legal, Policy Formulation, Search &amp; Selection, Testing, Certification Training, Outsourcing, In sourcing, All Human Resource Management Certifications.</a:t>
            </a:r>
            <a:br>
              <a:rPr lang="en-US" dirty="0"/>
            </a:br>
            <a:br>
              <a:rPr lang="en-US" dirty="0"/>
            </a:br>
            <a:r>
              <a:rPr lang="en-US" dirty="0"/>
              <a:t>PARTNERS: Skill/Careers- Legal, Financial Analyst, Negotiations, Marketing, Corporate Communications, Business Forecasting.</a:t>
            </a:r>
            <a:br>
              <a:rPr lang="en-US" dirty="0"/>
            </a:br>
            <a:br>
              <a:rPr lang="en-US" dirty="0"/>
            </a:br>
            <a:r>
              <a:rPr lang="en-US" dirty="0"/>
              <a:t>CLIENT/CUSTOMER (MASS &amp; SELECT): Skill/Career- Marketing, Product Research &amp; Development,  User Experience (IX), Sociology, Economic Analysis, Psychology, Product/Service Design, Sales, Community Development, Trend Analysis, Corporate Communications.</a:t>
            </a:r>
            <a:br>
              <a:rPr lang="en-US" dirty="0"/>
            </a:br>
            <a:endParaRPr lang="en-US" dirty="0"/>
          </a:p>
        </p:txBody>
      </p:sp>
    </p:spTree>
    <p:extLst>
      <p:ext uri="{BB962C8B-B14F-4D97-AF65-F5344CB8AC3E}">
        <p14:creationId xmlns:p14="http://schemas.microsoft.com/office/powerpoint/2010/main" val="3154925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1306286" y="769258"/>
            <a:ext cx="3207657" cy="5312228"/>
            <a:chOff x="1306286" y="769258"/>
            <a:chExt cx="3207657" cy="5312228"/>
          </a:xfrm>
        </p:grpSpPr>
        <p:sp>
          <p:nvSpPr>
            <p:cNvPr id="2" name="Rounded Rectangle 1"/>
            <p:cNvSpPr/>
            <p:nvPr/>
          </p:nvSpPr>
          <p:spPr>
            <a:xfrm>
              <a:off x="1306286" y="783771"/>
              <a:ext cx="3207657" cy="5297715"/>
            </a:xfrm>
            <a:prstGeom prst="roundRect">
              <a:avLst/>
            </a:prstGeom>
            <a:solidFill>
              <a:schemeClr val="bg1"/>
            </a:solidFill>
            <a:ln w="76200">
              <a:solidFill>
                <a:schemeClr val="bg1">
                  <a:lumMod val="6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 Same Side Corner Rectangle 2"/>
            <p:cNvSpPr/>
            <p:nvPr/>
          </p:nvSpPr>
          <p:spPr>
            <a:xfrm>
              <a:off x="1306286" y="769258"/>
              <a:ext cx="3207657" cy="1146626"/>
            </a:xfrm>
            <a:prstGeom prst="round2SameRect">
              <a:avLst/>
            </a:prstGeom>
            <a:solidFill>
              <a:srgbClr val="92D050"/>
            </a:solidFill>
            <a:ln w="762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R BONNIE" pitchFamily="2" charset="0"/>
                </a:rPr>
                <a:t>COMPLIANCE</a:t>
              </a:r>
            </a:p>
          </p:txBody>
        </p:sp>
      </p:grpSp>
      <p:sp>
        <p:nvSpPr>
          <p:cNvPr id="12" name="TextBox 11"/>
          <p:cNvSpPr txBox="1"/>
          <p:nvPr/>
        </p:nvSpPr>
        <p:spPr>
          <a:xfrm>
            <a:off x="1341911" y="1945845"/>
            <a:ext cx="3146961" cy="646331"/>
          </a:xfrm>
          <a:prstGeom prst="rect">
            <a:avLst/>
          </a:prstGeom>
          <a:noFill/>
        </p:spPr>
        <p:txBody>
          <a:bodyPr wrap="square" rtlCol="0">
            <a:spAutoFit/>
          </a:bodyPr>
          <a:lstStyle/>
          <a:p>
            <a:pPr algn="ctr"/>
            <a:r>
              <a:rPr lang="en-US" sz="900" b="1" dirty="0"/>
              <a:t>IS YOUR STRUCTURE FULLY DEFINED?</a:t>
            </a:r>
          </a:p>
          <a:p>
            <a:pPr algn="ctr"/>
            <a:r>
              <a:rPr lang="en-US" sz="900" b="1" dirty="0"/>
              <a:t>YOUR STRUCTURE MUST BE  PURPOSE DESIGNED, DEFINED IN WORDS AND NUMBERS, INDEPENDANTLY VERIFIABLE AND VIABLE.</a:t>
            </a:r>
          </a:p>
        </p:txBody>
      </p:sp>
      <p:sp>
        <p:nvSpPr>
          <p:cNvPr id="13" name="TextBox 12"/>
          <p:cNvSpPr txBox="1"/>
          <p:nvPr/>
        </p:nvSpPr>
        <p:spPr>
          <a:xfrm>
            <a:off x="1733797" y="2516694"/>
            <a:ext cx="760006" cy="400110"/>
          </a:xfrm>
          <a:prstGeom prst="rect">
            <a:avLst/>
          </a:prstGeom>
          <a:noFill/>
        </p:spPr>
        <p:txBody>
          <a:bodyPr wrap="square" rtlCol="0">
            <a:spAutoFit/>
          </a:bodyPr>
          <a:lstStyle/>
          <a:p>
            <a:pPr algn="ctr"/>
            <a:r>
              <a:rPr lang="en-US" sz="2000" b="1" dirty="0"/>
              <a:t>+10</a:t>
            </a:r>
            <a:endParaRPr lang="en-US" sz="2800" b="1" dirty="0"/>
          </a:p>
        </p:txBody>
      </p:sp>
      <p:grpSp>
        <p:nvGrpSpPr>
          <p:cNvPr id="25" name="Group 24"/>
          <p:cNvGrpSpPr/>
          <p:nvPr/>
        </p:nvGrpSpPr>
        <p:grpSpPr>
          <a:xfrm>
            <a:off x="1995054" y="2778828"/>
            <a:ext cx="1615043" cy="1183390"/>
            <a:chOff x="2002600" y="2842675"/>
            <a:chExt cx="1714500" cy="1228725"/>
          </a:xfrm>
        </p:grpSpPr>
        <p:sp>
          <p:nvSpPr>
            <p:cNvPr id="20" name="Hexagon 19"/>
            <p:cNvSpPr/>
            <p:nvPr/>
          </p:nvSpPr>
          <p:spPr>
            <a:xfrm>
              <a:off x="2545525" y="2842675"/>
              <a:ext cx="628650" cy="581025"/>
            </a:xfrm>
            <a:prstGeom prst="hexagon">
              <a:avLst/>
            </a:prstGeom>
            <a:solidFill>
              <a:srgbClr val="00B050"/>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Hexagon 22"/>
            <p:cNvSpPr/>
            <p:nvPr/>
          </p:nvSpPr>
          <p:spPr>
            <a:xfrm>
              <a:off x="2002600" y="3176050"/>
              <a:ext cx="628650" cy="581025"/>
            </a:xfrm>
            <a:prstGeom prst="hexagon">
              <a:avLst/>
            </a:prstGeom>
            <a:solidFill>
              <a:schemeClr val="tx1"/>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Hexagon 26"/>
            <p:cNvSpPr/>
            <p:nvPr/>
          </p:nvSpPr>
          <p:spPr>
            <a:xfrm>
              <a:off x="3088450" y="3166525"/>
              <a:ext cx="628650" cy="581025"/>
            </a:xfrm>
            <a:prstGeom prst="hexagon">
              <a:avLst/>
            </a:prstGeom>
            <a:solidFill>
              <a:srgbClr val="FFFF00"/>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Hexagon 27"/>
            <p:cNvSpPr/>
            <p:nvPr/>
          </p:nvSpPr>
          <p:spPr>
            <a:xfrm>
              <a:off x="2545525" y="3490375"/>
              <a:ext cx="628650" cy="581025"/>
            </a:xfrm>
            <a:prstGeom prst="hexagon">
              <a:avLst/>
            </a:prstGeom>
            <a:solidFill>
              <a:srgbClr val="00B0F0"/>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7" name="Group 46"/>
          <p:cNvGrpSpPr/>
          <p:nvPr/>
        </p:nvGrpSpPr>
        <p:grpSpPr>
          <a:xfrm>
            <a:off x="3158836" y="2462665"/>
            <a:ext cx="558141" cy="482420"/>
            <a:chOff x="3158836" y="2628915"/>
            <a:chExt cx="558141" cy="482420"/>
          </a:xfrm>
        </p:grpSpPr>
        <p:sp>
          <p:nvSpPr>
            <p:cNvPr id="45" name="5-Point Star 44"/>
            <p:cNvSpPr/>
            <p:nvPr/>
          </p:nvSpPr>
          <p:spPr>
            <a:xfrm>
              <a:off x="3158836" y="2628915"/>
              <a:ext cx="558141" cy="482420"/>
            </a:xfrm>
            <a:prstGeom prst="star5">
              <a:avLst/>
            </a:prstGeom>
            <a:solidFill>
              <a:srgbClr val="FF0000"/>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dirty="0">
                <a:solidFill>
                  <a:schemeClr val="bg1"/>
                </a:solidFill>
              </a:endParaRPr>
            </a:p>
          </p:txBody>
        </p:sp>
        <p:sp>
          <p:nvSpPr>
            <p:cNvPr id="46" name="TextBox 45"/>
            <p:cNvSpPr txBox="1"/>
            <p:nvPr/>
          </p:nvSpPr>
          <p:spPr>
            <a:xfrm>
              <a:off x="3188961" y="2772142"/>
              <a:ext cx="494604" cy="261610"/>
            </a:xfrm>
            <a:prstGeom prst="rect">
              <a:avLst/>
            </a:prstGeom>
            <a:noFill/>
          </p:spPr>
          <p:txBody>
            <a:bodyPr wrap="square" rtlCol="0">
              <a:spAutoFit/>
            </a:bodyPr>
            <a:lstStyle/>
            <a:p>
              <a:pPr algn="ctr"/>
              <a:r>
                <a:rPr lang="en-US" sz="1100" b="1" dirty="0">
                  <a:solidFill>
                    <a:schemeClr val="bg1"/>
                  </a:solidFill>
                </a:rPr>
                <a:t>x10</a:t>
              </a:r>
              <a:endParaRPr lang="en-US" sz="1400" b="1" dirty="0">
                <a:solidFill>
                  <a:schemeClr val="bg1"/>
                </a:solidFill>
              </a:endParaRPr>
            </a:p>
          </p:txBody>
        </p:sp>
      </p:grpSp>
      <p:graphicFrame>
        <p:nvGraphicFramePr>
          <p:cNvPr id="48" name="Table 47"/>
          <p:cNvGraphicFramePr>
            <a:graphicFrameLocks noGrp="1"/>
          </p:cNvGraphicFramePr>
          <p:nvPr/>
        </p:nvGraphicFramePr>
        <p:xfrm>
          <a:off x="1983178" y="4041244"/>
          <a:ext cx="1710048" cy="1265609"/>
        </p:xfrm>
        <a:graphic>
          <a:graphicData uri="http://schemas.openxmlformats.org/drawingml/2006/table">
            <a:tbl>
              <a:tblPr firstRow="1" bandRow="1">
                <a:tableStyleId>{5C22544A-7EE6-4342-B048-85BDC9FD1C3A}</a:tableStyleId>
              </a:tblPr>
              <a:tblGrid>
                <a:gridCol w="570016">
                  <a:extLst>
                    <a:ext uri="{9D8B030D-6E8A-4147-A177-3AD203B41FA5}">
                      <a16:colId xmlns:a16="http://schemas.microsoft.com/office/drawing/2014/main" val="20000"/>
                    </a:ext>
                  </a:extLst>
                </a:gridCol>
                <a:gridCol w="570016">
                  <a:extLst>
                    <a:ext uri="{9D8B030D-6E8A-4147-A177-3AD203B41FA5}">
                      <a16:colId xmlns:a16="http://schemas.microsoft.com/office/drawing/2014/main" val="20001"/>
                    </a:ext>
                  </a:extLst>
                </a:gridCol>
                <a:gridCol w="570016">
                  <a:extLst>
                    <a:ext uri="{9D8B030D-6E8A-4147-A177-3AD203B41FA5}">
                      <a16:colId xmlns:a16="http://schemas.microsoft.com/office/drawing/2014/main" val="20002"/>
                    </a:ext>
                  </a:extLst>
                </a:gridCol>
              </a:tblGrid>
              <a:tr h="198809">
                <a:tc gridSpan="2">
                  <a:txBody>
                    <a:bodyPr/>
                    <a:lstStyle/>
                    <a:p>
                      <a:pPr algn="ctr"/>
                      <a:r>
                        <a:rPr lang="en-US" sz="600" b="1" dirty="0">
                          <a:solidFill>
                            <a:schemeClr val="tx1"/>
                          </a:solidFill>
                        </a:rPr>
                        <a:t>RISK WEIGHT PENALTY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600" b="1" dirty="0">
                          <a:solidFill>
                            <a:schemeClr val="tx1"/>
                          </a:solidFill>
                        </a:rPr>
                        <a:t>RISK SCORE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198809">
                <a:tc>
                  <a:txBody>
                    <a:bodyPr/>
                    <a:lstStyle/>
                    <a:p>
                      <a:pPr algn="ctr"/>
                      <a:r>
                        <a:rPr lang="en-US" sz="800" b="1" dirty="0">
                          <a:solidFill>
                            <a:schemeClr val="tx1"/>
                          </a:solidFill>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US" sz="800" b="1" dirty="0">
                          <a:solidFill>
                            <a:schemeClr val="tx1"/>
                          </a:solidFill>
                        </a:rPr>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US" sz="800" b="1"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10001"/>
                  </a:ext>
                </a:extLst>
              </a:tr>
              <a:tr h="198809">
                <a:tc>
                  <a:txBody>
                    <a:bodyPr/>
                    <a:lstStyle/>
                    <a:p>
                      <a:pPr algn="ctr"/>
                      <a:r>
                        <a:rPr lang="en-US" sz="800" b="1"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US" sz="800" b="1" dirty="0">
                          <a:solidFill>
                            <a:schemeClr val="tx1"/>
                          </a:solidFill>
                        </a:rPr>
                        <a:t>-40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US" sz="800" b="1"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10002"/>
                  </a:ext>
                </a:extLst>
              </a:tr>
              <a:tr h="198809">
                <a:tc>
                  <a:txBody>
                    <a:bodyPr/>
                    <a:lstStyle/>
                    <a:p>
                      <a:pPr algn="ctr"/>
                      <a:r>
                        <a:rPr lang="en-US" sz="800" b="1"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sz="800" b="1" dirty="0">
                          <a:solidFill>
                            <a:schemeClr val="tx1"/>
                          </a:solidFill>
                        </a:rPr>
                        <a:t>-30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sz="800" b="1"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3"/>
                  </a:ext>
                </a:extLst>
              </a:tr>
              <a:tr h="198809">
                <a:tc>
                  <a:txBody>
                    <a:bodyPr/>
                    <a:lstStyle/>
                    <a:p>
                      <a:pPr algn="ctr"/>
                      <a:r>
                        <a:rPr lang="en-US" sz="800" b="1"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sz="800" b="1" dirty="0">
                          <a:solidFill>
                            <a:schemeClr val="tx1"/>
                          </a:solidFill>
                        </a:rPr>
                        <a:t>-20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sz="800" b="1"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4"/>
                  </a:ext>
                </a:extLst>
              </a:tr>
              <a:tr h="198809">
                <a:tc>
                  <a:txBody>
                    <a:bodyPr/>
                    <a:lstStyle/>
                    <a:p>
                      <a:pPr algn="ctr"/>
                      <a:r>
                        <a:rPr lang="en-US" sz="800" b="1"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800" b="1"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800" b="1"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005"/>
                  </a:ext>
                </a:extLst>
              </a:tr>
            </a:tbl>
          </a:graphicData>
        </a:graphic>
      </p:graphicFrame>
      <p:grpSp>
        <p:nvGrpSpPr>
          <p:cNvPr id="26" name="Group 25">
            <a:extLst>
              <a:ext uri="{FF2B5EF4-FFF2-40B4-BE49-F238E27FC236}">
                <a16:creationId xmlns:a16="http://schemas.microsoft.com/office/drawing/2014/main" id="{B0CB2F1C-BC03-4B15-8DD3-4FA4AA663C27}"/>
              </a:ext>
            </a:extLst>
          </p:cNvPr>
          <p:cNvGrpSpPr/>
          <p:nvPr/>
        </p:nvGrpSpPr>
        <p:grpSpPr>
          <a:xfrm>
            <a:off x="1520043" y="5322506"/>
            <a:ext cx="2715171" cy="656440"/>
            <a:chOff x="1520043" y="5269347"/>
            <a:chExt cx="2715171" cy="656440"/>
          </a:xfrm>
        </p:grpSpPr>
        <p:grpSp>
          <p:nvGrpSpPr>
            <p:cNvPr id="29" name="Group 28">
              <a:extLst>
                <a:ext uri="{FF2B5EF4-FFF2-40B4-BE49-F238E27FC236}">
                  <a16:creationId xmlns:a16="http://schemas.microsoft.com/office/drawing/2014/main" id="{550389AF-F887-44D4-9E9F-2270D22C1F95}"/>
                </a:ext>
              </a:extLst>
            </p:cNvPr>
            <p:cNvGrpSpPr/>
            <p:nvPr/>
          </p:nvGrpSpPr>
          <p:grpSpPr>
            <a:xfrm>
              <a:off x="1888174" y="5520047"/>
              <a:ext cx="1971316" cy="405740"/>
              <a:chOff x="1888174" y="5520047"/>
              <a:chExt cx="1971316" cy="405740"/>
            </a:xfrm>
          </p:grpSpPr>
          <p:sp>
            <p:nvSpPr>
              <p:cNvPr id="31" name="Oval 30">
                <a:extLst>
                  <a:ext uri="{FF2B5EF4-FFF2-40B4-BE49-F238E27FC236}">
                    <a16:creationId xmlns:a16="http://schemas.microsoft.com/office/drawing/2014/main" id="{3EA0B0AE-3AEB-40DC-B895-18446005AE5B}"/>
                  </a:ext>
                </a:extLst>
              </p:cNvPr>
              <p:cNvSpPr/>
              <p:nvPr/>
            </p:nvSpPr>
            <p:spPr>
              <a:xfrm>
                <a:off x="1888174" y="5617028"/>
                <a:ext cx="285008" cy="308759"/>
              </a:xfrm>
              <a:prstGeom prst="ellipse">
                <a:avLst/>
              </a:prstGeom>
              <a:solidFill>
                <a:srgbClr val="00B050"/>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E3549A18-8DC2-41AD-83A2-03809F56FE98}"/>
                  </a:ext>
                </a:extLst>
              </p:cNvPr>
              <p:cNvSpPr/>
              <p:nvPr/>
            </p:nvSpPr>
            <p:spPr>
              <a:xfrm>
                <a:off x="2040572" y="5520047"/>
                <a:ext cx="285008" cy="308759"/>
              </a:xfrm>
              <a:prstGeom prst="ellipse">
                <a:avLst/>
              </a:prstGeom>
              <a:solidFill>
                <a:srgbClr val="7030A0"/>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F2A97339-2798-4EF0-B2BA-BF6E03C4BDAC}"/>
                  </a:ext>
                </a:extLst>
              </p:cNvPr>
              <p:cNvSpPr/>
              <p:nvPr/>
            </p:nvSpPr>
            <p:spPr>
              <a:xfrm>
                <a:off x="2157350" y="5613069"/>
                <a:ext cx="285008" cy="308759"/>
              </a:xfrm>
              <a:prstGeom prst="ellipse">
                <a:avLst/>
              </a:prstGeom>
              <a:solidFill>
                <a:srgbClr val="00B050"/>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Equal 30">
                <a:extLst>
                  <a:ext uri="{FF2B5EF4-FFF2-40B4-BE49-F238E27FC236}">
                    <a16:creationId xmlns:a16="http://schemas.microsoft.com/office/drawing/2014/main" id="{9C44BFF5-4863-4B96-8C17-69E515E7C127}"/>
                  </a:ext>
                </a:extLst>
              </p:cNvPr>
              <p:cNvSpPr/>
              <p:nvPr/>
            </p:nvSpPr>
            <p:spPr>
              <a:xfrm>
                <a:off x="2493815" y="5617027"/>
                <a:ext cx="320636" cy="237507"/>
              </a:xfrm>
              <a:prstGeom prst="mathEqual">
                <a:avLst/>
              </a:prstGeom>
              <a:solidFill>
                <a:schemeClr val="tx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2" name="TextBox 41">
                <a:extLst>
                  <a:ext uri="{FF2B5EF4-FFF2-40B4-BE49-F238E27FC236}">
                    <a16:creationId xmlns:a16="http://schemas.microsoft.com/office/drawing/2014/main" id="{CA9B166B-8812-469A-9652-82375092D316}"/>
                  </a:ext>
                </a:extLst>
              </p:cNvPr>
              <p:cNvSpPr txBox="1"/>
              <p:nvPr/>
            </p:nvSpPr>
            <p:spPr>
              <a:xfrm>
                <a:off x="2600711" y="5572188"/>
                <a:ext cx="1258779" cy="338554"/>
              </a:xfrm>
              <a:prstGeom prst="rect">
                <a:avLst/>
              </a:prstGeom>
              <a:noFill/>
            </p:spPr>
            <p:txBody>
              <a:bodyPr wrap="square" rtlCol="0">
                <a:spAutoFit/>
              </a:bodyPr>
              <a:lstStyle/>
              <a:p>
                <a:pPr algn="ctr"/>
                <a:r>
                  <a:rPr lang="en-US" sz="1600" b="1" dirty="0"/>
                  <a:t>x3 and x6</a:t>
                </a:r>
              </a:p>
            </p:txBody>
          </p:sp>
        </p:grpSp>
        <p:sp>
          <p:nvSpPr>
            <p:cNvPr id="30" name="TextBox 29">
              <a:extLst>
                <a:ext uri="{FF2B5EF4-FFF2-40B4-BE49-F238E27FC236}">
                  <a16:creationId xmlns:a16="http://schemas.microsoft.com/office/drawing/2014/main" id="{C20029EC-356F-4039-8DA7-06F344E87A0E}"/>
                </a:ext>
              </a:extLst>
            </p:cNvPr>
            <p:cNvSpPr txBox="1"/>
            <p:nvPr/>
          </p:nvSpPr>
          <p:spPr>
            <a:xfrm>
              <a:off x="1520043" y="5269347"/>
              <a:ext cx="2715171" cy="246221"/>
            </a:xfrm>
            <a:prstGeom prst="rect">
              <a:avLst/>
            </a:prstGeom>
            <a:noFill/>
          </p:spPr>
          <p:txBody>
            <a:bodyPr wrap="square" rtlCol="0">
              <a:spAutoFit/>
            </a:bodyPr>
            <a:lstStyle/>
            <a:p>
              <a:pPr algn="ctr"/>
              <a:r>
                <a:rPr lang="en-US" sz="1000" b="1" dirty="0"/>
                <a:t>KEY: A FULLY UNLOCKED DECK  </a:t>
              </a:r>
            </a:p>
          </p:txBody>
        </p:sp>
      </p:grpSp>
      <p:graphicFrame>
        <p:nvGraphicFramePr>
          <p:cNvPr id="40" name="Table 6">
            <a:extLst>
              <a:ext uri="{FF2B5EF4-FFF2-40B4-BE49-F238E27FC236}">
                <a16:creationId xmlns:a16="http://schemas.microsoft.com/office/drawing/2014/main" id="{3B16E52B-F280-4174-A13F-4F32DA8044EE}"/>
              </a:ext>
            </a:extLst>
          </p:cNvPr>
          <p:cNvGraphicFramePr>
            <a:graphicFrameLocks noGrp="1"/>
          </p:cNvGraphicFramePr>
          <p:nvPr/>
        </p:nvGraphicFramePr>
        <p:xfrm>
          <a:off x="4830969" y="719665"/>
          <a:ext cx="5737719" cy="2651760"/>
        </p:xfrm>
        <a:graphic>
          <a:graphicData uri="http://schemas.openxmlformats.org/drawingml/2006/table">
            <a:tbl>
              <a:tblPr firstRow="1" bandRow="1">
                <a:tableStyleId>{5940675A-B579-460E-94D1-54222C63F5DA}</a:tableStyleId>
              </a:tblPr>
              <a:tblGrid>
                <a:gridCol w="5737719">
                  <a:extLst>
                    <a:ext uri="{9D8B030D-6E8A-4147-A177-3AD203B41FA5}">
                      <a16:colId xmlns:a16="http://schemas.microsoft.com/office/drawing/2014/main" val="3887999668"/>
                    </a:ext>
                  </a:extLst>
                </a:gridCol>
              </a:tblGrid>
              <a:tr h="483493">
                <a:tc>
                  <a:txBody>
                    <a:bodyPr/>
                    <a:lstStyle/>
                    <a:p>
                      <a:pPr algn="ctr"/>
                      <a:r>
                        <a:rPr lang="en-US" sz="3600" b="1" dirty="0"/>
                        <a:t>COMPLIENCE</a:t>
                      </a:r>
                    </a:p>
                    <a:p>
                      <a:pPr algn="ctr"/>
                      <a:r>
                        <a:rPr lang="en-US" sz="3600" b="1" dirty="0"/>
                        <a:t>JOB FUNCTIONS</a:t>
                      </a:r>
                    </a:p>
                  </a:txBody>
                  <a:tcPr/>
                </a:tc>
                <a:extLst>
                  <a:ext uri="{0D108BD9-81ED-4DB2-BD59-A6C34878D82A}">
                    <a16:rowId xmlns:a16="http://schemas.microsoft.com/office/drawing/2014/main" val="1324454018"/>
                  </a:ext>
                </a:extLst>
              </a:tr>
              <a:tr h="1246241">
                <a:tc>
                  <a:txBody>
                    <a:bodyPr/>
                    <a:lstStyle/>
                    <a:p>
                      <a:pPr algn="ctr"/>
                      <a:endParaRPr lang="en-US" sz="1800" b="1" dirty="0"/>
                    </a:p>
                    <a:p>
                      <a:pPr algn="ctr"/>
                      <a:r>
                        <a:rPr lang="en-US" sz="2400" b="1" dirty="0"/>
                        <a:t>SKILL/CAREER- REGULATORY COMPLIANCE, AUDIT &amp; CONTROL, THE BOARD.</a:t>
                      </a:r>
                    </a:p>
                    <a:p>
                      <a:pPr algn="ctr"/>
                      <a:endParaRPr lang="en-US" sz="2400" b="1" dirty="0"/>
                    </a:p>
                  </a:txBody>
                  <a:tcPr/>
                </a:tc>
                <a:extLst>
                  <a:ext uri="{0D108BD9-81ED-4DB2-BD59-A6C34878D82A}">
                    <a16:rowId xmlns:a16="http://schemas.microsoft.com/office/drawing/2014/main" val="682039194"/>
                  </a:ext>
                </a:extLst>
              </a:tr>
            </a:tbl>
          </a:graphicData>
        </a:graphic>
      </p:graphicFrame>
      <p:graphicFrame>
        <p:nvGraphicFramePr>
          <p:cNvPr id="33" name="Table 7">
            <a:extLst>
              <a:ext uri="{FF2B5EF4-FFF2-40B4-BE49-F238E27FC236}">
                <a16:creationId xmlns:a16="http://schemas.microsoft.com/office/drawing/2014/main" id="{5112BFB3-0008-47B7-991A-006B15AEEF46}"/>
              </a:ext>
            </a:extLst>
          </p:cNvPr>
          <p:cNvGraphicFramePr>
            <a:graphicFrameLocks noGrp="1"/>
          </p:cNvGraphicFramePr>
          <p:nvPr/>
        </p:nvGraphicFramePr>
        <p:xfrm>
          <a:off x="4736636" y="4946020"/>
          <a:ext cx="5926384" cy="731520"/>
        </p:xfrm>
        <a:graphic>
          <a:graphicData uri="http://schemas.openxmlformats.org/drawingml/2006/table">
            <a:tbl>
              <a:tblPr firstRow="1" bandRow="1">
                <a:tableStyleId>{5C22544A-7EE6-4342-B048-85BDC9FD1C3A}</a:tableStyleId>
              </a:tblPr>
              <a:tblGrid>
                <a:gridCol w="2963192">
                  <a:extLst>
                    <a:ext uri="{9D8B030D-6E8A-4147-A177-3AD203B41FA5}">
                      <a16:colId xmlns:a16="http://schemas.microsoft.com/office/drawing/2014/main" val="1028654853"/>
                    </a:ext>
                  </a:extLst>
                </a:gridCol>
                <a:gridCol w="2963192">
                  <a:extLst>
                    <a:ext uri="{9D8B030D-6E8A-4147-A177-3AD203B41FA5}">
                      <a16:colId xmlns:a16="http://schemas.microsoft.com/office/drawing/2014/main" val="2159636558"/>
                    </a:ext>
                  </a:extLst>
                </a:gridCol>
              </a:tblGrid>
              <a:tr h="370840">
                <a:tc>
                  <a:txBody>
                    <a:bodyPr/>
                    <a:lstStyle/>
                    <a:p>
                      <a:pPr algn="ctr"/>
                      <a:r>
                        <a:rPr lang="en-US" dirty="0">
                          <a:solidFill>
                            <a:srgbClr val="C00000"/>
                          </a:solidFill>
                        </a:rPr>
                        <a:t>INSIGHT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400" dirty="0">
                          <a:solidFill>
                            <a:srgbClr val="C00000"/>
                          </a:solidFill>
                        </a:rPr>
                        <a:t>AN OVERSIGHT FUNCTION BACKED BY LAW (CORPORATE AND GOVERNMENTAL)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823397659"/>
                  </a:ext>
                </a:extLst>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1306286" y="769258"/>
            <a:ext cx="3207657" cy="5312228"/>
            <a:chOff x="1306286" y="769258"/>
            <a:chExt cx="3207657" cy="5312228"/>
          </a:xfrm>
        </p:grpSpPr>
        <p:sp>
          <p:nvSpPr>
            <p:cNvPr id="2" name="Rounded Rectangle 1"/>
            <p:cNvSpPr/>
            <p:nvPr/>
          </p:nvSpPr>
          <p:spPr>
            <a:xfrm>
              <a:off x="1306286" y="783771"/>
              <a:ext cx="3207657" cy="5297715"/>
            </a:xfrm>
            <a:prstGeom prst="roundRect">
              <a:avLst/>
            </a:prstGeom>
            <a:solidFill>
              <a:schemeClr val="bg1"/>
            </a:solidFill>
            <a:ln w="76200">
              <a:solidFill>
                <a:schemeClr val="bg1">
                  <a:lumMod val="6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 Same Side Corner Rectangle 2"/>
            <p:cNvSpPr/>
            <p:nvPr/>
          </p:nvSpPr>
          <p:spPr>
            <a:xfrm>
              <a:off x="1306286" y="769258"/>
              <a:ext cx="3207657" cy="1146626"/>
            </a:xfrm>
            <a:prstGeom prst="round2SameRect">
              <a:avLst/>
            </a:prstGeom>
            <a:solidFill>
              <a:srgbClr val="92D050"/>
            </a:solidFill>
            <a:ln w="762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R BONNIE" pitchFamily="2" charset="0"/>
                </a:rPr>
                <a:t>PRODUCTS</a:t>
              </a:r>
            </a:p>
          </p:txBody>
        </p:sp>
      </p:grpSp>
      <p:sp>
        <p:nvSpPr>
          <p:cNvPr id="12" name="TextBox 11"/>
          <p:cNvSpPr txBox="1"/>
          <p:nvPr/>
        </p:nvSpPr>
        <p:spPr>
          <a:xfrm>
            <a:off x="1341912" y="1981470"/>
            <a:ext cx="3123210" cy="369332"/>
          </a:xfrm>
          <a:prstGeom prst="rect">
            <a:avLst/>
          </a:prstGeom>
          <a:noFill/>
        </p:spPr>
        <p:txBody>
          <a:bodyPr wrap="square" rtlCol="0">
            <a:spAutoFit/>
          </a:bodyPr>
          <a:lstStyle/>
          <a:p>
            <a:pPr algn="ctr"/>
            <a:r>
              <a:rPr lang="en-US" sz="800" b="1" dirty="0"/>
              <a:t>WHAT ARE YOUR PRODUCTS?</a:t>
            </a:r>
          </a:p>
          <a:p>
            <a:pPr algn="ctr"/>
            <a:r>
              <a:rPr lang="en-US" sz="800" b="1" dirty="0"/>
              <a:t>MARKET ACCEPTANCE</a:t>
            </a:r>
            <a:r>
              <a:rPr lang="en-US" sz="1000" b="1" dirty="0"/>
              <a:t> I </a:t>
            </a:r>
            <a:r>
              <a:rPr lang="en-US" sz="800" b="1" dirty="0"/>
              <a:t>TRADEMARK </a:t>
            </a:r>
            <a:r>
              <a:rPr lang="en-US" sz="1000" b="1" dirty="0"/>
              <a:t>I </a:t>
            </a:r>
            <a:r>
              <a:rPr lang="en-US" sz="800" b="1" dirty="0"/>
              <a:t>STANDARDIZED PROCESS</a:t>
            </a:r>
          </a:p>
        </p:txBody>
      </p:sp>
      <p:sp>
        <p:nvSpPr>
          <p:cNvPr id="21" name="TextBox 20"/>
          <p:cNvSpPr txBox="1"/>
          <p:nvPr/>
        </p:nvSpPr>
        <p:spPr>
          <a:xfrm>
            <a:off x="1733797" y="2367835"/>
            <a:ext cx="760006" cy="400110"/>
          </a:xfrm>
          <a:prstGeom prst="rect">
            <a:avLst/>
          </a:prstGeom>
          <a:noFill/>
        </p:spPr>
        <p:txBody>
          <a:bodyPr wrap="square" rtlCol="0">
            <a:spAutoFit/>
          </a:bodyPr>
          <a:lstStyle/>
          <a:p>
            <a:pPr algn="ctr"/>
            <a:r>
              <a:rPr lang="en-US" sz="2000" b="1" dirty="0"/>
              <a:t>+10</a:t>
            </a:r>
            <a:endParaRPr lang="en-US" sz="2800" b="1" dirty="0"/>
          </a:p>
        </p:txBody>
      </p:sp>
      <p:sp>
        <p:nvSpPr>
          <p:cNvPr id="26" name="Hexagon 25"/>
          <p:cNvSpPr/>
          <p:nvPr/>
        </p:nvSpPr>
        <p:spPr>
          <a:xfrm>
            <a:off x="1983178" y="2762360"/>
            <a:ext cx="592183" cy="559588"/>
          </a:xfrm>
          <a:prstGeom prst="hexagon">
            <a:avLst/>
          </a:prstGeom>
          <a:solidFill>
            <a:schemeClr val="tx1"/>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Hexagon 35"/>
          <p:cNvSpPr/>
          <p:nvPr/>
        </p:nvSpPr>
        <p:spPr>
          <a:xfrm>
            <a:off x="2506485" y="3073020"/>
            <a:ext cx="592183" cy="559588"/>
          </a:xfrm>
          <a:prstGeom prst="hexagon">
            <a:avLst/>
          </a:prstGeom>
          <a:solidFill>
            <a:srgbClr val="00B0F0"/>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0" name="Table 39"/>
          <p:cNvGraphicFramePr>
            <a:graphicFrameLocks noGrp="1"/>
          </p:cNvGraphicFramePr>
          <p:nvPr/>
        </p:nvGraphicFramePr>
        <p:xfrm>
          <a:off x="1983178" y="3711633"/>
          <a:ext cx="1710048" cy="1265609"/>
        </p:xfrm>
        <a:graphic>
          <a:graphicData uri="http://schemas.openxmlformats.org/drawingml/2006/table">
            <a:tbl>
              <a:tblPr firstRow="1" bandRow="1">
                <a:tableStyleId>{5C22544A-7EE6-4342-B048-85BDC9FD1C3A}</a:tableStyleId>
              </a:tblPr>
              <a:tblGrid>
                <a:gridCol w="570016">
                  <a:extLst>
                    <a:ext uri="{9D8B030D-6E8A-4147-A177-3AD203B41FA5}">
                      <a16:colId xmlns:a16="http://schemas.microsoft.com/office/drawing/2014/main" val="20000"/>
                    </a:ext>
                  </a:extLst>
                </a:gridCol>
                <a:gridCol w="570016">
                  <a:extLst>
                    <a:ext uri="{9D8B030D-6E8A-4147-A177-3AD203B41FA5}">
                      <a16:colId xmlns:a16="http://schemas.microsoft.com/office/drawing/2014/main" val="20001"/>
                    </a:ext>
                  </a:extLst>
                </a:gridCol>
                <a:gridCol w="570016">
                  <a:extLst>
                    <a:ext uri="{9D8B030D-6E8A-4147-A177-3AD203B41FA5}">
                      <a16:colId xmlns:a16="http://schemas.microsoft.com/office/drawing/2014/main" val="20002"/>
                    </a:ext>
                  </a:extLst>
                </a:gridCol>
              </a:tblGrid>
              <a:tr h="198809">
                <a:tc gridSpan="2">
                  <a:txBody>
                    <a:bodyPr/>
                    <a:lstStyle/>
                    <a:p>
                      <a:pPr algn="ctr"/>
                      <a:r>
                        <a:rPr lang="en-US" sz="600" b="1" dirty="0">
                          <a:solidFill>
                            <a:schemeClr val="tx1"/>
                          </a:solidFill>
                        </a:rPr>
                        <a:t>RISK WEIGHT PENALTY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600" b="1" dirty="0">
                          <a:solidFill>
                            <a:schemeClr val="tx1"/>
                          </a:solidFill>
                        </a:rPr>
                        <a:t>RISK SCORE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198809">
                <a:tc>
                  <a:txBody>
                    <a:bodyPr/>
                    <a:lstStyle/>
                    <a:p>
                      <a:pPr algn="ctr"/>
                      <a:r>
                        <a:rPr lang="en-US" sz="800" b="1" dirty="0">
                          <a:solidFill>
                            <a:schemeClr val="tx1"/>
                          </a:solidFill>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US" sz="800" b="1" dirty="0">
                          <a:solidFill>
                            <a:schemeClr val="tx1"/>
                          </a:solidFill>
                        </a:rPr>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US" sz="800" b="1"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10001"/>
                  </a:ext>
                </a:extLst>
              </a:tr>
              <a:tr h="198809">
                <a:tc>
                  <a:txBody>
                    <a:bodyPr/>
                    <a:lstStyle/>
                    <a:p>
                      <a:pPr algn="ctr"/>
                      <a:r>
                        <a:rPr lang="en-US" sz="800" b="1"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US" sz="800" b="1" dirty="0">
                          <a:solidFill>
                            <a:schemeClr val="tx1"/>
                          </a:solidFill>
                        </a:rPr>
                        <a:t>-40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US" sz="800" b="1"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10002"/>
                  </a:ext>
                </a:extLst>
              </a:tr>
              <a:tr h="198809">
                <a:tc>
                  <a:txBody>
                    <a:bodyPr/>
                    <a:lstStyle/>
                    <a:p>
                      <a:pPr algn="ctr"/>
                      <a:r>
                        <a:rPr lang="en-US" sz="800" b="1"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sz="800" b="1" dirty="0">
                          <a:solidFill>
                            <a:schemeClr val="tx1"/>
                          </a:solidFill>
                        </a:rPr>
                        <a:t>-30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sz="800" b="1"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3"/>
                  </a:ext>
                </a:extLst>
              </a:tr>
              <a:tr h="198809">
                <a:tc>
                  <a:txBody>
                    <a:bodyPr/>
                    <a:lstStyle/>
                    <a:p>
                      <a:pPr algn="ctr"/>
                      <a:r>
                        <a:rPr lang="en-US" sz="800" b="1"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sz="800" b="1" dirty="0">
                          <a:solidFill>
                            <a:schemeClr val="tx1"/>
                          </a:solidFill>
                        </a:rPr>
                        <a:t>-20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sz="800" b="1"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4"/>
                  </a:ext>
                </a:extLst>
              </a:tr>
              <a:tr h="198809">
                <a:tc>
                  <a:txBody>
                    <a:bodyPr/>
                    <a:lstStyle/>
                    <a:p>
                      <a:pPr algn="ctr"/>
                      <a:r>
                        <a:rPr lang="en-US" sz="800" b="1"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800" b="1"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800" b="1"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005"/>
                  </a:ext>
                </a:extLst>
              </a:tr>
            </a:tbl>
          </a:graphicData>
        </a:graphic>
      </p:graphicFrame>
      <p:grpSp>
        <p:nvGrpSpPr>
          <p:cNvPr id="20" name="Group 19">
            <a:extLst>
              <a:ext uri="{FF2B5EF4-FFF2-40B4-BE49-F238E27FC236}">
                <a16:creationId xmlns:a16="http://schemas.microsoft.com/office/drawing/2014/main" id="{26110C22-9F13-4927-84BD-E4DD81A3173D}"/>
              </a:ext>
            </a:extLst>
          </p:cNvPr>
          <p:cNvGrpSpPr/>
          <p:nvPr/>
        </p:nvGrpSpPr>
        <p:grpSpPr>
          <a:xfrm>
            <a:off x="2234317" y="5139821"/>
            <a:ext cx="2040798" cy="812102"/>
            <a:chOff x="2234317" y="5129188"/>
            <a:chExt cx="2040798" cy="812102"/>
          </a:xfrm>
        </p:grpSpPr>
        <p:sp>
          <p:nvSpPr>
            <p:cNvPr id="22" name="TextBox 21">
              <a:extLst>
                <a:ext uri="{FF2B5EF4-FFF2-40B4-BE49-F238E27FC236}">
                  <a16:creationId xmlns:a16="http://schemas.microsoft.com/office/drawing/2014/main" id="{0CC8E145-9522-4E8A-8079-F449A7D8BB82}"/>
                </a:ext>
              </a:extLst>
            </p:cNvPr>
            <p:cNvSpPr txBox="1"/>
            <p:nvPr/>
          </p:nvSpPr>
          <p:spPr>
            <a:xfrm>
              <a:off x="2234317" y="5129188"/>
              <a:ext cx="1905897" cy="246221"/>
            </a:xfrm>
            <a:prstGeom prst="rect">
              <a:avLst/>
            </a:prstGeom>
            <a:noFill/>
          </p:spPr>
          <p:txBody>
            <a:bodyPr wrap="square" rtlCol="0">
              <a:spAutoFit/>
            </a:bodyPr>
            <a:lstStyle/>
            <a:p>
              <a:pPr algn="ctr"/>
              <a:r>
                <a:rPr lang="en-US" sz="1000" b="1" dirty="0"/>
                <a:t>KEY:  </a:t>
              </a:r>
            </a:p>
          </p:txBody>
        </p:sp>
        <p:grpSp>
          <p:nvGrpSpPr>
            <p:cNvPr id="23" name="Group 22">
              <a:extLst>
                <a:ext uri="{FF2B5EF4-FFF2-40B4-BE49-F238E27FC236}">
                  <a16:creationId xmlns:a16="http://schemas.microsoft.com/office/drawing/2014/main" id="{2584E0DF-2028-417D-A4C4-A33A653A4AA6}"/>
                </a:ext>
              </a:extLst>
            </p:cNvPr>
            <p:cNvGrpSpPr/>
            <p:nvPr/>
          </p:nvGrpSpPr>
          <p:grpSpPr>
            <a:xfrm>
              <a:off x="3384468" y="5148227"/>
              <a:ext cx="486889" cy="317499"/>
              <a:chOff x="2002600" y="3740334"/>
              <a:chExt cx="1714500" cy="904871"/>
            </a:xfrm>
            <a:effectLst>
              <a:outerShdw blurRad="50800" dist="38100" dir="2700000" algn="tl" rotWithShape="0">
                <a:prstClr val="black">
                  <a:alpha val="40000"/>
                </a:prstClr>
              </a:outerShdw>
            </a:effectLst>
          </p:grpSpPr>
          <p:sp>
            <p:nvSpPr>
              <p:cNvPr id="39" name="Hexagon 38">
                <a:extLst>
                  <a:ext uri="{FF2B5EF4-FFF2-40B4-BE49-F238E27FC236}">
                    <a16:creationId xmlns:a16="http://schemas.microsoft.com/office/drawing/2014/main" id="{97A8A8BC-7C4B-459B-A498-314AB16E5D39}"/>
                  </a:ext>
                </a:extLst>
              </p:cNvPr>
              <p:cNvSpPr/>
              <p:nvPr/>
            </p:nvSpPr>
            <p:spPr>
              <a:xfrm>
                <a:off x="2002600" y="3749853"/>
                <a:ext cx="628650" cy="581025"/>
              </a:xfrm>
              <a:prstGeom prst="hexagon">
                <a:avLst/>
              </a:prstGeom>
              <a:solidFill>
                <a:schemeClr val="tx1"/>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Hexagon 40">
                <a:extLst>
                  <a:ext uri="{FF2B5EF4-FFF2-40B4-BE49-F238E27FC236}">
                    <a16:creationId xmlns:a16="http://schemas.microsoft.com/office/drawing/2014/main" id="{DF469DD9-3AB1-4437-89A0-9B1C492EC973}"/>
                  </a:ext>
                </a:extLst>
              </p:cNvPr>
              <p:cNvSpPr/>
              <p:nvPr/>
            </p:nvSpPr>
            <p:spPr>
              <a:xfrm>
                <a:off x="3088450" y="3740334"/>
                <a:ext cx="628650" cy="581026"/>
              </a:xfrm>
              <a:prstGeom prst="hexagon">
                <a:avLst/>
              </a:prstGeom>
              <a:solidFill>
                <a:srgbClr val="FFFF00"/>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Hexagon 41">
                <a:extLst>
                  <a:ext uri="{FF2B5EF4-FFF2-40B4-BE49-F238E27FC236}">
                    <a16:creationId xmlns:a16="http://schemas.microsoft.com/office/drawing/2014/main" id="{A193284F-8A63-4425-B5FD-E7D3C42C6579}"/>
                  </a:ext>
                </a:extLst>
              </p:cNvPr>
              <p:cNvSpPr/>
              <p:nvPr/>
            </p:nvSpPr>
            <p:spPr>
              <a:xfrm>
                <a:off x="2545527" y="4064179"/>
                <a:ext cx="628650" cy="581026"/>
              </a:xfrm>
              <a:prstGeom prst="hexagon">
                <a:avLst/>
              </a:prstGeom>
              <a:solidFill>
                <a:srgbClr val="00B0F0"/>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5" name="Group 24">
              <a:extLst>
                <a:ext uri="{FF2B5EF4-FFF2-40B4-BE49-F238E27FC236}">
                  <a16:creationId xmlns:a16="http://schemas.microsoft.com/office/drawing/2014/main" id="{3E0A787E-E78A-4C8B-BB77-6E1E66A01D2A}"/>
                </a:ext>
              </a:extLst>
            </p:cNvPr>
            <p:cNvGrpSpPr/>
            <p:nvPr/>
          </p:nvGrpSpPr>
          <p:grpSpPr>
            <a:xfrm>
              <a:off x="2303799" y="5535550"/>
              <a:ext cx="1971316" cy="405740"/>
              <a:chOff x="1888174" y="5520047"/>
              <a:chExt cx="1971316" cy="405740"/>
            </a:xfrm>
          </p:grpSpPr>
          <p:sp>
            <p:nvSpPr>
              <p:cNvPr id="27" name="Oval 26">
                <a:extLst>
                  <a:ext uri="{FF2B5EF4-FFF2-40B4-BE49-F238E27FC236}">
                    <a16:creationId xmlns:a16="http://schemas.microsoft.com/office/drawing/2014/main" id="{0D571740-A248-432D-89AB-ED5509370A73}"/>
                  </a:ext>
                </a:extLst>
              </p:cNvPr>
              <p:cNvSpPr/>
              <p:nvPr/>
            </p:nvSpPr>
            <p:spPr>
              <a:xfrm>
                <a:off x="1888174" y="5617028"/>
                <a:ext cx="285008" cy="308759"/>
              </a:xfrm>
              <a:prstGeom prst="ellipse">
                <a:avLst/>
              </a:prstGeom>
              <a:solidFill>
                <a:srgbClr val="00B050"/>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8615457-97A0-408F-A486-902C376EC39A}"/>
                  </a:ext>
                </a:extLst>
              </p:cNvPr>
              <p:cNvSpPr/>
              <p:nvPr/>
            </p:nvSpPr>
            <p:spPr>
              <a:xfrm>
                <a:off x="2040572" y="5520047"/>
                <a:ext cx="285008" cy="308759"/>
              </a:xfrm>
              <a:prstGeom prst="ellipse">
                <a:avLst/>
              </a:prstGeom>
              <a:solidFill>
                <a:srgbClr val="7030A0"/>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DA49EC8D-5643-4E9A-9A02-62665A035D64}"/>
                  </a:ext>
                </a:extLst>
              </p:cNvPr>
              <p:cNvSpPr/>
              <p:nvPr/>
            </p:nvSpPr>
            <p:spPr>
              <a:xfrm>
                <a:off x="2157350" y="5613069"/>
                <a:ext cx="285008" cy="308759"/>
              </a:xfrm>
              <a:prstGeom prst="ellipse">
                <a:avLst/>
              </a:prstGeom>
              <a:solidFill>
                <a:srgbClr val="00B050"/>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Equal 49">
                <a:extLst>
                  <a:ext uri="{FF2B5EF4-FFF2-40B4-BE49-F238E27FC236}">
                    <a16:creationId xmlns:a16="http://schemas.microsoft.com/office/drawing/2014/main" id="{9378C3C2-38F5-4DD8-B52C-7130926E1419}"/>
                  </a:ext>
                </a:extLst>
              </p:cNvPr>
              <p:cNvSpPr/>
              <p:nvPr/>
            </p:nvSpPr>
            <p:spPr>
              <a:xfrm>
                <a:off x="2493815" y="5617027"/>
                <a:ext cx="320636" cy="237507"/>
              </a:xfrm>
              <a:prstGeom prst="mathEqual">
                <a:avLst/>
              </a:prstGeom>
              <a:solidFill>
                <a:schemeClr val="tx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8" name="TextBox 37">
                <a:extLst>
                  <a:ext uri="{FF2B5EF4-FFF2-40B4-BE49-F238E27FC236}">
                    <a16:creationId xmlns:a16="http://schemas.microsoft.com/office/drawing/2014/main" id="{E72E39B8-4E7E-4DB0-94E2-64D5C519719A}"/>
                  </a:ext>
                </a:extLst>
              </p:cNvPr>
              <p:cNvSpPr txBox="1"/>
              <p:nvPr/>
            </p:nvSpPr>
            <p:spPr>
              <a:xfrm>
                <a:off x="2826327" y="5572188"/>
                <a:ext cx="1033163" cy="338554"/>
              </a:xfrm>
              <a:prstGeom prst="rect">
                <a:avLst/>
              </a:prstGeom>
              <a:noFill/>
            </p:spPr>
            <p:txBody>
              <a:bodyPr wrap="square" rtlCol="0">
                <a:spAutoFit/>
              </a:bodyPr>
              <a:lstStyle/>
              <a:p>
                <a:r>
                  <a:rPr lang="en-US" sz="1600" b="1" dirty="0"/>
                  <a:t>x3</a:t>
                </a:r>
              </a:p>
            </p:txBody>
          </p:sp>
        </p:grpSp>
      </p:grpSp>
      <p:graphicFrame>
        <p:nvGraphicFramePr>
          <p:cNvPr id="35" name="Table 6">
            <a:extLst>
              <a:ext uri="{FF2B5EF4-FFF2-40B4-BE49-F238E27FC236}">
                <a16:creationId xmlns:a16="http://schemas.microsoft.com/office/drawing/2014/main" id="{16B718A5-0BE2-4830-A852-4990B8E36809}"/>
              </a:ext>
            </a:extLst>
          </p:cNvPr>
          <p:cNvGraphicFramePr>
            <a:graphicFrameLocks noGrp="1"/>
          </p:cNvGraphicFramePr>
          <p:nvPr>
            <p:extLst>
              <p:ext uri="{D42A27DB-BD31-4B8C-83A1-F6EECF244321}">
                <p14:modId xmlns:p14="http://schemas.microsoft.com/office/powerpoint/2010/main" val="1560506007"/>
              </p:ext>
            </p:extLst>
          </p:nvPr>
        </p:nvGraphicFramePr>
        <p:xfrm>
          <a:off x="4830969" y="719665"/>
          <a:ext cx="5737719" cy="4114800"/>
        </p:xfrm>
        <a:graphic>
          <a:graphicData uri="http://schemas.openxmlformats.org/drawingml/2006/table">
            <a:tbl>
              <a:tblPr firstRow="1" bandRow="1">
                <a:tableStyleId>{5940675A-B579-460E-94D1-54222C63F5DA}</a:tableStyleId>
              </a:tblPr>
              <a:tblGrid>
                <a:gridCol w="5737719">
                  <a:extLst>
                    <a:ext uri="{9D8B030D-6E8A-4147-A177-3AD203B41FA5}">
                      <a16:colId xmlns:a16="http://schemas.microsoft.com/office/drawing/2014/main" val="3887999668"/>
                    </a:ext>
                  </a:extLst>
                </a:gridCol>
              </a:tblGrid>
              <a:tr h="483493">
                <a:tc>
                  <a:txBody>
                    <a:bodyPr/>
                    <a:lstStyle/>
                    <a:p>
                      <a:pPr algn="ctr"/>
                      <a:r>
                        <a:rPr lang="en-US" sz="3600" b="1" dirty="0"/>
                        <a:t>PRODUCTS </a:t>
                      </a:r>
                    </a:p>
                    <a:p>
                      <a:pPr algn="ctr"/>
                      <a:r>
                        <a:rPr lang="en-US" sz="3600" b="1" dirty="0"/>
                        <a:t>JOB FUNCTIONS</a:t>
                      </a:r>
                    </a:p>
                  </a:txBody>
                  <a:tcPr/>
                </a:tc>
                <a:extLst>
                  <a:ext uri="{0D108BD9-81ED-4DB2-BD59-A6C34878D82A}">
                    <a16:rowId xmlns:a16="http://schemas.microsoft.com/office/drawing/2014/main" val="1324454018"/>
                  </a:ext>
                </a:extLst>
              </a:tr>
              <a:tr h="1246241">
                <a:tc>
                  <a:txBody>
                    <a:bodyPr/>
                    <a:lstStyle/>
                    <a:p>
                      <a:pPr algn="ctr"/>
                      <a:endParaRPr lang="en-US" sz="1800" b="1" dirty="0"/>
                    </a:p>
                    <a:p>
                      <a:pPr algn="ctr"/>
                      <a:r>
                        <a:rPr lang="en-US" sz="2400" b="1" dirty="0"/>
                        <a:t>SKILL/CAREER- PRODUCT DESIGN, 3D&amp;2D DESIGN, USER INTERFACE DESIGN, ARCHITECTURE, ENGINEERING, SCIENCES, MANUFACTURING, PACKAGING, HEALTH &amp; SAFETY, BIOLOGIST, PHYSICIST, FOOD TECH, TECHNICAL DRAWING.</a:t>
                      </a:r>
                    </a:p>
                    <a:p>
                      <a:pPr algn="ctr"/>
                      <a:endParaRPr lang="en-US" sz="2400" b="1" dirty="0"/>
                    </a:p>
                  </a:txBody>
                  <a:tcPr/>
                </a:tc>
                <a:extLst>
                  <a:ext uri="{0D108BD9-81ED-4DB2-BD59-A6C34878D82A}">
                    <a16:rowId xmlns:a16="http://schemas.microsoft.com/office/drawing/2014/main" val="682039194"/>
                  </a:ext>
                </a:extLst>
              </a:tr>
            </a:tbl>
          </a:graphicData>
        </a:graphic>
      </p:graphicFrame>
      <p:graphicFrame>
        <p:nvGraphicFramePr>
          <p:cNvPr id="29" name="Table 7">
            <a:extLst>
              <a:ext uri="{FF2B5EF4-FFF2-40B4-BE49-F238E27FC236}">
                <a16:creationId xmlns:a16="http://schemas.microsoft.com/office/drawing/2014/main" id="{66A8EB3A-E73F-4C15-87C4-CB138388496B}"/>
              </a:ext>
            </a:extLst>
          </p:cNvPr>
          <p:cNvGraphicFramePr>
            <a:graphicFrameLocks noGrp="1"/>
          </p:cNvGraphicFramePr>
          <p:nvPr/>
        </p:nvGraphicFramePr>
        <p:xfrm>
          <a:off x="4726003" y="5009818"/>
          <a:ext cx="5926384" cy="944880"/>
        </p:xfrm>
        <a:graphic>
          <a:graphicData uri="http://schemas.openxmlformats.org/drawingml/2006/table">
            <a:tbl>
              <a:tblPr firstRow="1" bandRow="1">
                <a:tableStyleId>{5C22544A-7EE6-4342-B048-85BDC9FD1C3A}</a:tableStyleId>
              </a:tblPr>
              <a:tblGrid>
                <a:gridCol w="2963192">
                  <a:extLst>
                    <a:ext uri="{9D8B030D-6E8A-4147-A177-3AD203B41FA5}">
                      <a16:colId xmlns:a16="http://schemas.microsoft.com/office/drawing/2014/main" val="1028654853"/>
                    </a:ext>
                  </a:extLst>
                </a:gridCol>
                <a:gridCol w="2963192">
                  <a:extLst>
                    <a:ext uri="{9D8B030D-6E8A-4147-A177-3AD203B41FA5}">
                      <a16:colId xmlns:a16="http://schemas.microsoft.com/office/drawing/2014/main" val="2159636558"/>
                    </a:ext>
                  </a:extLst>
                </a:gridCol>
              </a:tblGrid>
              <a:tr h="370840">
                <a:tc>
                  <a:txBody>
                    <a:bodyPr/>
                    <a:lstStyle/>
                    <a:p>
                      <a:pPr algn="ctr"/>
                      <a:r>
                        <a:rPr lang="en-US" dirty="0">
                          <a:solidFill>
                            <a:srgbClr val="C00000"/>
                          </a:solidFill>
                        </a:rPr>
                        <a:t>INSIGHT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400" dirty="0">
                          <a:solidFill>
                            <a:srgbClr val="C00000"/>
                          </a:solidFill>
                        </a:rPr>
                        <a:t>SEEK AN UPGRADE COMBO WITH BUSINESS PROCESS SKILL SETS AND NOTE, MULTI INDUSTRY EXPERIENCE IS AN ADDED BONUS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823397659"/>
                  </a:ext>
                </a:extLst>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1306286" y="769258"/>
            <a:ext cx="3207657" cy="5312228"/>
            <a:chOff x="1306286" y="769258"/>
            <a:chExt cx="3207657" cy="5312228"/>
          </a:xfrm>
        </p:grpSpPr>
        <p:sp>
          <p:nvSpPr>
            <p:cNvPr id="2" name="Rounded Rectangle 1"/>
            <p:cNvSpPr/>
            <p:nvPr/>
          </p:nvSpPr>
          <p:spPr>
            <a:xfrm>
              <a:off x="1306286" y="783771"/>
              <a:ext cx="3207657" cy="5297715"/>
            </a:xfrm>
            <a:prstGeom prst="roundRect">
              <a:avLst/>
            </a:prstGeom>
            <a:solidFill>
              <a:schemeClr val="bg1"/>
            </a:solidFill>
            <a:ln w="76200">
              <a:solidFill>
                <a:schemeClr val="bg1">
                  <a:lumMod val="6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 Same Side Corner Rectangle 2"/>
            <p:cNvSpPr/>
            <p:nvPr/>
          </p:nvSpPr>
          <p:spPr>
            <a:xfrm>
              <a:off x="1306286" y="769258"/>
              <a:ext cx="3207657" cy="1146626"/>
            </a:xfrm>
            <a:prstGeom prst="round2SameRect">
              <a:avLst/>
            </a:prstGeom>
            <a:solidFill>
              <a:srgbClr val="92D050"/>
            </a:solidFill>
            <a:ln w="762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R BONNIE" pitchFamily="2" charset="0"/>
                </a:rPr>
                <a:t>SERVICES</a:t>
              </a:r>
            </a:p>
          </p:txBody>
        </p:sp>
      </p:grpSp>
      <p:sp>
        <p:nvSpPr>
          <p:cNvPr id="31" name="TextBox 30"/>
          <p:cNvSpPr txBox="1"/>
          <p:nvPr/>
        </p:nvSpPr>
        <p:spPr>
          <a:xfrm>
            <a:off x="1341912" y="1981470"/>
            <a:ext cx="3123210" cy="492443"/>
          </a:xfrm>
          <a:prstGeom prst="rect">
            <a:avLst/>
          </a:prstGeom>
          <a:noFill/>
        </p:spPr>
        <p:txBody>
          <a:bodyPr wrap="square" rtlCol="0">
            <a:spAutoFit/>
          </a:bodyPr>
          <a:lstStyle/>
          <a:p>
            <a:pPr algn="ctr"/>
            <a:r>
              <a:rPr lang="en-US" sz="800" b="1" dirty="0"/>
              <a:t>WHAT ARE YOUR SERVICES?</a:t>
            </a:r>
          </a:p>
          <a:p>
            <a:pPr algn="ctr"/>
            <a:r>
              <a:rPr lang="en-US" sz="800" b="1" dirty="0"/>
              <a:t>MARKET ACCEPTANCE</a:t>
            </a:r>
            <a:r>
              <a:rPr lang="en-US" sz="1000" b="1" dirty="0"/>
              <a:t> I </a:t>
            </a:r>
            <a:r>
              <a:rPr lang="en-US" sz="800" b="1" dirty="0"/>
              <a:t>SERVICEMARK </a:t>
            </a:r>
            <a:r>
              <a:rPr lang="en-US" sz="1000" b="1" dirty="0"/>
              <a:t>I </a:t>
            </a:r>
            <a:r>
              <a:rPr lang="en-US" sz="800" b="1" dirty="0"/>
              <a:t>STANDARDIZED PROCEDURES</a:t>
            </a:r>
          </a:p>
        </p:txBody>
      </p:sp>
      <p:sp>
        <p:nvSpPr>
          <p:cNvPr id="22" name="TextBox 21"/>
          <p:cNvSpPr txBox="1"/>
          <p:nvPr/>
        </p:nvSpPr>
        <p:spPr>
          <a:xfrm>
            <a:off x="1733797" y="2516694"/>
            <a:ext cx="760006" cy="400110"/>
          </a:xfrm>
          <a:prstGeom prst="rect">
            <a:avLst/>
          </a:prstGeom>
          <a:noFill/>
        </p:spPr>
        <p:txBody>
          <a:bodyPr wrap="square" rtlCol="0">
            <a:spAutoFit/>
          </a:bodyPr>
          <a:lstStyle/>
          <a:p>
            <a:pPr algn="ctr"/>
            <a:r>
              <a:rPr lang="en-US" sz="2000" b="1" dirty="0"/>
              <a:t>+10</a:t>
            </a:r>
            <a:endParaRPr lang="en-US" sz="2800" b="1" dirty="0"/>
          </a:p>
        </p:txBody>
      </p:sp>
      <p:grpSp>
        <p:nvGrpSpPr>
          <p:cNvPr id="25" name="Group 24"/>
          <p:cNvGrpSpPr/>
          <p:nvPr/>
        </p:nvGrpSpPr>
        <p:grpSpPr>
          <a:xfrm>
            <a:off x="1995054" y="2749270"/>
            <a:ext cx="1103613" cy="880662"/>
            <a:chOff x="2002600" y="2842675"/>
            <a:chExt cx="1171575" cy="914400"/>
          </a:xfrm>
        </p:grpSpPr>
        <p:sp>
          <p:nvSpPr>
            <p:cNvPr id="26" name="Hexagon 25"/>
            <p:cNvSpPr/>
            <p:nvPr/>
          </p:nvSpPr>
          <p:spPr>
            <a:xfrm>
              <a:off x="2545525" y="2842675"/>
              <a:ext cx="628650" cy="581025"/>
            </a:xfrm>
            <a:prstGeom prst="hexagon">
              <a:avLst/>
            </a:prstGeom>
            <a:solidFill>
              <a:srgbClr val="FFFF00"/>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Hexagon 26"/>
            <p:cNvSpPr/>
            <p:nvPr/>
          </p:nvSpPr>
          <p:spPr>
            <a:xfrm>
              <a:off x="2002600" y="3176050"/>
              <a:ext cx="628650" cy="581025"/>
            </a:xfrm>
            <a:prstGeom prst="hexagon">
              <a:avLst/>
            </a:prstGeom>
            <a:solidFill>
              <a:srgbClr val="00B0F0"/>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41" name="Table 40"/>
          <p:cNvGraphicFramePr>
            <a:graphicFrameLocks noGrp="1"/>
          </p:cNvGraphicFramePr>
          <p:nvPr/>
        </p:nvGraphicFramePr>
        <p:xfrm>
          <a:off x="1983178" y="3786062"/>
          <a:ext cx="1710048" cy="1265609"/>
        </p:xfrm>
        <a:graphic>
          <a:graphicData uri="http://schemas.openxmlformats.org/drawingml/2006/table">
            <a:tbl>
              <a:tblPr firstRow="1" bandRow="1">
                <a:tableStyleId>{5C22544A-7EE6-4342-B048-85BDC9FD1C3A}</a:tableStyleId>
              </a:tblPr>
              <a:tblGrid>
                <a:gridCol w="570016">
                  <a:extLst>
                    <a:ext uri="{9D8B030D-6E8A-4147-A177-3AD203B41FA5}">
                      <a16:colId xmlns:a16="http://schemas.microsoft.com/office/drawing/2014/main" val="20000"/>
                    </a:ext>
                  </a:extLst>
                </a:gridCol>
                <a:gridCol w="570016">
                  <a:extLst>
                    <a:ext uri="{9D8B030D-6E8A-4147-A177-3AD203B41FA5}">
                      <a16:colId xmlns:a16="http://schemas.microsoft.com/office/drawing/2014/main" val="20001"/>
                    </a:ext>
                  </a:extLst>
                </a:gridCol>
                <a:gridCol w="570016">
                  <a:extLst>
                    <a:ext uri="{9D8B030D-6E8A-4147-A177-3AD203B41FA5}">
                      <a16:colId xmlns:a16="http://schemas.microsoft.com/office/drawing/2014/main" val="20002"/>
                    </a:ext>
                  </a:extLst>
                </a:gridCol>
              </a:tblGrid>
              <a:tr h="198809">
                <a:tc gridSpan="2">
                  <a:txBody>
                    <a:bodyPr/>
                    <a:lstStyle/>
                    <a:p>
                      <a:pPr algn="ctr"/>
                      <a:r>
                        <a:rPr lang="en-US" sz="600" b="1" dirty="0">
                          <a:solidFill>
                            <a:schemeClr val="tx1"/>
                          </a:solidFill>
                        </a:rPr>
                        <a:t>RISK WEIGHT PENALTY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600" b="1" dirty="0">
                          <a:solidFill>
                            <a:schemeClr val="tx1"/>
                          </a:solidFill>
                        </a:rPr>
                        <a:t>RISK SCORE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198809">
                <a:tc>
                  <a:txBody>
                    <a:bodyPr/>
                    <a:lstStyle/>
                    <a:p>
                      <a:pPr algn="ctr"/>
                      <a:r>
                        <a:rPr lang="en-US" sz="800" b="1" dirty="0">
                          <a:solidFill>
                            <a:schemeClr val="tx1"/>
                          </a:solidFill>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US" sz="800" b="1" dirty="0">
                          <a:solidFill>
                            <a:schemeClr val="tx1"/>
                          </a:solidFill>
                        </a:rPr>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US" sz="800" b="1"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10001"/>
                  </a:ext>
                </a:extLst>
              </a:tr>
              <a:tr h="198809">
                <a:tc>
                  <a:txBody>
                    <a:bodyPr/>
                    <a:lstStyle/>
                    <a:p>
                      <a:pPr algn="ctr"/>
                      <a:r>
                        <a:rPr lang="en-US" sz="800" b="1"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US" sz="800" b="1" dirty="0">
                          <a:solidFill>
                            <a:schemeClr val="tx1"/>
                          </a:solidFill>
                        </a:rPr>
                        <a:t>-40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US" sz="800" b="1"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10002"/>
                  </a:ext>
                </a:extLst>
              </a:tr>
              <a:tr h="198809">
                <a:tc>
                  <a:txBody>
                    <a:bodyPr/>
                    <a:lstStyle/>
                    <a:p>
                      <a:pPr algn="ctr"/>
                      <a:r>
                        <a:rPr lang="en-US" sz="800" b="1"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sz="800" b="1" dirty="0">
                          <a:solidFill>
                            <a:schemeClr val="tx1"/>
                          </a:solidFill>
                        </a:rPr>
                        <a:t>-30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sz="800" b="1"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3"/>
                  </a:ext>
                </a:extLst>
              </a:tr>
              <a:tr h="198809">
                <a:tc>
                  <a:txBody>
                    <a:bodyPr/>
                    <a:lstStyle/>
                    <a:p>
                      <a:pPr algn="ctr"/>
                      <a:r>
                        <a:rPr lang="en-US" sz="800" b="1"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sz="800" b="1" dirty="0">
                          <a:solidFill>
                            <a:schemeClr val="tx1"/>
                          </a:solidFill>
                        </a:rPr>
                        <a:t>-20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sz="800" b="1"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4"/>
                  </a:ext>
                </a:extLst>
              </a:tr>
              <a:tr h="198809">
                <a:tc>
                  <a:txBody>
                    <a:bodyPr/>
                    <a:lstStyle/>
                    <a:p>
                      <a:pPr algn="ctr"/>
                      <a:r>
                        <a:rPr lang="en-US" sz="800" b="1"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800" b="1"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800" b="1"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005"/>
                  </a:ext>
                </a:extLst>
              </a:tr>
            </a:tbl>
          </a:graphicData>
        </a:graphic>
      </p:graphicFrame>
      <p:grpSp>
        <p:nvGrpSpPr>
          <p:cNvPr id="21" name="Group 20">
            <a:extLst>
              <a:ext uri="{FF2B5EF4-FFF2-40B4-BE49-F238E27FC236}">
                <a16:creationId xmlns:a16="http://schemas.microsoft.com/office/drawing/2014/main" id="{D457CABD-DC68-4FF6-BD17-5242557354CA}"/>
              </a:ext>
            </a:extLst>
          </p:cNvPr>
          <p:cNvGrpSpPr/>
          <p:nvPr/>
        </p:nvGrpSpPr>
        <p:grpSpPr>
          <a:xfrm>
            <a:off x="2234317" y="5177150"/>
            <a:ext cx="2040798" cy="776278"/>
            <a:chOff x="2234317" y="5177150"/>
            <a:chExt cx="2040798" cy="776278"/>
          </a:xfrm>
        </p:grpSpPr>
        <p:sp>
          <p:nvSpPr>
            <p:cNvPr id="28" name="TextBox 27">
              <a:extLst>
                <a:ext uri="{FF2B5EF4-FFF2-40B4-BE49-F238E27FC236}">
                  <a16:creationId xmlns:a16="http://schemas.microsoft.com/office/drawing/2014/main" id="{937A0F4E-6E14-48C5-9507-B86B64B2E72D}"/>
                </a:ext>
              </a:extLst>
            </p:cNvPr>
            <p:cNvSpPr txBox="1"/>
            <p:nvPr/>
          </p:nvSpPr>
          <p:spPr>
            <a:xfrm>
              <a:off x="2234317" y="5208438"/>
              <a:ext cx="1905897" cy="246221"/>
            </a:xfrm>
            <a:prstGeom prst="rect">
              <a:avLst/>
            </a:prstGeom>
            <a:noFill/>
          </p:spPr>
          <p:txBody>
            <a:bodyPr wrap="square" rtlCol="0">
              <a:spAutoFit/>
            </a:bodyPr>
            <a:lstStyle/>
            <a:p>
              <a:pPr algn="ctr"/>
              <a:r>
                <a:rPr lang="en-US" sz="1000" b="1" dirty="0"/>
                <a:t>KEY:  </a:t>
              </a:r>
            </a:p>
          </p:txBody>
        </p:sp>
        <p:grpSp>
          <p:nvGrpSpPr>
            <p:cNvPr id="32" name="Group 31">
              <a:extLst>
                <a:ext uri="{FF2B5EF4-FFF2-40B4-BE49-F238E27FC236}">
                  <a16:creationId xmlns:a16="http://schemas.microsoft.com/office/drawing/2014/main" id="{460F0064-3C3B-4C5F-8CCC-99805205E068}"/>
                </a:ext>
              </a:extLst>
            </p:cNvPr>
            <p:cNvGrpSpPr/>
            <p:nvPr/>
          </p:nvGrpSpPr>
          <p:grpSpPr>
            <a:xfrm>
              <a:off x="3384468" y="5177150"/>
              <a:ext cx="486889" cy="317501"/>
              <a:chOff x="2002600" y="3166525"/>
              <a:chExt cx="1714500" cy="904875"/>
            </a:xfrm>
            <a:effectLst>
              <a:outerShdw blurRad="50800" dist="38100" dir="2700000" algn="tl" rotWithShape="0">
                <a:prstClr val="black">
                  <a:alpha val="40000"/>
                </a:prstClr>
              </a:outerShdw>
            </a:effectLst>
          </p:grpSpPr>
          <p:sp>
            <p:nvSpPr>
              <p:cNvPr id="40" name="Hexagon 39">
                <a:extLst>
                  <a:ext uri="{FF2B5EF4-FFF2-40B4-BE49-F238E27FC236}">
                    <a16:creationId xmlns:a16="http://schemas.microsoft.com/office/drawing/2014/main" id="{C17E7422-3C4A-4E3B-AE14-F4B749FA754D}"/>
                  </a:ext>
                </a:extLst>
              </p:cNvPr>
              <p:cNvSpPr/>
              <p:nvPr/>
            </p:nvSpPr>
            <p:spPr>
              <a:xfrm>
                <a:off x="2002600" y="3176050"/>
                <a:ext cx="628650" cy="581025"/>
              </a:xfrm>
              <a:prstGeom prst="hexagon">
                <a:avLst/>
              </a:prstGeom>
              <a:solidFill>
                <a:schemeClr val="tx1"/>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Hexagon 41">
                <a:extLst>
                  <a:ext uri="{FF2B5EF4-FFF2-40B4-BE49-F238E27FC236}">
                    <a16:creationId xmlns:a16="http://schemas.microsoft.com/office/drawing/2014/main" id="{BF890017-AAAC-4B97-91DE-5ACA13586C2E}"/>
                  </a:ext>
                </a:extLst>
              </p:cNvPr>
              <p:cNvSpPr/>
              <p:nvPr/>
            </p:nvSpPr>
            <p:spPr>
              <a:xfrm>
                <a:off x="3088450" y="3166525"/>
                <a:ext cx="628650" cy="581025"/>
              </a:xfrm>
              <a:prstGeom prst="hexagon">
                <a:avLst/>
              </a:prstGeom>
              <a:solidFill>
                <a:srgbClr val="FFFF00"/>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Hexagon 42">
                <a:extLst>
                  <a:ext uri="{FF2B5EF4-FFF2-40B4-BE49-F238E27FC236}">
                    <a16:creationId xmlns:a16="http://schemas.microsoft.com/office/drawing/2014/main" id="{C17E5154-8F11-4493-BBF8-891BBCF1314B}"/>
                  </a:ext>
                </a:extLst>
              </p:cNvPr>
              <p:cNvSpPr/>
              <p:nvPr/>
            </p:nvSpPr>
            <p:spPr>
              <a:xfrm>
                <a:off x="2545525" y="3490375"/>
                <a:ext cx="628650" cy="581025"/>
              </a:xfrm>
              <a:prstGeom prst="hexagon">
                <a:avLst/>
              </a:prstGeom>
              <a:solidFill>
                <a:srgbClr val="00B0F0"/>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3" name="Group 32">
              <a:extLst>
                <a:ext uri="{FF2B5EF4-FFF2-40B4-BE49-F238E27FC236}">
                  <a16:creationId xmlns:a16="http://schemas.microsoft.com/office/drawing/2014/main" id="{548D2CEF-0F0E-45BB-9E02-9E56ABAD040B}"/>
                </a:ext>
              </a:extLst>
            </p:cNvPr>
            <p:cNvGrpSpPr/>
            <p:nvPr/>
          </p:nvGrpSpPr>
          <p:grpSpPr>
            <a:xfrm>
              <a:off x="2303799" y="5547688"/>
              <a:ext cx="1971316" cy="405740"/>
              <a:chOff x="1888174" y="5520047"/>
              <a:chExt cx="1971316" cy="405740"/>
            </a:xfrm>
          </p:grpSpPr>
          <p:sp>
            <p:nvSpPr>
              <p:cNvPr id="34" name="Oval 33">
                <a:extLst>
                  <a:ext uri="{FF2B5EF4-FFF2-40B4-BE49-F238E27FC236}">
                    <a16:creationId xmlns:a16="http://schemas.microsoft.com/office/drawing/2014/main" id="{379EBED3-FB2B-4493-8D44-295DAA5EBEE2}"/>
                  </a:ext>
                </a:extLst>
              </p:cNvPr>
              <p:cNvSpPr/>
              <p:nvPr/>
            </p:nvSpPr>
            <p:spPr>
              <a:xfrm>
                <a:off x="1888174" y="5617028"/>
                <a:ext cx="285008" cy="308759"/>
              </a:xfrm>
              <a:prstGeom prst="ellipse">
                <a:avLst/>
              </a:prstGeom>
              <a:solidFill>
                <a:srgbClr val="00B050"/>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C69F8C49-3BE7-43FA-B6C9-B321DFBA6080}"/>
                  </a:ext>
                </a:extLst>
              </p:cNvPr>
              <p:cNvSpPr/>
              <p:nvPr/>
            </p:nvSpPr>
            <p:spPr>
              <a:xfrm>
                <a:off x="2040572" y="5520047"/>
                <a:ext cx="285008" cy="308759"/>
              </a:xfrm>
              <a:prstGeom prst="ellipse">
                <a:avLst/>
              </a:prstGeom>
              <a:solidFill>
                <a:srgbClr val="7030A0"/>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AF41D994-02EF-4482-8936-D13D239C2D06}"/>
                  </a:ext>
                </a:extLst>
              </p:cNvPr>
              <p:cNvSpPr/>
              <p:nvPr/>
            </p:nvSpPr>
            <p:spPr>
              <a:xfrm>
                <a:off x="2157350" y="5613069"/>
                <a:ext cx="285008" cy="308759"/>
              </a:xfrm>
              <a:prstGeom prst="ellipse">
                <a:avLst/>
              </a:prstGeom>
              <a:solidFill>
                <a:srgbClr val="00B050"/>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Equal 44">
                <a:extLst>
                  <a:ext uri="{FF2B5EF4-FFF2-40B4-BE49-F238E27FC236}">
                    <a16:creationId xmlns:a16="http://schemas.microsoft.com/office/drawing/2014/main" id="{D68EAF35-7BAC-4990-AF61-6D2B6F32D434}"/>
                  </a:ext>
                </a:extLst>
              </p:cNvPr>
              <p:cNvSpPr/>
              <p:nvPr/>
            </p:nvSpPr>
            <p:spPr>
              <a:xfrm>
                <a:off x="2493815" y="5617027"/>
                <a:ext cx="320636" cy="237507"/>
              </a:xfrm>
              <a:prstGeom prst="mathEqual">
                <a:avLst/>
              </a:prstGeom>
              <a:solidFill>
                <a:schemeClr val="tx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9" name="TextBox 38">
                <a:extLst>
                  <a:ext uri="{FF2B5EF4-FFF2-40B4-BE49-F238E27FC236}">
                    <a16:creationId xmlns:a16="http://schemas.microsoft.com/office/drawing/2014/main" id="{B5898523-7CB2-4D22-B29C-04CD8E720299}"/>
                  </a:ext>
                </a:extLst>
              </p:cNvPr>
              <p:cNvSpPr txBox="1"/>
              <p:nvPr/>
            </p:nvSpPr>
            <p:spPr>
              <a:xfrm>
                <a:off x="2826327" y="5572188"/>
                <a:ext cx="1033163" cy="338554"/>
              </a:xfrm>
              <a:prstGeom prst="rect">
                <a:avLst/>
              </a:prstGeom>
              <a:noFill/>
            </p:spPr>
            <p:txBody>
              <a:bodyPr wrap="square" rtlCol="0">
                <a:spAutoFit/>
              </a:bodyPr>
              <a:lstStyle/>
              <a:p>
                <a:r>
                  <a:rPr lang="en-US" sz="1600" b="1" dirty="0"/>
                  <a:t>x3</a:t>
                </a:r>
              </a:p>
            </p:txBody>
          </p:sp>
        </p:grpSp>
      </p:grpSp>
      <p:graphicFrame>
        <p:nvGraphicFramePr>
          <p:cNvPr id="36" name="Table 6">
            <a:extLst>
              <a:ext uri="{FF2B5EF4-FFF2-40B4-BE49-F238E27FC236}">
                <a16:creationId xmlns:a16="http://schemas.microsoft.com/office/drawing/2014/main" id="{5D6320DF-724A-48B5-B54D-C6053A8AE82B}"/>
              </a:ext>
            </a:extLst>
          </p:cNvPr>
          <p:cNvGraphicFramePr>
            <a:graphicFrameLocks noGrp="1"/>
          </p:cNvGraphicFramePr>
          <p:nvPr>
            <p:extLst>
              <p:ext uri="{D42A27DB-BD31-4B8C-83A1-F6EECF244321}">
                <p14:modId xmlns:p14="http://schemas.microsoft.com/office/powerpoint/2010/main" val="3325151374"/>
              </p:ext>
            </p:extLst>
          </p:nvPr>
        </p:nvGraphicFramePr>
        <p:xfrm>
          <a:off x="4830969" y="719665"/>
          <a:ext cx="5737719" cy="3535680"/>
        </p:xfrm>
        <a:graphic>
          <a:graphicData uri="http://schemas.openxmlformats.org/drawingml/2006/table">
            <a:tbl>
              <a:tblPr firstRow="1" bandRow="1">
                <a:tableStyleId>{5940675A-B579-460E-94D1-54222C63F5DA}</a:tableStyleId>
              </a:tblPr>
              <a:tblGrid>
                <a:gridCol w="5737719">
                  <a:extLst>
                    <a:ext uri="{9D8B030D-6E8A-4147-A177-3AD203B41FA5}">
                      <a16:colId xmlns:a16="http://schemas.microsoft.com/office/drawing/2014/main" val="3887999668"/>
                    </a:ext>
                  </a:extLst>
                </a:gridCol>
              </a:tblGrid>
              <a:tr h="483493">
                <a:tc>
                  <a:txBody>
                    <a:bodyPr/>
                    <a:lstStyle/>
                    <a:p>
                      <a:pPr algn="ctr"/>
                      <a:r>
                        <a:rPr lang="en-US" sz="3200" b="1" dirty="0"/>
                        <a:t>SERVICES </a:t>
                      </a:r>
                    </a:p>
                    <a:p>
                      <a:pPr algn="ctr"/>
                      <a:r>
                        <a:rPr lang="en-US" sz="3200" b="1" dirty="0"/>
                        <a:t>JOB FUNCTIONS</a:t>
                      </a:r>
                    </a:p>
                  </a:txBody>
                  <a:tcPr/>
                </a:tc>
                <a:extLst>
                  <a:ext uri="{0D108BD9-81ED-4DB2-BD59-A6C34878D82A}">
                    <a16:rowId xmlns:a16="http://schemas.microsoft.com/office/drawing/2014/main" val="1324454018"/>
                  </a:ext>
                </a:extLst>
              </a:tr>
              <a:tr h="1246241">
                <a:tc>
                  <a:txBody>
                    <a:bodyPr/>
                    <a:lstStyle/>
                    <a:p>
                      <a:pPr algn="ctr"/>
                      <a:endParaRPr lang="en-US" sz="1600" b="1" dirty="0"/>
                    </a:p>
                    <a:p>
                      <a:pPr algn="ctr"/>
                      <a:r>
                        <a:rPr lang="en-US" sz="2000" b="1" dirty="0"/>
                        <a:t>SKILL/CAREER- LIBERAL ARTS, DRAMA, PSYCHOLOGY, POPULAR CULTURE, QUALITY CONTROL, CUSTOMER RELATIONSHIP MANAGEMENT, SOCIAL (NEW) &amp; TRADITIONAL MEDIA, USER INTERFACE (UI), COMMUNICATIONS, RELIGION, ALL CUSTOMER SERVICE CERTIFICATIONS.</a:t>
                      </a:r>
                      <a:br>
                        <a:rPr lang="en-US" sz="2000" b="1" dirty="0"/>
                      </a:br>
                      <a:endParaRPr lang="en-US" sz="2000" b="1" dirty="0"/>
                    </a:p>
                  </a:txBody>
                  <a:tcPr/>
                </a:tc>
                <a:extLst>
                  <a:ext uri="{0D108BD9-81ED-4DB2-BD59-A6C34878D82A}">
                    <a16:rowId xmlns:a16="http://schemas.microsoft.com/office/drawing/2014/main" val="682039194"/>
                  </a:ext>
                </a:extLst>
              </a:tr>
            </a:tbl>
          </a:graphicData>
        </a:graphic>
      </p:graphicFrame>
      <p:graphicFrame>
        <p:nvGraphicFramePr>
          <p:cNvPr id="24" name="Table 7">
            <a:extLst>
              <a:ext uri="{FF2B5EF4-FFF2-40B4-BE49-F238E27FC236}">
                <a16:creationId xmlns:a16="http://schemas.microsoft.com/office/drawing/2014/main" id="{77207515-6DAD-40DF-9FC3-0C086BE4A255}"/>
              </a:ext>
            </a:extLst>
          </p:cNvPr>
          <p:cNvGraphicFramePr>
            <a:graphicFrameLocks noGrp="1"/>
          </p:cNvGraphicFramePr>
          <p:nvPr/>
        </p:nvGraphicFramePr>
        <p:xfrm>
          <a:off x="4726003" y="5009818"/>
          <a:ext cx="5926384" cy="944880"/>
        </p:xfrm>
        <a:graphic>
          <a:graphicData uri="http://schemas.openxmlformats.org/drawingml/2006/table">
            <a:tbl>
              <a:tblPr firstRow="1" bandRow="1">
                <a:tableStyleId>{5C22544A-7EE6-4342-B048-85BDC9FD1C3A}</a:tableStyleId>
              </a:tblPr>
              <a:tblGrid>
                <a:gridCol w="2963192">
                  <a:extLst>
                    <a:ext uri="{9D8B030D-6E8A-4147-A177-3AD203B41FA5}">
                      <a16:colId xmlns:a16="http://schemas.microsoft.com/office/drawing/2014/main" val="1028654853"/>
                    </a:ext>
                  </a:extLst>
                </a:gridCol>
                <a:gridCol w="2963192">
                  <a:extLst>
                    <a:ext uri="{9D8B030D-6E8A-4147-A177-3AD203B41FA5}">
                      <a16:colId xmlns:a16="http://schemas.microsoft.com/office/drawing/2014/main" val="2159636558"/>
                    </a:ext>
                  </a:extLst>
                </a:gridCol>
              </a:tblGrid>
              <a:tr h="370840">
                <a:tc>
                  <a:txBody>
                    <a:bodyPr/>
                    <a:lstStyle/>
                    <a:p>
                      <a:pPr algn="ctr"/>
                      <a:r>
                        <a:rPr lang="en-US" dirty="0">
                          <a:solidFill>
                            <a:srgbClr val="C00000"/>
                          </a:solidFill>
                        </a:rPr>
                        <a:t>INSIGHT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400" dirty="0">
                          <a:solidFill>
                            <a:srgbClr val="C00000"/>
                          </a:solidFill>
                        </a:rPr>
                        <a:t>SEEK AN UPGRADE COMBO WITH BUSINESS PROCESS SKILL SETS AND NOTE, MULTI INDUSTRY EXPERIENCE IS AN ADDED BONUS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823397659"/>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1306286" y="769258"/>
            <a:ext cx="3207657" cy="5312228"/>
            <a:chOff x="1306286" y="769258"/>
            <a:chExt cx="3207657" cy="5312228"/>
          </a:xfrm>
        </p:grpSpPr>
        <p:sp>
          <p:nvSpPr>
            <p:cNvPr id="2" name="Rounded Rectangle 1"/>
            <p:cNvSpPr/>
            <p:nvPr/>
          </p:nvSpPr>
          <p:spPr>
            <a:xfrm>
              <a:off x="1306286" y="783771"/>
              <a:ext cx="3207657" cy="5297715"/>
            </a:xfrm>
            <a:prstGeom prst="roundRect">
              <a:avLst/>
            </a:prstGeom>
            <a:solidFill>
              <a:schemeClr val="bg1"/>
            </a:solidFill>
            <a:ln w="76200">
              <a:solidFill>
                <a:schemeClr val="bg1">
                  <a:lumMod val="6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 Same Side Corner Rectangle 2"/>
            <p:cNvSpPr/>
            <p:nvPr/>
          </p:nvSpPr>
          <p:spPr>
            <a:xfrm>
              <a:off x="1306286" y="769258"/>
              <a:ext cx="3207657" cy="1146626"/>
            </a:xfrm>
            <a:prstGeom prst="round2SameRect">
              <a:avLst/>
            </a:prstGeom>
            <a:solidFill>
              <a:srgbClr val="92D050"/>
            </a:solidFill>
            <a:ln w="762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R BONNIE" pitchFamily="2" charset="0"/>
                </a:rPr>
                <a:t>BUSINESS PROCESSES</a:t>
              </a:r>
            </a:p>
          </p:txBody>
        </p:sp>
      </p:grpSp>
      <p:sp>
        <p:nvSpPr>
          <p:cNvPr id="12" name="TextBox 11"/>
          <p:cNvSpPr txBox="1"/>
          <p:nvPr/>
        </p:nvSpPr>
        <p:spPr>
          <a:xfrm>
            <a:off x="1341912" y="1945845"/>
            <a:ext cx="3146961" cy="369332"/>
          </a:xfrm>
          <a:prstGeom prst="rect">
            <a:avLst/>
          </a:prstGeom>
          <a:noFill/>
        </p:spPr>
        <p:txBody>
          <a:bodyPr wrap="square" rtlCol="0">
            <a:spAutoFit/>
          </a:bodyPr>
          <a:lstStyle/>
          <a:p>
            <a:pPr algn="ctr"/>
            <a:r>
              <a:rPr lang="en-US" sz="800" b="1" dirty="0"/>
              <a:t>DO YOU HAVE A SET OF CLEARLY DEFINED BUSINESS PROCESSES?</a:t>
            </a:r>
          </a:p>
          <a:p>
            <a:pPr algn="ctr"/>
            <a:r>
              <a:rPr lang="en-US" sz="800" b="1" dirty="0"/>
              <a:t>CODIFICATION</a:t>
            </a:r>
            <a:r>
              <a:rPr lang="en-US" sz="1000" b="1" dirty="0"/>
              <a:t> I </a:t>
            </a:r>
            <a:r>
              <a:rPr lang="en-US" sz="800" b="1" dirty="0"/>
              <a:t>STANDARDIZATION</a:t>
            </a:r>
            <a:r>
              <a:rPr lang="en-US" sz="1000" b="1" dirty="0"/>
              <a:t> I </a:t>
            </a:r>
            <a:r>
              <a:rPr lang="en-US" sz="800" b="1" dirty="0"/>
              <a:t>ALGORITHM </a:t>
            </a:r>
            <a:r>
              <a:rPr lang="en-US" sz="1000" b="1" dirty="0"/>
              <a:t>I </a:t>
            </a:r>
            <a:r>
              <a:rPr lang="en-US" sz="800" b="1" dirty="0"/>
              <a:t>AUTOMATION</a:t>
            </a:r>
          </a:p>
        </p:txBody>
      </p:sp>
      <p:sp>
        <p:nvSpPr>
          <p:cNvPr id="26" name="TextBox 25"/>
          <p:cNvSpPr txBox="1"/>
          <p:nvPr/>
        </p:nvSpPr>
        <p:spPr>
          <a:xfrm>
            <a:off x="1733797" y="2325300"/>
            <a:ext cx="760006" cy="400110"/>
          </a:xfrm>
          <a:prstGeom prst="rect">
            <a:avLst/>
          </a:prstGeom>
          <a:noFill/>
        </p:spPr>
        <p:txBody>
          <a:bodyPr wrap="square" rtlCol="0">
            <a:spAutoFit/>
          </a:bodyPr>
          <a:lstStyle/>
          <a:p>
            <a:pPr algn="ctr"/>
            <a:r>
              <a:rPr lang="en-US" sz="2000" b="1" dirty="0"/>
              <a:t>+10</a:t>
            </a:r>
            <a:endParaRPr lang="en-US" sz="2800" b="1" dirty="0"/>
          </a:p>
        </p:txBody>
      </p:sp>
      <p:grpSp>
        <p:nvGrpSpPr>
          <p:cNvPr id="40" name="Group 39"/>
          <p:cNvGrpSpPr/>
          <p:nvPr/>
        </p:nvGrpSpPr>
        <p:grpSpPr>
          <a:xfrm>
            <a:off x="1995054" y="2899336"/>
            <a:ext cx="1615043" cy="871489"/>
            <a:chOff x="2002600" y="3166525"/>
            <a:chExt cx="1714500" cy="904875"/>
          </a:xfrm>
        </p:grpSpPr>
        <p:sp>
          <p:nvSpPr>
            <p:cNvPr id="42" name="Hexagon 41"/>
            <p:cNvSpPr/>
            <p:nvPr/>
          </p:nvSpPr>
          <p:spPr>
            <a:xfrm>
              <a:off x="2002600" y="3176050"/>
              <a:ext cx="628650" cy="581025"/>
            </a:xfrm>
            <a:prstGeom prst="hexagon">
              <a:avLst/>
            </a:prstGeom>
            <a:solidFill>
              <a:schemeClr val="tx1"/>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Hexagon 42"/>
            <p:cNvSpPr/>
            <p:nvPr/>
          </p:nvSpPr>
          <p:spPr>
            <a:xfrm>
              <a:off x="3088450" y="3166525"/>
              <a:ext cx="628650" cy="581025"/>
            </a:xfrm>
            <a:prstGeom prst="hexagon">
              <a:avLst/>
            </a:prstGeom>
            <a:solidFill>
              <a:srgbClr val="FFFF00"/>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Hexagon 43"/>
            <p:cNvSpPr/>
            <p:nvPr/>
          </p:nvSpPr>
          <p:spPr>
            <a:xfrm>
              <a:off x="2545525" y="3490375"/>
              <a:ext cx="628650" cy="581025"/>
            </a:xfrm>
            <a:prstGeom prst="hexagon">
              <a:avLst/>
            </a:prstGeom>
            <a:solidFill>
              <a:srgbClr val="00B0F0"/>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5" name="Group 44"/>
          <p:cNvGrpSpPr/>
          <p:nvPr/>
        </p:nvGrpSpPr>
        <p:grpSpPr>
          <a:xfrm>
            <a:off x="3403387" y="2345702"/>
            <a:ext cx="558141" cy="482420"/>
            <a:chOff x="3158836" y="2628915"/>
            <a:chExt cx="558141" cy="482420"/>
          </a:xfrm>
        </p:grpSpPr>
        <p:sp>
          <p:nvSpPr>
            <p:cNvPr id="46" name="5-Point Star 45"/>
            <p:cNvSpPr/>
            <p:nvPr/>
          </p:nvSpPr>
          <p:spPr>
            <a:xfrm>
              <a:off x="3158836" y="2628915"/>
              <a:ext cx="558141" cy="482420"/>
            </a:xfrm>
            <a:prstGeom prst="star5">
              <a:avLst/>
            </a:prstGeom>
            <a:solidFill>
              <a:srgbClr val="FFFF00"/>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dirty="0">
                <a:solidFill>
                  <a:schemeClr val="tx1"/>
                </a:solidFill>
              </a:endParaRPr>
            </a:p>
          </p:txBody>
        </p:sp>
        <p:sp>
          <p:nvSpPr>
            <p:cNvPr id="47" name="TextBox 46"/>
            <p:cNvSpPr txBox="1"/>
            <p:nvPr/>
          </p:nvSpPr>
          <p:spPr>
            <a:xfrm>
              <a:off x="3188961" y="2772142"/>
              <a:ext cx="494604" cy="261610"/>
            </a:xfrm>
            <a:prstGeom prst="rect">
              <a:avLst/>
            </a:prstGeom>
            <a:noFill/>
          </p:spPr>
          <p:txBody>
            <a:bodyPr wrap="square" rtlCol="0">
              <a:spAutoFit/>
            </a:bodyPr>
            <a:lstStyle/>
            <a:p>
              <a:pPr algn="ctr"/>
              <a:r>
                <a:rPr lang="en-US" sz="1100" b="1" dirty="0">
                  <a:solidFill>
                    <a:srgbClr val="FF0000"/>
                  </a:solidFill>
                </a:rPr>
                <a:t>x2</a:t>
              </a:r>
              <a:endParaRPr lang="en-US" sz="1400" b="1" dirty="0">
                <a:solidFill>
                  <a:srgbClr val="FF0000"/>
                </a:solidFill>
              </a:endParaRPr>
            </a:p>
          </p:txBody>
        </p:sp>
      </p:grpSp>
      <p:graphicFrame>
        <p:nvGraphicFramePr>
          <p:cNvPr id="48" name="Table 47"/>
          <p:cNvGraphicFramePr>
            <a:graphicFrameLocks noGrp="1"/>
          </p:cNvGraphicFramePr>
          <p:nvPr/>
        </p:nvGraphicFramePr>
        <p:xfrm>
          <a:off x="1983178" y="3871116"/>
          <a:ext cx="1710048" cy="1265609"/>
        </p:xfrm>
        <a:graphic>
          <a:graphicData uri="http://schemas.openxmlformats.org/drawingml/2006/table">
            <a:tbl>
              <a:tblPr firstRow="1" bandRow="1">
                <a:tableStyleId>{5C22544A-7EE6-4342-B048-85BDC9FD1C3A}</a:tableStyleId>
              </a:tblPr>
              <a:tblGrid>
                <a:gridCol w="570016">
                  <a:extLst>
                    <a:ext uri="{9D8B030D-6E8A-4147-A177-3AD203B41FA5}">
                      <a16:colId xmlns:a16="http://schemas.microsoft.com/office/drawing/2014/main" val="20000"/>
                    </a:ext>
                  </a:extLst>
                </a:gridCol>
                <a:gridCol w="570016">
                  <a:extLst>
                    <a:ext uri="{9D8B030D-6E8A-4147-A177-3AD203B41FA5}">
                      <a16:colId xmlns:a16="http://schemas.microsoft.com/office/drawing/2014/main" val="20001"/>
                    </a:ext>
                  </a:extLst>
                </a:gridCol>
                <a:gridCol w="570016">
                  <a:extLst>
                    <a:ext uri="{9D8B030D-6E8A-4147-A177-3AD203B41FA5}">
                      <a16:colId xmlns:a16="http://schemas.microsoft.com/office/drawing/2014/main" val="20002"/>
                    </a:ext>
                  </a:extLst>
                </a:gridCol>
              </a:tblGrid>
              <a:tr h="198809">
                <a:tc gridSpan="2">
                  <a:txBody>
                    <a:bodyPr/>
                    <a:lstStyle/>
                    <a:p>
                      <a:pPr algn="ctr"/>
                      <a:r>
                        <a:rPr lang="en-US" sz="600" b="1" dirty="0">
                          <a:solidFill>
                            <a:schemeClr val="tx1"/>
                          </a:solidFill>
                        </a:rPr>
                        <a:t>RISK WEIGHT PENALTY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600" b="1" dirty="0">
                          <a:solidFill>
                            <a:schemeClr val="tx1"/>
                          </a:solidFill>
                        </a:rPr>
                        <a:t>RISK SCORE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198809">
                <a:tc>
                  <a:txBody>
                    <a:bodyPr/>
                    <a:lstStyle/>
                    <a:p>
                      <a:pPr algn="ctr"/>
                      <a:r>
                        <a:rPr lang="en-US" sz="800" b="1" dirty="0">
                          <a:solidFill>
                            <a:schemeClr val="tx1"/>
                          </a:solidFill>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US" sz="800" b="1" dirty="0">
                          <a:solidFill>
                            <a:schemeClr val="tx1"/>
                          </a:solidFill>
                        </a:rPr>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US" sz="800" b="1"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10001"/>
                  </a:ext>
                </a:extLst>
              </a:tr>
              <a:tr h="198809">
                <a:tc>
                  <a:txBody>
                    <a:bodyPr/>
                    <a:lstStyle/>
                    <a:p>
                      <a:pPr algn="ctr"/>
                      <a:r>
                        <a:rPr lang="en-US" sz="800" b="1"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US" sz="800" b="1" dirty="0">
                          <a:solidFill>
                            <a:schemeClr val="tx1"/>
                          </a:solidFill>
                        </a:rPr>
                        <a:t>-40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US" sz="800" b="1"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10002"/>
                  </a:ext>
                </a:extLst>
              </a:tr>
              <a:tr h="198809">
                <a:tc>
                  <a:txBody>
                    <a:bodyPr/>
                    <a:lstStyle/>
                    <a:p>
                      <a:pPr algn="ctr"/>
                      <a:r>
                        <a:rPr lang="en-US" sz="800" b="1"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sz="800" b="1" dirty="0">
                          <a:solidFill>
                            <a:schemeClr val="tx1"/>
                          </a:solidFill>
                        </a:rPr>
                        <a:t>-30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sz="800" b="1"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3"/>
                  </a:ext>
                </a:extLst>
              </a:tr>
              <a:tr h="198809">
                <a:tc>
                  <a:txBody>
                    <a:bodyPr/>
                    <a:lstStyle/>
                    <a:p>
                      <a:pPr algn="ctr"/>
                      <a:r>
                        <a:rPr lang="en-US" sz="800" b="1"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sz="800" b="1" dirty="0">
                          <a:solidFill>
                            <a:schemeClr val="tx1"/>
                          </a:solidFill>
                        </a:rPr>
                        <a:t>-20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sz="800" b="1"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4"/>
                  </a:ext>
                </a:extLst>
              </a:tr>
              <a:tr h="198809">
                <a:tc>
                  <a:txBody>
                    <a:bodyPr/>
                    <a:lstStyle/>
                    <a:p>
                      <a:pPr algn="ctr"/>
                      <a:r>
                        <a:rPr lang="en-US" sz="800" b="1"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800" b="1"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800" b="1"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005"/>
                  </a:ext>
                </a:extLst>
              </a:tr>
            </a:tbl>
          </a:graphicData>
        </a:graphic>
      </p:graphicFrame>
      <p:grpSp>
        <p:nvGrpSpPr>
          <p:cNvPr id="25" name="Group 24">
            <a:extLst>
              <a:ext uri="{FF2B5EF4-FFF2-40B4-BE49-F238E27FC236}">
                <a16:creationId xmlns:a16="http://schemas.microsoft.com/office/drawing/2014/main" id="{96A1D699-50A4-4E0C-8B7F-40D5C9CE52CA}"/>
              </a:ext>
            </a:extLst>
          </p:cNvPr>
          <p:cNvGrpSpPr/>
          <p:nvPr/>
        </p:nvGrpSpPr>
        <p:grpSpPr>
          <a:xfrm>
            <a:off x="1888174" y="5102755"/>
            <a:ext cx="2289953" cy="918729"/>
            <a:chOff x="1888174" y="5007058"/>
            <a:chExt cx="2289953" cy="918729"/>
          </a:xfrm>
        </p:grpSpPr>
        <p:grpSp>
          <p:nvGrpSpPr>
            <p:cNvPr id="27" name="Group 26">
              <a:extLst>
                <a:ext uri="{FF2B5EF4-FFF2-40B4-BE49-F238E27FC236}">
                  <a16:creationId xmlns:a16="http://schemas.microsoft.com/office/drawing/2014/main" id="{6083A051-8996-47B2-AE18-0F658F2C081D}"/>
                </a:ext>
              </a:extLst>
            </p:cNvPr>
            <p:cNvGrpSpPr/>
            <p:nvPr/>
          </p:nvGrpSpPr>
          <p:grpSpPr>
            <a:xfrm>
              <a:off x="1888174" y="5520047"/>
              <a:ext cx="1971316" cy="405740"/>
              <a:chOff x="1888174" y="5520047"/>
              <a:chExt cx="1971316" cy="405740"/>
            </a:xfrm>
          </p:grpSpPr>
          <p:sp>
            <p:nvSpPr>
              <p:cNvPr id="51" name="Oval 50">
                <a:extLst>
                  <a:ext uri="{FF2B5EF4-FFF2-40B4-BE49-F238E27FC236}">
                    <a16:creationId xmlns:a16="http://schemas.microsoft.com/office/drawing/2014/main" id="{6B1FD33F-D69F-4577-8948-9A10DA50DE63}"/>
                  </a:ext>
                </a:extLst>
              </p:cNvPr>
              <p:cNvSpPr/>
              <p:nvPr/>
            </p:nvSpPr>
            <p:spPr>
              <a:xfrm>
                <a:off x="1888174" y="5617028"/>
                <a:ext cx="285008" cy="308759"/>
              </a:xfrm>
              <a:prstGeom prst="ellipse">
                <a:avLst/>
              </a:prstGeom>
              <a:solidFill>
                <a:srgbClr val="00B050"/>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EE8BAE0C-7B04-44F2-8D54-D7C1495A93D9}"/>
                  </a:ext>
                </a:extLst>
              </p:cNvPr>
              <p:cNvSpPr/>
              <p:nvPr/>
            </p:nvSpPr>
            <p:spPr>
              <a:xfrm>
                <a:off x="2040572" y="5520047"/>
                <a:ext cx="285008" cy="308759"/>
              </a:xfrm>
              <a:prstGeom prst="ellipse">
                <a:avLst/>
              </a:prstGeom>
              <a:solidFill>
                <a:srgbClr val="7030A0"/>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E789F650-7D65-49C3-912B-733367848A12}"/>
                  </a:ext>
                </a:extLst>
              </p:cNvPr>
              <p:cNvSpPr/>
              <p:nvPr/>
            </p:nvSpPr>
            <p:spPr>
              <a:xfrm>
                <a:off x="2157350" y="5613069"/>
                <a:ext cx="285008" cy="308759"/>
              </a:xfrm>
              <a:prstGeom prst="ellipse">
                <a:avLst/>
              </a:prstGeom>
              <a:solidFill>
                <a:srgbClr val="00B050"/>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Equal 35">
                <a:extLst>
                  <a:ext uri="{FF2B5EF4-FFF2-40B4-BE49-F238E27FC236}">
                    <a16:creationId xmlns:a16="http://schemas.microsoft.com/office/drawing/2014/main" id="{5E05E442-AE91-4B80-BBAC-F32EBBED454B}"/>
                  </a:ext>
                </a:extLst>
              </p:cNvPr>
              <p:cNvSpPr/>
              <p:nvPr/>
            </p:nvSpPr>
            <p:spPr>
              <a:xfrm>
                <a:off x="2493815" y="5617027"/>
                <a:ext cx="320636" cy="237507"/>
              </a:xfrm>
              <a:prstGeom prst="mathEqual">
                <a:avLst/>
              </a:prstGeom>
              <a:solidFill>
                <a:schemeClr val="tx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5" name="TextBox 54">
                <a:extLst>
                  <a:ext uri="{FF2B5EF4-FFF2-40B4-BE49-F238E27FC236}">
                    <a16:creationId xmlns:a16="http://schemas.microsoft.com/office/drawing/2014/main" id="{4579BA62-810C-4396-B39A-134C6E32EB98}"/>
                  </a:ext>
                </a:extLst>
              </p:cNvPr>
              <p:cNvSpPr txBox="1"/>
              <p:nvPr/>
            </p:nvSpPr>
            <p:spPr>
              <a:xfrm>
                <a:off x="2600711" y="5572188"/>
                <a:ext cx="1258779" cy="338554"/>
              </a:xfrm>
              <a:prstGeom prst="rect">
                <a:avLst/>
              </a:prstGeom>
              <a:noFill/>
            </p:spPr>
            <p:txBody>
              <a:bodyPr wrap="square" rtlCol="0">
                <a:spAutoFit/>
              </a:bodyPr>
              <a:lstStyle/>
              <a:p>
                <a:pPr algn="ctr"/>
                <a:r>
                  <a:rPr lang="en-US" sz="1600" b="1" dirty="0"/>
                  <a:t>x3 and x2</a:t>
                </a:r>
              </a:p>
            </p:txBody>
          </p:sp>
        </p:grpSp>
        <p:sp>
          <p:nvSpPr>
            <p:cNvPr id="28" name="TextBox 27">
              <a:extLst>
                <a:ext uri="{FF2B5EF4-FFF2-40B4-BE49-F238E27FC236}">
                  <a16:creationId xmlns:a16="http://schemas.microsoft.com/office/drawing/2014/main" id="{1793B555-BAF4-4F08-82AB-71B0D4AF2955}"/>
                </a:ext>
              </a:extLst>
            </p:cNvPr>
            <p:cNvSpPr txBox="1"/>
            <p:nvPr/>
          </p:nvSpPr>
          <p:spPr>
            <a:xfrm>
              <a:off x="2192756" y="5187213"/>
              <a:ext cx="1045505" cy="246221"/>
            </a:xfrm>
            <a:prstGeom prst="rect">
              <a:avLst/>
            </a:prstGeom>
            <a:noFill/>
          </p:spPr>
          <p:txBody>
            <a:bodyPr wrap="square" rtlCol="0">
              <a:spAutoFit/>
            </a:bodyPr>
            <a:lstStyle/>
            <a:p>
              <a:pPr algn="ctr"/>
              <a:r>
                <a:rPr lang="en-US" sz="1000" b="1" dirty="0"/>
                <a:t>KEY:  </a:t>
              </a:r>
            </a:p>
          </p:txBody>
        </p:sp>
        <p:sp>
          <p:nvSpPr>
            <p:cNvPr id="35" name="Rectangle 34">
              <a:extLst>
                <a:ext uri="{FF2B5EF4-FFF2-40B4-BE49-F238E27FC236}">
                  <a16:creationId xmlns:a16="http://schemas.microsoft.com/office/drawing/2014/main" id="{68A9CEE2-37D8-4558-803E-4698186930DA}"/>
                </a:ext>
              </a:extLst>
            </p:cNvPr>
            <p:cNvSpPr/>
            <p:nvPr/>
          </p:nvSpPr>
          <p:spPr>
            <a:xfrm>
              <a:off x="2957418" y="5239095"/>
              <a:ext cx="172564" cy="164806"/>
            </a:xfrm>
            <a:prstGeom prst="rect">
              <a:avLst/>
            </a:prstGeom>
            <a:solidFill>
              <a:schemeClr val="tx1"/>
            </a:solidFill>
            <a:ln w="3175">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9D9363C6-C6E9-4502-A6FF-0F855B8CE9B5}"/>
                </a:ext>
              </a:extLst>
            </p:cNvPr>
            <p:cNvSpPr/>
            <p:nvPr/>
          </p:nvSpPr>
          <p:spPr>
            <a:xfrm>
              <a:off x="3486212" y="5229958"/>
              <a:ext cx="165725" cy="170972"/>
            </a:xfrm>
            <a:prstGeom prst="rect">
              <a:avLst/>
            </a:prstGeom>
            <a:solidFill>
              <a:schemeClr val="bg1">
                <a:lumMod val="65000"/>
              </a:schemeClr>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7" name="Group 36">
              <a:extLst>
                <a:ext uri="{FF2B5EF4-FFF2-40B4-BE49-F238E27FC236}">
                  <a16:creationId xmlns:a16="http://schemas.microsoft.com/office/drawing/2014/main" id="{16032764-54EF-405C-A186-4F1D5FCA6DCE}"/>
                </a:ext>
              </a:extLst>
            </p:cNvPr>
            <p:cNvGrpSpPr/>
            <p:nvPr/>
          </p:nvGrpSpPr>
          <p:grpSpPr>
            <a:xfrm>
              <a:off x="3786504" y="5007058"/>
              <a:ext cx="391623" cy="391897"/>
              <a:chOff x="1994630" y="3877137"/>
              <a:chExt cx="1589546" cy="1375564"/>
            </a:xfrm>
          </p:grpSpPr>
          <p:sp>
            <p:nvSpPr>
              <p:cNvPr id="41" name="Rectangle 40">
                <a:extLst>
                  <a:ext uri="{FF2B5EF4-FFF2-40B4-BE49-F238E27FC236}">
                    <a16:creationId xmlns:a16="http://schemas.microsoft.com/office/drawing/2014/main" id="{18E4DD78-3A3A-4889-B7C9-EC38FE800862}"/>
                  </a:ext>
                </a:extLst>
              </p:cNvPr>
              <p:cNvSpPr/>
              <p:nvPr/>
            </p:nvSpPr>
            <p:spPr>
              <a:xfrm>
                <a:off x="2486877" y="3877137"/>
                <a:ext cx="672656" cy="600114"/>
              </a:xfrm>
              <a:prstGeom prst="rect">
                <a:avLst/>
              </a:prstGeom>
              <a:solidFill>
                <a:schemeClr val="tx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4A55F1EC-307D-41AA-A2E6-B0977F9849F9}"/>
                  </a:ext>
                </a:extLst>
              </p:cNvPr>
              <p:cNvSpPr/>
              <p:nvPr/>
            </p:nvSpPr>
            <p:spPr>
              <a:xfrm>
                <a:off x="2911520" y="4652587"/>
                <a:ext cx="672656" cy="600114"/>
              </a:xfrm>
              <a:prstGeom prst="rect">
                <a:avLst/>
              </a:prstGeom>
              <a:solidFill>
                <a:schemeClr val="bg1">
                  <a:lumMod val="65000"/>
                </a:schemeClr>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C3B51B0D-4D92-479D-A67A-964963DF602B}"/>
                  </a:ext>
                </a:extLst>
              </p:cNvPr>
              <p:cNvSpPr/>
              <p:nvPr/>
            </p:nvSpPr>
            <p:spPr>
              <a:xfrm>
                <a:off x="1994630" y="4638733"/>
                <a:ext cx="672656" cy="600114"/>
              </a:xfrm>
              <a:prstGeom prst="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9" name="Rectangle 38">
              <a:extLst>
                <a:ext uri="{FF2B5EF4-FFF2-40B4-BE49-F238E27FC236}">
                  <a16:creationId xmlns:a16="http://schemas.microsoft.com/office/drawing/2014/main" id="{DFE26021-5973-401B-B88E-F7A99ECB5763}"/>
                </a:ext>
              </a:extLst>
            </p:cNvPr>
            <p:cNvSpPr/>
            <p:nvPr/>
          </p:nvSpPr>
          <p:spPr>
            <a:xfrm>
              <a:off x="3270487" y="5239858"/>
              <a:ext cx="165725" cy="170972"/>
            </a:xfrm>
            <a:prstGeom prst="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56" name="Table 6">
            <a:extLst>
              <a:ext uri="{FF2B5EF4-FFF2-40B4-BE49-F238E27FC236}">
                <a16:creationId xmlns:a16="http://schemas.microsoft.com/office/drawing/2014/main" id="{2171D37F-41AD-4A8B-B9B8-F80BD08544DF}"/>
              </a:ext>
            </a:extLst>
          </p:cNvPr>
          <p:cNvGraphicFramePr>
            <a:graphicFrameLocks noGrp="1"/>
          </p:cNvGraphicFramePr>
          <p:nvPr/>
        </p:nvGraphicFramePr>
        <p:xfrm>
          <a:off x="4830969" y="719665"/>
          <a:ext cx="5737719" cy="3230880"/>
        </p:xfrm>
        <a:graphic>
          <a:graphicData uri="http://schemas.openxmlformats.org/drawingml/2006/table">
            <a:tbl>
              <a:tblPr firstRow="1" bandRow="1">
                <a:tableStyleId>{5940675A-B579-460E-94D1-54222C63F5DA}</a:tableStyleId>
              </a:tblPr>
              <a:tblGrid>
                <a:gridCol w="5737719">
                  <a:extLst>
                    <a:ext uri="{9D8B030D-6E8A-4147-A177-3AD203B41FA5}">
                      <a16:colId xmlns:a16="http://schemas.microsoft.com/office/drawing/2014/main" val="3887999668"/>
                    </a:ext>
                  </a:extLst>
                </a:gridCol>
              </a:tblGrid>
              <a:tr h="483493">
                <a:tc>
                  <a:txBody>
                    <a:bodyPr/>
                    <a:lstStyle/>
                    <a:p>
                      <a:pPr algn="ctr"/>
                      <a:r>
                        <a:rPr lang="en-US" sz="3200" b="1" dirty="0"/>
                        <a:t>BUSINESS PROCESSES</a:t>
                      </a:r>
                    </a:p>
                    <a:p>
                      <a:pPr algn="ctr"/>
                      <a:r>
                        <a:rPr lang="en-US" sz="3200" b="1" dirty="0"/>
                        <a:t>JOB FUNCTIONS</a:t>
                      </a:r>
                    </a:p>
                  </a:txBody>
                  <a:tcPr/>
                </a:tc>
                <a:extLst>
                  <a:ext uri="{0D108BD9-81ED-4DB2-BD59-A6C34878D82A}">
                    <a16:rowId xmlns:a16="http://schemas.microsoft.com/office/drawing/2014/main" val="1324454018"/>
                  </a:ext>
                </a:extLst>
              </a:tr>
              <a:tr h="1246241">
                <a:tc>
                  <a:txBody>
                    <a:bodyPr/>
                    <a:lstStyle/>
                    <a:p>
                      <a:pPr algn="ctr"/>
                      <a:endParaRPr lang="en-US" sz="1600" b="1" dirty="0"/>
                    </a:p>
                    <a:p>
                      <a:pPr algn="ctr"/>
                      <a:r>
                        <a:rPr lang="en-US" sz="2000" b="1" dirty="0"/>
                        <a:t>SKILL/CAREER- ALL ISO CERTIFICATIONS, STANDARDIZATION CERTIFICATIONS (SIX SIGMA, COBIT ETC) FLOWCHART DRAFTING SKILLS, ALGORITHM DRAFTING SKILLS, ACCOUNTING, IT ENTERPRISE PLATFORM (ERP).</a:t>
                      </a:r>
                      <a:br>
                        <a:rPr lang="en-US" sz="2000" b="1" dirty="0"/>
                      </a:br>
                      <a:endParaRPr lang="en-US" sz="2000" b="1" dirty="0"/>
                    </a:p>
                  </a:txBody>
                  <a:tcPr/>
                </a:tc>
                <a:extLst>
                  <a:ext uri="{0D108BD9-81ED-4DB2-BD59-A6C34878D82A}">
                    <a16:rowId xmlns:a16="http://schemas.microsoft.com/office/drawing/2014/main" val="682039194"/>
                  </a:ext>
                </a:extLst>
              </a:tr>
            </a:tbl>
          </a:graphicData>
        </a:graphic>
      </p:graphicFrame>
      <p:graphicFrame>
        <p:nvGraphicFramePr>
          <p:cNvPr id="31" name="Table 7">
            <a:extLst>
              <a:ext uri="{FF2B5EF4-FFF2-40B4-BE49-F238E27FC236}">
                <a16:creationId xmlns:a16="http://schemas.microsoft.com/office/drawing/2014/main" id="{E586CEB7-6CC9-481E-A684-3FDB61C71AF2}"/>
              </a:ext>
            </a:extLst>
          </p:cNvPr>
          <p:cNvGraphicFramePr>
            <a:graphicFrameLocks noGrp="1"/>
          </p:cNvGraphicFramePr>
          <p:nvPr/>
        </p:nvGraphicFramePr>
        <p:xfrm>
          <a:off x="4726003" y="5009818"/>
          <a:ext cx="5926384" cy="1158240"/>
        </p:xfrm>
        <a:graphic>
          <a:graphicData uri="http://schemas.openxmlformats.org/drawingml/2006/table">
            <a:tbl>
              <a:tblPr firstRow="1" bandRow="1">
                <a:tableStyleId>{5C22544A-7EE6-4342-B048-85BDC9FD1C3A}</a:tableStyleId>
              </a:tblPr>
              <a:tblGrid>
                <a:gridCol w="2963192">
                  <a:extLst>
                    <a:ext uri="{9D8B030D-6E8A-4147-A177-3AD203B41FA5}">
                      <a16:colId xmlns:a16="http://schemas.microsoft.com/office/drawing/2014/main" val="1028654853"/>
                    </a:ext>
                  </a:extLst>
                </a:gridCol>
                <a:gridCol w="2963192">
                  <a:extLst>
                    <a:ext uri="{9D8B030D-6E8A-4147-A177-3AD203B41FA5}">
                      <a16:colId xmlns:a16="http://schemas.microsoft.com/office/drawing/2014/main" val="2159636558"/>
                    </a:ext>
                  </a:extLst>
                </a:gridCol>
              </a:tblGrid>
              <a:tr h="370840">
                <a:tc>
                  <a:txBody>
                    <a:bodyPr/>
                    <a:lstStyle/>
                    <a:p>
                      <a:pPr algn="ctr"/>
                      <a:r>
                        <a:rPr lang="en-US" dirty="0">
                          <a:solidFill>
                            <a:srgbClr val="C00000"/>
                          </a:solidFill>
                        </a:rPr>
                        <a:t>INSIGHT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400" dirty="0">
                          <a:solidFill>
                            <a:srgbClr val="C00000"/>
                          </a:solidFill>
                        </a:rPr>
                        <a:t>SEEK AN UPGRADE COMBO WITH PERSONNEL, PARTNER AND TARGET MARKET SKILL SETS AND NOTE, MULTI INDUSTRY EXPERIENCE IS AN ADDED BONUS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823397659"/>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1306286" y="769258"/>
            <a:ext cx="3207657" cy="5312228"/>
            <a:chOff x="1306286" y="769258"/>
            <a:chExt cx="3207657" cy="5312228"/>
          </a:xfrm>
        </p:grpSpPr>
        <p:sp>
          <p:nvSpPr>
            <p:cNvPr id="2" name="Rounded Rectangle 1"/>
            <p:cNvSpPr/>
            <p:nvPr/>
          </p:nvSpPr>
          <p:spPr>
            <a:xfrm>
              <a:off x="1306286" y="783771"/>
              <a:ext cx="3207657" cy="5297715"/>
            </a:xfrm>
            <a:prstGeom prst="roundRect">
              <a:avLst/>
            </a:prstGeom>
            <a:solidFill>
              <a:schemeClr val="bg1"/>
            </a:solidFill>
            <a:ln w="76200">
              <a:solidFill>
                <a:schemeClr val="bg1">
                  <a:lumMod val="6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 Same Side Corner Rectangle 2"/>
            <p:cNvSpPr/>
            <p:nvPr/>
          </p:nvSpPr>
          <p:spPr>
            <a:xfrm>
              <a:off x="1306286" y="769258"/>
              <a:ext cx="3207657" cy="1146626"/>
            </a:xfrm>
            <a:prstGeom prst="round2SameRect">
              <a:avLst/>
            </a:prstGeom>
            <a:solidFill>
              <a:srgbClr val="92D050"/>
            </a:solidFill>
            <a:ln w="762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R BONNIE" pitchFamily="2" charset="0"/>
                </a:rPr>
                <a:t>PLATFORM</a:t>
              </a:r>
            </a:p>
          </p:txBody>
        </p:sp>
      </p:grpSp>
      <p:sp>
        <p:nvSpPr>
          <p:cNvPr id="12" name="TextBox 11"/>
          <p:cNvSpPr txBox="1"/>
          <p:nvPr/>
        </p:nvSpPr>
        <p:spPr>
          <a:xfrm>
            <a:off x="1341913" y="1947948"/>
            <a:ext cx="3146960" cy="507831"/>
          </a:xfrm>
          <a:prstGeom prst="rect">
            <a:avLst/>
          </a:prstGeom>
          <a:noFill/>
        </p:spPr>
        <p:txBody>
          <a:bodyPr wrap="square" rtlCol="0">
            <a:spAutoFit/>
          </a:bodyPr>
          <a:lstStyle/>
          <a:p>
            <a:pPr algn="ctr"/>
            <a:r>
              <a:rPr lang="en-US" sz="900" b="1" dirty="0"/>
              <a:t>HOW DO YOU DELIVER YOUR PRODUCTS/SERVICES TO THE CLIENT/CUSTOMER?</a:t>
            </a:r>
          </a:p>
          <a:p>
            <a:pPr algn="ctr"/>
            <a:r>
              <a:rPr lang="en-US" sz="900" b="1" dirty="0"/>
              <a:t>WORKSPACE I CHANNELS I LOGISTICS I NETWORKS I LAST MILE</a:t>
            </a:r>
          </a:p>
        </p:txBody>
      </p:sp>
      <p:sp>
        <p:nvSpPr>
          <p:cNvPr id="19" name="TextBox 18"/>
          <p:cNvSpPr txBox="1"/>
          <p:nvPr/>
        </p:nvSpPr>
        <p:spPr>
          <a:xfrm>
            <a:off x="1733797" y="2516694"/>
            <a:ext cx="760006" cy="400110"/>
          </a:xfrm>
          <a:prstGeom prst="rect">
            <a:avLst/>
          </a:prstGeom>
          <a:noFill/>
        </p:spPr>
        <p:txBody>
          <a:bodyPr wrap="square" rtlCol="0">
            <a:spAutoFit/>
          </a:bodyPr>
          <a:lstStyle/>
          <a:p>
            <a:pPr algn="ctr"/>
            <a:r>
              <a:rPr lang="en-US" sz="2000" b="1" dirty="0"/>
              <a:t>+10</a:t>
            </a:r>
            <a:endParaRPr lang="en-US" sz="2800" b="1" dirty="0"/>
          </a:p>
        </p:txBody>
      </p:sp>
      <p:sp>
        <p:nvSpPr>
          <p:cNvPr id="23" name="Hexagon 22"/>
          <p:cNvSpPr/>
          <p:nvPr/>
        </p:nvSpPr>
        <p:spPr>
          <a:xfrm>
            <a:off x="2506484" y="2875559"/>
            <a:ext cx="592182" cy="559588"/>
          </a:xfrm>
          <a:prstGeom prst="hexagon">
            <a:avLst/>
          </a:prstGeom>
          <a:solidFill>
            <a:srgbClr val="00B050"/>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7" name="Table 36"/>
          <p:cNvGraphicFramePr>
            <a:graphicFrameLocks noGrp="1"/>
          </p:cNvGraphicFramePr>
          <p:nvPr/>
        </p:nvGraphicFramePr>
        <p:xfrm>
          <a:off x="1983178" y="3541502"/>
          <a:ext cx="1710048" cy="1265609"/>
        </p:xfrm>
        <a:graphic>
          <a:graphicData uri="http://schemas.openxmlformats.org/drawingml/2006/table">
            <a:tbl>
              <a:tblPr firstRow="1" bandRow="1">
                <a:tableStyleId>{5C22544A-7EE6-4342-B048-85BDC9FD1C3A}</a:tableStyleId>
              </a:tblPr>
              <a:tblGrid>
                <a:gridCol w="570016">
                  <a:extLst>
                    <a:ext uri="{9D8B030D-6E8A-4147-A177-3AD203B41FA5}">
                      <a16:colId xmlns:a16="http://schemas.microsoft.com/office/drawing/2014/main" val="20000"/>
                    </a:ext>
                  </a:extLst>
                </a:gridCol>
                <a:gridCol w="570016">
                  <a:extLst>
                    <a:ext uri="{9D8B030D-6E8A-4147-A177-3AD203B41FA5}">
                      <a16:colId xmlns:a16="http://schemas.microsoft.com/office/drawing/2014/main" val="20001"/>
                    </a:ext>
                  </a:extLst>
                </a:gridCol>
                <a:gridCol w="570016">
                  <a:extLst>
                    <a:ext uri="{9D8B030D-6E8A-4147-A177-3AD203B41FA5}">
                      <a16:colId xmlns:a16="http://schemas.microsoft.com/office/drawing/2014/main" val="20002"/>
                    </a:ext>
                  </a:extLst>
                </a:gridCol>
              </a:tblGrid>
              <a:tr h="198809">
                <a:tc gridSpan="2">
                  <a:txBody>
                    <a:bodyPr/>
                    <a:lstStyle/>
                    <a:p>
                      <a:pPr algn="ctr"/>
                      <a:r>
                        <a:rPr lang="en-US" sz="600" b="1" dirty="0">
                          <a:solidFill>
                            <a:schemeClr val="tx1"/>
                          </a:solidFill>
                        </a:rPr>
                        <a:t>RISK WEIGHT PENALTY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600" b="1" dirty="0">
                          <a:solidFill>
                            <a:schemeClr val="tx1"/>
                          </a:solidFill>
                        </a:rPr>
                        <a:t>RISK SCORE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198809">
                <a:tc>
                  <a:txBody>
                    <a:bodyPr/>
                    <a:lstStyle/>
                    <a:p>
                      <a:pPr algn="ctr"/>
                      <a:r>
                        <a:rPr lang="en-US" sz="800" b="1" dirty="0">
                          <a:solidFill>
                            <a:schemeClr val="tx1"/>
                          </a:solidFill>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US" sz="800" b="1" dirty="0">
                          <a:solidFill>
                            <a:schemeClr val="tx1"/>
                          </a:solidFill>
                        </a:rPr>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US" sz="800" b="1"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10001"/>
                  </a:ext>
                </a:extLst>
              </a:tr>
              <a:tr h="198809">
                <a:tc>
                  <a:txBody>
                    <a:bodyPr/>
                    <a:lstStyle/>
                    <a:p>
                      <a:pPr algn="ctr"/>
                      <a:r>
                        <a:rPr lang="en-US" sz="800" b="1"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US" sz="800" b="1" dirty="0">
                          <a:solidFill>
                            <a:schemeClr val="tx1"/>
                          </a:solidFill>
                        </a:rPr>
                        <a:t>-40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US" sz="800" b="1"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10002"/>
                  </a:ext>
                </a:extLst>
              </a:tr>
              <a:tr h="198809">
                <a:tc>
                  <a:txBody>
                    <a:bodyPr/>
                    <a:lstStyle/>
                    <a:p>
                      <a:pPr algn="ctr"/>
                      <a:r>
                        <a:rPr lang="en-US" sz="800" b="1"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sz="800" b="1" dirty="0">
                          <a:solidFill>
                            <a:schemeClr val="tx1"/>
                          </a:solidFill>
                        </a:rPr>
                        <a:t>-30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sz="800" b="1"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3"/>
                  </a:ext>
                </a:extLst>
              </a:tr>
              <a:tr h="198809">
                <a:tc>
                  <a:txBody>
                    <a:bodyPr/>
                    <a:lstStyle/>
                    <a:p>
                      <a:pPr algn="ctr"/>
                      <a:r>
                        <a:rPr lang="en-US" sz="800" b="1"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sz="800" b="1" dirty="0">
                          <a:solidFill>
                            <a:schemeClr val="tx1"/>
                          </a:solidFill>
                        </a:rPr>
                        <a:t>-20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sz="800" b="1"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4"/>
                  </a:ext>
                </a:extLst>
              </a:tr>
              <a:tr h="198809">
                <a:tc>
                  <a:txBody>
                    <a:bodyPr/>
                    <a:lstStyle/>
                    <a:p>
                      <a:pPr algn="ctr"/>
                      <a:r>
                        <a:rPr lang="en-US" sz="800" b="1"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800" b="1"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800" b="1"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005"/>
                  </a:ext>
                </a:extLst>
              </a:tr>
            </a:tbl>
          </a:graphicData>
        </a:graphic>
      </p:graphicFrame>
      <p:grpSp>
        <p:nvGrpSpPr>
          <p:cNvPr id="20" name="Group 19">
            <a:extLst>
              <a:ext uri="{FF2B5EF4-FFF2-40B4-BE49-F238E27FC236}">
                <a16:creationId xmlns:a16="http://schemas.microsoft.com/office/drawing/2014/main" id="{6C5DF65F-20E8-444C-901F-1CE45A6E777E}"/>
              </a:ext>
            </a:extLst>
          </p:cNvPr>
          <p:cNvGrpSpPr/>
          <p:nvPr/>
        </p:nvGrpSpPr>
        <p:grpSpPr>
          <a:xfrm>
            <a:off x="2075402" y="4972302"/>
            <a:ext cx="2209365" cy="1039791"/>
            <a:chOff x="2075402" y="4897871"/>
            <a:chExt cx="2209365" cy="1039791"/>
          </a:xfrm>
        </p:grpSpPr>
        <p:grpSp>
          <p:nvGrpSpPr>
            <p:cNvPr id="21" name="Group 20">
              <a:extLst>
                <a:ext uri="{FF2B5EF4-FFF2-40B4-BE49-F238E27FC236}">
                  <a16:creationId xmlns:a16="http://schemas.microsoft.com/office/drawing/2014/main" id="{77513255-86AF-4741-9FE2-E6520B02FDC4}"/>
                </a:ext>
              </a:extLst>
            </p:cNvPr>
            <p:cNvGrpSpPr/>
            <p:nvPr/>
          </p:nvGrpSpPr>
          <p:grpSpPr>
            <a:xfrm>
              <a:off x="2303799" y="5531922"/>
              <a:ext cx="1971316" cy="405740"/>
              <a:chOff x="1888174" y="5520047"/>
              <a:chExt cx="1971316" cy="405740"/>
            </a:xfrm>
          </p:grpSpPr>
          <p:sp>
            <p:nvSpPr>
              <p:cNvPr id="44" name="Oval 43">
                <a:extLst>
                  <a:ext uri="{FF2B5EF4-FFF2-40B4-BE49-F238E27FC236}">
                    <a16:creationId xmlns:a16="http://schemas.microsoft.com/office/drawing/2014/main" id="{1C14E529-EC20-44C8-8624-CC12BE378FA2}"/>
                  </a:ext>
                </a:extLst>
              </p:cNvPr>
              <p:cNvSpPr/>
              <p:nvPr/>
            </p:nvSpPr>
            <p:spPr>
              <a:xfrm>
                <a:off x="1888174" y="5617028"/>
                <a:ext cx="285008" cy="308759"/>
              </a:xfrm>
              <a:prstGeom prst="ellipse">
                <a:avLst/>
              </a:prstGeom>
              <a:solidFill>
                <a:srgbClr val="00B050"/>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724D6C4C-B08C-4D5D-B9DA-522EB549186E}"/>
                  </a:ext>
                </a:extLst>
              </p:cNvPr>
              <p:cNvSpPr/>
              <p:nvPr/>
            </p:nvSpPr>
            <p:spPr>
              <a:xfrm>
                <a:off x="2040572" y="5520047"/>
                <a:ext cx="285008" cy="308759"/>
              </a:xfrm>
              <a:prstGeom prst="ellipse">
                <a:avLst/>
              </a:prstGeom>
              <a:solidFill>
                <a:srgbClr val="7030A0"/>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B4BAD697-D176-4D25-A65D-91B939732879}"/>
                  </a:ext>
                </a:extLst>
              </p:cNvPr>
              <p:cNvSpPr/>
              <p:nvPr/>
            </p:nvSpPr>
            <p:spPr>
              <a:xfrm>
                <a:off x="2157350" y="5613069"/>
                <a:ext cx="285008" cy="308759"/>
              </a:xfrm>
              <a:prstGeom prst="ellipse">
                <a:avLst/>
              </a:prstGeom>
              <a:solidFill>
                <a:srgbClr val="00B050"/>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Equal 38">
                <a:extLst>
                  <a:ext uri="{FF2B5EF4-FFF2-40B4-BE49-F238E27FC236}">
                    <a16:creationId xmlns:a16="http://schemas.microsoft.com/office/drawing/2014/main" id="{098454D8-D788-470B-8808-0372ABCCC479}"/>
                  </a:ext>
                </a:extLst>
              </p:cNvPr>
              <p:cNvSpPr/>
              <p:nvPr/>
            </p:nvSpPr>
            <p:spPr>
              <a:xfrm>
                <a:off x="2493815" y="5617027"/>
                <a:ext cx="320636" cy="237507"/>
              </a:xfrm>
              <a:prstGeom prst="mathEqual">
                <a:avLst/>
              </a:prstGeom>
              <a:solidFill>
                <a:schemeClr val="tx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8" name="TextBox 47">
                <a:extLst>
                  <a:ext uri="{FF2B5EF4-FFF2-40B4-BE49-F238E27FC236}">
                    <a16:creationId xmlns:a16="http://schemas.microsoft.com/office/drawing/2014/main" id="{B37D86A1-E5DE-4B0E-9776-03AB436D7CC8}"/>
                  </a:ext>
                </a:extLst>
              </p:cNvPr>
              <p:cNvSpPr txBox="1"/>
              <p:nvPr/>
            </p:nvSpPr>
            <p:spPr>
              <a:xfrm>
                <a:off x="2826327" y="5572188"/>
                <a:ext cx="1033163" cy="338554"/>
              </a:xfrm>
              <a:prstGeom prst="rect">
                <a:avLst/>
              </a:prstGeom>
              <a:noFill/>
            </p:spPr>
            <p:txBody>
              <a:bodyPr wrap="square" rtlCol="0">
                <a:spAutoFit/>
              </a:bodyPr>
              <a:lstStyle/>
              <a:p>
                <a:r>
                  <a:rPr lang="en-US" sz="1600" b="1" dirty="0"/>
                  <a:t>x3</a:t>
                </a:r>
              </a:p>
            </p:txBody>
          </p:sp>
        </p:grpSp>
        <p:sp>
          <p:nvSpPr>
            <p:cNvPr id="22" name="TextBox 21">
              <a:extLst>
                <a:ext uri="{FF2B5EF4-FFF2-40B4-BE49-F238E27FC236}">
                  <a16:creationId xmlns:a16="http://schemas.microsoft.com/office/drawing/2014/main" id="{AE5A7ABA-7B63-43F4-ABA3-724A4AC9B4A1}"/>
                </a:ext>
              </a:extLst>
            </p:cNvPr>
            <p:cNvSpPr txBox="1"/>
            <p:nvPr/>
          </p:nvSpPr>
          <p:spPr>
            <a:xfrm>
              <a:off x="2075402" y="5053411"/>
              <a:ext cx="757135" cy="246221"/>
            </a:xfrm>
            <a:prstGeom prst="rect">
              <a:avLst/>
            </a:prstGeom>
            <a:noFill/>
          </p:spPr>
          <p:txBody>
            <a:bodyPr wrap="square" rtlCol="0">
              <a:spAutoFit/>
            </a:bodyPr>
            <a:lstStyle/>
            <a:p>
              <a:pPr algn="ctr"/>
              <a:r>
                <a:rPr lang="en-US" sz="1000" b="1" dirty="0"/>
                <a:t>KEY:  </a:t>
              </a:r>
            </a:p>
          </p:txBody>
        </p:sp>
        <p:grpSp>
          <p:nvGrpSpPr>
            <p:cNvPr id="25" name="Group 24">
              <a:extLst>
                <a:ext uri="{FF2B5EF4-FFF2-40B4-BE49-F238E27FC236}">
                  <a16:creationId xmlns:a16="http://schemas.microsoft.com/office/drawing/2014/main" id="{BA620680-3558-4EE7-894B-99DBB7BF2B40}"/>
                </a:ext>
              </a:extLst>
            </p:cNvPr>
            <p:cNvGrpSpPr/>
            <p:nvPr/>
          </p:nvGrpSpPr>
          <p:grpSpPr>
            <a:xfrm>
              <a:off x="3301101" y="4897871"/>
              <a:ext cx="332707" cy="314159"/>
              <a:chOff x="2002600" y="3176050"/>
              <a:chExt cx="1171575" cy="895350"/>
            </a:xfrm>
            <a:effectLst>
              <a:outerShdw blurRad="50800" dist="38100" dir="2700000" algn="tl" rotWithShape="0">
                <a:prstClr val="black">
                  <a:alpha val="40000"/>
                </a:prstClr>
              </a:outerShdw>
            </a:effectLst>
          </p:grpSpPr>
          <p:sp>
            <p:nvSpPr>
              <p:cNvPr id="42" name="Hexagon 41">
                <a:extLst>
                  <a:ext uri="{FF2B5EF4-FFF2-40B4-BE49-F238E27FC236}">
                    <a16:creationId xmlns:a16="http://schemas.microsoft.com/office/drawing/2014/main" id="{7CBCC649-0034-4A65-B68F-D4722A48F2F0}"/>
                  </a:ext>
                </a:extLst>
              </p:cNvPr>
              <p:cNvSpPr/>
              <p:nvPr/>
            </p:nvSpPr>
            <p:spPr>
              <a:xfrm>
                <a:off x="2002600" y="3176050"/>
                <a:ext cx="628650" cy="581025"/>
              </a:xfrm>
              <a:prstGeom prst="hexagon">
                <a:avLst/>
              </a:prstGeom>
              <a:solidFill>
                <a:schemeClr val="tx1"/>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Hexagon 42">
                <a:extLst>
                  <a:ext uri="{FF2B5EF4-FFF2-40B4-BE49-F238E27FC236}">
                    <a16:creationId xmlns:a16="http://schemas.microsoft.com/office/drawing/2014/main" id="{04A5FE95-C103-45C9-820C-BFE4BBF6A9B3}"/>
                  </a:ext>
                </a:extLst>
              </p:cNvPr>
              <p:cNvSpPr/>
              <p:nvPr/>
            </p:nvSpPr>
            <p:spPr>
              <a:xfrm>
                <a:off x="2545525" y="3490375"/>
                <a:ext cx="628650" cy="581025"/>
              </a:xfrm>
              <a:prstGeom prst="hexagon">
                <a:avLst/>
              </a:prstGeom>
              <a:solidFill>
                <a:srgbClr val="00B0F0"/>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 name="Group 25">
              <a:extLst>
                <a:ext uri="{FF2B5EF4-FFF2-40B4-BE49-F238E27FC236}">
                  <a16:creationId xmlns:a16="http://schemas.microsoft.com/office/drawing/2014/main" id="{2C105E3A-CE55-41B6-9484-FA146F01E8DA}"/>
                </a:ext>
              </a:extLst>
            </p:cNvPr>
            <p:cNvGrpSpPr/>
            <p:nvPr/>
          </p:nvGrpSpPr>
          <p:grpSpPr>
            <a:xfrm>
              <a:off x="3952060" y="4904422"/>
              <a:ext cx="332707" cy="317501"/>
              <a:chOff x="2545525" y="3166525"/>
              <a:chExt cx="1171575" cy="904875"/>
            </a:xfrm>
            <a:effectLst>
              <a:outerShdw blurRad="50800" dist="38100" dir="2700000" algn="tl" rotWithShape="0">
                <a:prstClr val="black">
                  <a:alpha val="40000"/>
                </a:prstClr>
              </a:outerShdw>
            </a:effectLst>
          </p:grpSpPr>
          <p:sp>
            <p:nvSpPr>
              <p:cNvPr id="40" name="Hexagon 39">
                <a:extLst>
                  <a:ext uri="{FF2B5EF4-FFF2-40B4-BE49-F238E27FC236}">
                    <a16:creationId xmlns:a16="http://schemas.microsoft.com/office/drawing/2014/main" id="{E2994785-9007-475B-AC57-AA5D6F45BBE2}"/>
                  </a:ext>
                </a:extLst>
              </p:cNvPr>
              <p:cNvSpPr/>
              <p:nvPr/>
            </p:nvSpPr>
            <p:spPr>
              <a:xfrm>
                <a:off x="3088450" y="3166525"/>
                <a:ext cx="628650" cy="581025"/>
              </a:xfrm>
              <a:prstGeom prst="hexagon">
                <a:avLst/>
              </a:prstGeom>
              <a:solidFill>
                <a:srgbClr val="FFFF00"/>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Hexagon 40">
                <a:extLst>
                  <a:ext uri="{FF2B5EF4-FFF2-40B4-BE49-F238E27FC236}">
                    <a16:creationId xmlns:a16="http://schemas.microsoft.com/office/drawing/2014/main" id="{F0BF3C10-A397-4692-BED7-7663204B3DDF}"/>
                  </a:ext>
                </a:extLst>
              </p:cNvPr>
              <p:cNvSpPr/>
              <p:nvPr/>
            </p:nvSpPr>
            <p:spPr>
              <a:xfrm>
                <a:off x="2545525" y="3490375"/>
                <a:ext cx="628650" cy="581025"/>
              </a:xfrm>
              <a:prstGeom prst="hexagon">
                <a:avLst/>
              </a:prstGeom>
              <a:solidFill>
                <a:srgbClr val="00B0F0"/>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7" name="TextBox 26">
              <a:extLst>
                <a:ext uri="{FF2B5EF4-FFF2-40B4-BE49-F238E27FC236}">
                  <a16:creationId xmlns:a16="http://schemas.microsoft.com/office/drawing/2014/main" id="{5A06293A-E210-4EF1-BE02-D27CC2793C73}"/>
                </a:ext>
              </a:extLst>
            </p:cNvPr>
            <p:cNvSpPr txBox="1"/>
            <p:nvPr/>
          </p:nvSpPr>
          <p:spPr>
            <a:xfrm>
              <a:off x="3633594" y="4950769"/>
              <a:ext cx="356260" cy="261610"/>
            </a:xfrm>
            <a:prstGeom prst="rect">
              <a:avLst/>
            </a:prstGeom>
            <a:noFill/>
          </p:spPr>
          <p:txBody>
            <a:bodyPr wrap="square" rtlCol="0">
              <a:spAutoFit/>
            </a:bodyPr>
            <a:lstStyle/>
            <a:p>
              <a:r>
                <a:rPr lang="en-US" sz="1050" b="1" dirty="0"/>
                <a:t>OR</a:t>
              </a:r>
            </a:p>
          </p:txBody>
        </p:sp>
        <p:grpSp>
          <p:nvGrpSpPr>
            <p:cNvPr id="28" name="Group 27">
              <a:extLst>
                <a:ext uri="{FF2B5EF4-FFF2-40B4-BE49-F238E27FC236}">
                  <a16:creationId xmlns:a16="http://schemas.microsoft.com/office/drawing/2014/main" id="{5EE596FF-ABE0-4F5A-A8E3-CDA83599A655}"/>
                </a:ext>
              </a:extLst>
            </p:cNvPr>
            <p:cNvGrpSpPr/>
            <p:nvPr/>
          </p:nvGrpSpPr>
          <p:grpSpPr>
            <a:xfrm>
              <a:off x="2702017" y="4932637"/>
              <a:ext cx="486889" cy="317501"/>
              <a:chOff x="2002600" y="3166525"/>
              <a:chExt cx="1714500" cy="904875"/>
            </a:xfrm>
            <a:effectLst>
              <a:outerShdw blurRad="50800" dist="38100" dir="2700000" algn="tl" rotWithShape="0">
                <a:prstClr val="black">
                  <a:alpha val="40000"/>
                </a:prstClr>
              </a:outerShdw>
            </a:effectLst>
          </p:grpSpPr>
          <p:sp>
            <p:nvSpPr>
              <p:cNvPr id="36" name="Hexagon 35">
                <a:extLst>
                  <a:ext uri="{FF2B5EF4-FFF2-40B4-BE49-F238E27FC236}">
                    <a16:creationId xmlns:a16="http://schemas.microsoft.com/office/drawing/2014/main" id="{EBD0DFAA-5198-4040-966C-4D71875D199D}"/>
                  </a:ext>
                </a:extLst>
              </p:cNvPr>
              <p:cNvSpPr/>
              <p:nvPr/>
            </p:nvSpPr>
            <p:spPr>
              <a:xfrm>
                <a:off x="2002600" y="3176050"/>
                <a:ext cx="628650" cy="581025"/>
              </a:xfrm>
              <a:prstGeom prst="hexagon">
                <a:avLst/>
              </a:prstGeom>
              <a:solidFill>
                <a:schemeClr val="tx1"/>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Hexagon 37">
                <a:extLst>
                  <a:ext uri="{FF2B5EF4-FFF2-40B4-BE49-F238E27FC236}">
                    <a16:creationId xmlns:a16="http://schemas.microsoft.com/office/drawing/2014/main" id="{B1889E56-70E7-4651-809A-296C2947957E}"/>
                  </a:ext>
                </a:extLst>
              </p:cNvPr>
              <p:cNvSpPr/>
              <p:nvPr/>
            </p:nvSpPr>
            <p:spPr>
              <a:xfrm>
                <a:off x="3088450" y="3166525"/>
                <a:ext cx="628650" cy="581025"/>
              </a:xfrm>
              <a:prstGeom prst="hexagon">
                <a:avLst/>
              </a:prstGeom>
              <a:solidFill>
                <a:srgbClr val="FFFF00"/>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Hexagon 38">
                <a:extLst>
                  <a:ext uri="{FF2B5EF4-FFF2-40B4-BE49-F238E27FC236}">
                    <a16:creationId xmlns:a16="http://schemas.microsoft.com/office/drawing/2014/main" id="{EFA8BED2-2513-499E-A7A9-C90F2E4BB2AB}"/>
                  </a:ext>
                </a:extLst>
              </p:cNvPr>
              <p:cNvSpPr/>
              <p:nvPr/>
            </p:nvSpPr>
            <p:spPr>
              <a:xfrm>
                <a:off x="2545525" y="3490375"/>
                <a:ext cx="628650" cy="581025"/>
              </a:xfrm>
              <a:prstGeom prst="hexagon">
                <a:avLst/>
              </a:prstGeom>
              <a:solidFill>
                <a:srgbClr val="00B0F0"/>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aphicFrame>
        <p:nvGraphicFramePr>
          <p:cNvPr id="49" name="Table 6">
            <a:extLst>
              <a:ext uri="{FF2B5EF4-FFF2-40B4-BE49-F238E27FC236}">
                <a16:creationId xmlns:a16="http://schemas.microsoft.com/office/drawing/2014/main" id="{66378C1E-6D46-4C1B-9D0C-3EC96C85E188}"/>
              </a:ext>
            </a:extLst>
          </p:cNvPr>
          <p:cNvGraphicFramePr>
            <a:graphicFrameLocks noGrp="1"/>
          </p:cNvGraphicFramePr>
          <p:nvPr/>
        </p:nvGraphicFramePr>
        <p:xfrm>
          <a:off x="4830969" y="719665"/>
          <a:ext cx="5737719" cy="3749040"/>
        </p:xfrm>
        <a:graphic>
          <a:graphicData uri="http://schemas.openxmlformats.org/drawingml/2006/table">
            <a:tbl>
              <a:tblPr firstRow="1" bandRow="1">
                <a:tableStyleId>{5940675A-B579-460E-94D1-54222C63F5DA}</a:tableStyleId>
              </a:tblPr>
              <a:tblGrid>
                <a:gridCol w="5737719">
                  <a:extLst>
                    <a:ext uri="{9D8B030D-6E8A-4147-A177-3AD203B41FA5}">
                      <a16:colId xmlns:a16="http://schemas.microsoft.com/office/drawing/2014/main" val="3887999668"/>
                    </a:ext>
                  </a:extLst>
                </a:gridCol>
              </a:tblGrid>
              <a:tr h="483493">
                <a:tc>
                  <a:txBody>
                    <a:bodyPr/>
                    <a:lstStyle/>
                    <a:p>
                      <a:pPr algn="ctr"/>
                      <a:r>
                        <a:rPr lang="en-US" sz="3600" b="1" dirty="0"/>
                        <a:t>PLATFORM </a:t>
                      </a:r>
                    </a:p>
                    <a:p>
                      <a:pPr algn="ctr"/>
                      <a:r>
                        <a:rPr lang="en-US" sz="3600" b="1" dirty="0"/>
                        <a:t>JOB FUNCTIONS</a:t>
                      </a:r>
                    </a:p>
                  </a:txBody>
                  <a:tcPr/>
                </a:tc>
                <a:extLst>
                  <a:ext uri="{0D108BD9-81ED-4DB2-BD59-A6C34878D82A}">
                    <a16:rowId xmlns:a16="http://schemas.microsoft.com/office/drawing/2014/main" val="1324454018"/>
                  </a:ext>
                </a:extLst>
              </a:tr>
              <a:tr h="1246241">
                <a:tc>
                  <a:txBody>
                    <a:bodyPr/>
                    <a:lstStyle/>
                    <a:p>
                      <a:pPr algn="ctr"/>
                      <a:endParaRPr lang="en-US" sz="1800" b="1" dirty="0"/>
                    </a:p>
                    <a:p>
                      <a:pPr algn="ctr"/>
                      <a:r>
                        <a:rPr lang="en-US" sz="2400" b="1" dirty="0"/>
                        <a:t>SKILL/CAREER- WEBSITE DESIGN, IT APPLICATIONS, UX/MARKETING, UI, GRAPHIC DESIGN, ALGORITHM DRAFTING, PROGRAMMING, DATABASE ARCHITECTURE &amp; ENGINEERING</a:t>
                      </a:r>
                      <a:br>
                        <a:rPr lang="en-US" sz="2400" b="1" dirty="0"/>
                      </a:br>
                      <a:endParaRPr lang="en-US" sz="2400" b="1" dirty="0"/>
                    </a:p>
                  </a:txBody>
                  <a:tcPr/>
                </a:tc>
                <a:extLst>
                  <a:ext uri="{0D108BD9-81ED-4DB2-BD59-A6C34878D82A}">
                    <a16:rowId xmlns:a16="http://schemas.microsoft.com/office/drawing/2014/main" val="682039194"/>
                  </a:ext>
                </a:extLst>
              </a:tr>
            </a:tbl>
          </a:graphicData>
        </a:graphic>
      </p:graphicFrame>
      <p:graphicFrame>
        <p:nvGraphicFramePr>
          <p:cNvPr id="29" name="Table 7">
            <a:extLst>
              <a:ext uri="{FF2B5EF4-FFF2-40B4-BE49-F238E27FC236}">
                <a16:creationId xmlns:a16="http://schemas.microsoft.com/office/drawing/2014/main" id="{D2368AC9-D9EA-4E60-A9D8-39EB3D4F2F8A}"/>
              </a:ext>
            </a:extLst>
          </p:cNvPr>
          <p:cNvGraphicFramePr>
            <a:graphicFrameLocks noGrp="1"/>
          </p:cNvGraphicFramePr>
          <p:nvPr/>
        </p:nvGraphicFramePr>
        <p:xfrm>
          <a:off x="4726003" y="5009818"/>
          <a:ext cx="5926384" cy="1158240"/>
        </p:xfrm>
        <a:graphic>
          <a:graphicData uri="http://schemas.openxmlformats.org/drawingml/2006/table">
            <a:tbl>
              <a:tblPr firstRow="1" bandRow="1">
                <a:tableStyleId>{5C22544A-7EE6-4342-B048-85BDC9FD1C3A}</a:tableStyleId>
              </a:tblPr>
              <a:tblGrid>
                <a:gridCol w="2963192">
                  <a:extLst>
                    <a:ext uri="{9D8B030D-6E8A-4147-A177-3AD203B41FA5}">
                      <a16:colId xmlns:a16="http://schemas.microsoft.com/office/drawing/2014/main" val="1028654853"/>
                    </a:ext>
                  </a:extLst>
                </a:gridCol>
                <a:gridCol w="2963192">
                  <a:extLst>
                    <a:ext uri="{9D8B030D-6E8A-4147-A177-3AD203B41FA5}">
                      <a16:colId xmlns:a16="http://schemas.microsoft.com/office/drawing/2014/main" val="2159636558"/>
                    </a:ext>
                  </a:extLst>
                </a:gridCol>
              </a:tblGrid>
              <a:tr h="370840">
                <a:tc>
                  <a:txBody>
                    <a:bodyPr/>
                    <a:lstStyle/>
                    <a:p>
                      <a:pPr algn="ctr"/>
                      <a:r>
                        <a:rPr lang="en-US" dirty="0">
                          <a:solidFill>
                            <a:srgbClr val="C00000"/>
                          </a:solidFill>
                        </a:rPr>
                        <a:t>INSIGHT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400" dirty="0">
                          <a:solidFill>
                            <a:srgbClr val="C00000"/>
                          </a:solidFill>
                        </a:rPr>
                        <a:t>SEEK AN UPGRADE COMBO WITH PRODUCT, SERVICE AND BUSINESS PROCESS SKILL SETS AND NOTE, MULTI INDUSTRY EXPERIENCE IS AN ADDED BONUS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823397659"/>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9813758" cy="1325563"/>
          </a:xfrm>
          <a:solidFill>
            <a:srgbClr val="00B050"/>
          </a:solidFill>
        </p:spPr>
        <p:txBody>
          <a:bodyPr/>
          <a:lstStyle/>
          <a:p>
            <a:r>
              <a:rPr lang="en-US" b="1" dirty="0"/>
              <a:t>GIVE CARDS: SKILL SETS</a:t>
            </a:r>
          </a:p>
        </p:txBody>
      </p:sp>
      <p:sp>
        <p:nvSpPr>
          <p:cNvPr id="3" name="Content Placeholder 2"/>
          <p:cNvSpPr>
            <a:spLocks noGrp="1"/>
          </p:cNvSpPr>
          <p:nvPr>
            <p:ph idx="1"/>
          </p:nvPr>
        </p:nvSpPr>
        <p:spPr>
          <a:xfrm>
            <a:off x="838200" y="1825625"/>
            <a:ext cx="9588062" cy="4351338"/>
          </a:xfrm>
        </p:spPr>
        <p:txBody>
          <a:bodyPr>
            <a:normAutofit fontScale="77500" lnSpcReduction="20000"/>
          </a:bodyPr>
          <a:lstStyle/>
          <a:p>
            <a:r>
              <a:rPr lang="en-US" dirty="0"/>
              <a:t>PRODUCT: Skill/Career- 3d&amp;2d Design, User Interface Design, Architecture, Engineering, Sciences, Manufacturing, Packaging, Health &amp;Safety, Biologist, Physicist, Food Tech, Technical Drawing.</a:t>
            </a:r>
            <a:br>
              <a:rPr lang="en-US" dirty="0"/>
            </a:br>
            <a:br>
              <a:rPr lang="en-US" dirty="0"/>
            </a:br>
            <a:r>
              <a:rPr lang="en-US" dirty="0"/>
              <a:t>SERVICES: Skill/Career- Liberal Arts, Drama, Psychology, Popular Culture, Quality Control, Customer Relationship Management, Social &amp; Traditional Media, User Interface (UI), Communications, Religion, All Customer Service Certifications.</a:t>
            </a:r>
            <a:br>
              <a:rPr lang="en-US" dirty="0"/>
            </a:br>
            <a:br>
              <a:rPr lang="en-US" dirty="0"/>
            </a:br>
            <a:r>
              <a:rPr lang="en-US" dirty="0"/>
              <a:t>BUSINESS PROCESS: Skill/Career- All ISO Certifications, Standardization Certifications (Six Sigma, COBIT Etc) Flowchart Drafting Skills, Algorithm drafting skills, Accounting, IT Enterprise Platform (ERP).</a:t>
            </a:r>
            <a:br>
              <a:rPr lang="en-US" dirty="0"/>
            </a:br>
            <a:br>
              <a:rPr lang="en-US" dirty="0"/>
            </a:br>
            <a:r>
              <a:rPr lang="en-US" dirty="0"/>
              <a:t>PLATFORM: Skill/Career- Website Design, IT Applications, UX/Marketing, UI, Graphic Design, Algorithm Drafting, Programming.</a:t>
            </a:r>
            <a:br>
              <a:rPr lang="en-US" dirty="0"/>
            </a:br>
            <a:br>
              <a:rPr lang="en-US" dirty="0"/>
            </a:br>
            <a:r>
              <a:rPr lang="en-US" dirty="0"/>
              <a:t>CONTENT: Skill/Career- Writing, Copyrighting, Market Communications, Legal, Accounting/</a:t>
            </a:r>
            <a:r>
              <a:rPr lang="en-US" dirty="0" err="1"/>
              <a:t>Financial,Public</a:t>
            </a:r>
            <a:r>
              <a:rPr lang="en-US" dirty="0"/>
              <a:t> Relations.</a:t>
            </a:r>
            <a:br>
              <a:rPr lang="en-US" dirty="0"/>
            </a:br>
            <a:endParaRPr lang="en-US" dirty="0"/>
          </a:p>
        </p:txBody>
      </p:sp>
    </p:spTree>
    <p:extLst>
      <p:ext uri="{BB962C8B-B14F-4D97-AF65-F5344CB8AC3E}">
        <p14:creationId xmlns:p14="http://schemas.microsoft.com/office/powerpoint/2010/main" val="147733498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1306286" y="769258"/>
            <a:ext cx="3207657" cy="5312228"/>
            <a:chOff x="1306286" y="769258"/>
            <a:chExt cx="3207657" cy="5312228"/>
          </a:xfrm>
        </p:grpSpPr>
        <p:sp>
          <p:nvSpPr>
            <p:cNvPr id="2" name="Rounded Rectangle 1"/>
            <p:cNvSpPr/>
            <p:nvPr/>
          </p:nvSpPr>
          <p:spPr>
            <a:xfrm>
              <a:off x="1306286" y="783771"/>
              <a:ext cx="3207657" cy="5297715"/>
            </a:xfrm>
            <a:prstGeom prst="roundRect">
              <a:avLst/>
            </a:prstGeom>
            <a:solidFill>
              <a:schemeClr val="bg1"/>
            </a:solidFill>
            <a:ln w="76200">
              <a:solidFill>
                <a:schemeClr val="bg1">
                  <a:lumMod val="6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 Same Side Corner Rectangle 2"/>
            <p:cNvSpPr/>
            <p:nvPr/>
          </p:nvSpPr>
          <p:spPr>
            <a:xfrm>
              <a:off x="1306286" y="769258"/>
              <a:ext cx="3207657" cy="1146626"/>
            </a:xfrm>
            <a:prstGeom prst="round2SameRect">
              <a:avLst/>
            </a:prstGeom>
            <a:solidFill>
              <a:srgbClr val="00B0F0"/>
            </a:solidFill>
            <a:ln w="762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R BONNIE" pitchFamily="2" charset="0"/>
                </a:rPr>
                <a:t>REVENUE</a:t>
              </a:r>
            </a:p>
          </p:txBody>
        </p:sp>
      </p:grpSp>
      <p:sp>
        <p:nvSpPr>
          <p:cNvPr id="12" name="TextBox 11"/>
          <p:cNvSpPr txBox="1"/>
          <p:nvPr/>
        </p:nvSpPr>
        <p:spPr>
          <a:xfrm>
            <a:off x="1294410" y="1950792"/>
            <a:ext cx="3265715" cy="415498"/>
          </a:xfrm>
          <a:prstGeom prst="rect">
            <a:avLst/>
          </a:prstGeom>
          <a:noFill/>
        </p:spPr>
        <p:txBody>
          <a:bodyPr wrap="square" rtlCol="0">
            <a:spAutoFit/>
          </a:bodyPr>
          <a:lstStyle/>
          <a:p>
            <a:pPr algn="ctr"/>
            <a:r>
              <a:rPr lang="en-US" sz="1000" b="1" dirty="0"/>
              <a:t>HOW DO YOU GENERATE REVENUE?</a:t>
            </a:r>
          </a:p>
          <a:p>
            <a:pPr algn="ctr"/>
            <a:r>
              <a:rPr lang="en-US" sz="1000" b="1" dirty="0"/>
              <a:t>PROFIT </a:t>
            </a:r>
            <a:r>
              <a:rPr lang="en-US" sz="1100" b="1" dirty="0"/>
              <a:t>I</a:t>
            </a:r>
            <a:r>
              <a:rPr lang="en-US" sz="1000" b="1" dirty="0"/>
              <a:t> BUDGETS</a:t>
            </a:r>
            <a:r>
              <a:rPr lang="en-US" sz="1100" b="1" dirty="0"/>
              <a:t> I </a:t>
            </a:r>
            <a:r>
              <a:rPr lang="en-US" sz="1000" b="1" dirty="0"/>
              <a:t>RESERVES </a:t>
            </a:r>
            <a:r>
              <a:rPr lang="en-US" sz="1100" b="1" dirty="0"/>
              <a:t>I</a:t>
            </a:r>
            <a:r>
              <a:rPr lang="en-US" sz="1000" b="1" dirty="0"/>
              <a:t> COSTS</a:t>
            </a:r>
            <a:r>
              <a:rPr lang="en-US" sz="1100" b="1" dirty="0"/>
              <a:t> I </a:t>
            </a:r>
            <a:r>
              <a:rPr lang="en-US" sz="1000" b="1" dirty="0"/>
              <a:t>INVESTMENTS</a:t>
            </a:r>
          </a:p>
        </p:txBody>
      </p:sp>
      <p:sp>
        <p:nvSpPr>
          <p:cNvPr id="13" name="TextBox 12"/>
          <p:cNvSpPr txBox="1"/>
          <p:nvPr/>
        </p:nvSpPr>
        <p:spPr>
          <a:xfrm>
            <a:off x="1900054" y="2453447"/>
            <a:ext cx="736267" cy="400110"/>
          </a:xfrm>
          <a:prstGeom prst="rect">
            <a:avLst/>
          </a:prstGeom>
          <a:noFill/>
        </p:spPr>
        <p:txBody>
          <a:bodyPr wrap="square" rtlCol="0">
            <a:spAutoFit/>
          </a:bodyPr>
          <a:lstStyle/>
          <a:p>
            <a:pPr algn="ctr"/>
            <a:r>
              <a:rPr lang="en-US" sz="2000" b="1" dirty="0"/>
              <a:t>+25</a:t>
            </a:r>
            <a:endParaRPr lang="en-US" sz="2800" b="1" dirty="0"/>
          </a:p>
        </p:txBody>
      </p:sp>
      <p:grpSp>
        <p:nvGrpSpPr>
          <p:cNvPr id="36" name="Group 35"/>
          <p:cNvGrpSpPr/>
          <p:nvPr/>
        </p:nvGrpSpPr>
        <p:grpSpPr>
          <a:xfrm>
            <a:off x="3070211" y="2435037"/>
            <a:ext cx="494604" cy="393799"/>
            <a:chOff x="2404984" y="2565778"/>
            <a:chExt cx="851338" cy="655093"/>
          </a:xfrm>
        </p:grpSpPr>
        <p:sp>
          <p:nvSpPr>
            <p:cNvPr id="37" name="5-Point Star 36"/>
            <p:cNvSpPr/>
            <p:nvPr/>
          </p:nvSpPr>
          <p:spPr>
            <a:xfrm>
              <a:off x="2470246" y="2565778"/>
              <a:ext cx="723330" cy="655093"/>
            </a:xfrm>
            <a:prstGeom prst="star5">
              <a:avLst/>
            </a:prstGeom>
            <a:solidFill>
              <a:srgbClr val="FFFF00"/>
            </a:solidFill>
            <a:ln w="571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dirty="0">
                <a:solidFill>
                  <a:schemeClr val="tx1"/>
                </a:solidFill>
              </a:endParaRPr>
            </a:p>
          </p:txBody>
        </p:sp>
        <p:sp>
          <p:nvSpPr>
            <p:cNvPr id="38" name="TextBox 37"/>
            <p:cNvSpPr txBox="1"/>
            <p:nvPr/>
          </p:nvSpPr>
          <p:spPr>
            <a:xfrm>
              <a:off x="2404984" y="2744777"/>
              <a:ext cx="851338" cy="392421"/>
            </a:xfrm>
            <a:prstGeom prst="rect">
              <a:avLst/>
            </a:prstGeom>
            <a:noFill/>
          </p:spPr>
          <p:txBody>
            <a:bodyPr wrap="square" rtlCol="0">
              <a:spAutoFit/>
            </a:bodyPr>
            <a:lstStyle/>
            <a:p>
              <a:pPr algn="ctr"/>
              <a:r>
                <a:rPr lang="en-US" sz="1100" b="1" dirty="0">
                  <a:solidFill>
                    <a:srgbClr val="FF0000"/>
                  </a:solidFill>
                </a:rPr>
                <a:t>x2</a:t>
              </a:r>
              <a:endParaRPr lang="en-US" sz="1400" b="1" dirty="0">
                <a:solidFill>
                  <a:srgbClr val="FF0000"/>
                </a:solidFill>
              </a:endParaRPr>
            </a:p>
          </p:txBody>
        </p:sp>
      </p:grpSp>
      <p:graphicFrame>
        <p:nvGraphicFramePr>
          <p:cNvPr id="40" name="Table 39"/>
          <p:cNvGraphicFramePr>
            <a:graphicFrameLocks noGrp="1"/>
          </p:cNvGraphicFramePr>
          <p:nvPr/>
        </p:nvGraphicFramePr>
        <p:xfrm>
          <a:off x="2177341" y="4129995"/>
          <a:ext cx="1294410" cy="914400"/>
        </p:xfrm>
        <a:graphic>
          <a:graphicData uri="http://schemas.openxmlformats.org/drawingml/2006/table">
            <a:tbl>
              <a:tblPr firstRow="1" bandRow="1">
                <a:tableStyleId>{5C22544A-7EE6-4342-B048-85BDC9FD1C3A}</a:tableStyleId>
              </a:tblPr>
              <a:tblGrid>
                <a:gridCol w="431470">
                  <a:extLst>
                    <a:ext uri="{9D8B030D-6E8A-4147-A177-3AD203B41FA5}">
                      <a16:colId xmlns:a16="http://schemas.microsoft.com/office/drawing/2014/main" val="20000"/>
                    </a:ext>
                  </a:extLst>
                </a:gridCol>
                <a:gridCol w="431470">
                  <a:extLst>
                    <a:ext uri="{9D8B030D-6E8A-4147-A177-3AD203B41FA5}">
                      <a16:colId xmlns:a16="http://schemas.microsoft.com/office/drawing/2014/main" val="20001"/>
                    </a:ext>
                  </a:extLst>
                </a:gridCol>
                <a:gridCol w="431470">
                  <a:extLst>
                    <a:ext uri="{9D8B030D-6E8A-4147-A177-3AD203B41FA5}">
                      <a16:colId xmlns:a16="http://schemas.microsoft.com/office/drawing/2014/main" val="20002"/>
                    </a:ext>
                  </a:extLst>
                </a:gridCol>
              </a:tblGrid>
              <a:tr h="198809">
                <a:tc gridSpan="2">
                  <a:txBody>
                    <a:bodyPr/>
                    <a:lstStyle/>
                    <a:p>
                      <a:pPr algn="ctr"/>
                      <a:r>
                        <a:rPr lang="en-US" sz="600" b="1" dirty="0">
                          <a:solidFill>
                            <a:schemeClr val="tx1"/>
                          </a:solidFill>
                        </a:rPr>
                        <a:t>RISK WEIGHT PENALTY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600" b="1" dirty="0">
                          <a:solidFill>
                            <a:schemeClr val="tx1"/>
                          </a:solidFill>
                        </a:rPr>
                        <a:t>RISK SCORE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198809">
                <a:tc>
                  <a:txBody>
                    <a:bodyPr/>
                    <a:lstStyle/>
                    <a:p>
                      <a:pPr algn="ctr"/>
                      <a:r>
                        <a:rPr lang="en-US" sz="800" b="1" dirty="0">
                          <a:solidFill>
                            <a:schemeClr val="tx1"/>
                          </a:solidFill>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US" sz="800" b="1" dirty="0">
                          <a:solidFill>
                            <a:schemeClr val="tx1"/>
                          </a:solidFill>
                        </a:rPr>
                        <a:t>-60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US" sz="800" b="1"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10001"/>
                  </a:ext>
                </a:extLst>
              </a:tr>
              <a:tr h="198809">
                <a:tc>
                  <a:txBody>
                    <a:bodyPr/>
                    <a:lstStyle/>
                    <a:p>
                      <a:pPr algn="ctr"/>
                      <a:r>
                        <a:rPr lang="en-US" sz="800" b="1"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sz="800" b="1" dirty="0">
                          <a:solidFill>
                            <a:schemeClr val="tx1"/>
                          </a:solidFill>
                        </a:rPr>
                        <a:t>-40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sz="800" b="1"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2"/>
                  </a:ext>
                </a:extLst>
              </a:tr>
              <a:tr h="198809">
                <a:tc>
                  <a:txBody>
                    <a:bodyPr/>
                    <a:lstStyle/>
                    <a:p>
                      <a:pPr algn="ctr"/>
                      <a:r>
                        <a:rPr lang="en-US" sz="800" b="1"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800" b="1"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800" b="1"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003"/>
                  </a:ext>
                </a:extLst>
              </a:tr>
            </a:tbl>
          </a:graphicData>
        </a:graphic>
      </p:graphicFrame>
      <p:grpSp>
        <p:nvGrpSpPr>
          <p:cNvPr id="25" name="Group 24">
            <a:extLst>
              <a:ext uri="{FF2B5EF4-FFF2-40B4-BE49-F238E27FC236}">
                <a16:creationId xmlns:a16="http://schemas.microsoft.com/office/drawing/2014/main" id="{2006264A-2CDF-429A-85D7-A3F0C316D860}"/>
              </a:ext>
            </a:extLst>
          </p:cNvPr>
          <p:cNvGrpSpPr/>
          <p:nvPr/>
        </p:nvGrpSpPr>
        <p:grpSpPr>
          <a:xfrm>
            <a:off x="2221520" y="2949199"/>
            <a:ext cx="1210460" cy="1069066"/>
            <a:chOff x="2305050" y="3171825"/>
            <a:chExt cx="1066800" cy="1162050"/>
          </a:xfrm>
        </p:grpSpPr>
        <p:sp>
          <p:nvSpPr>
            <p:cNvPr id="26" name="Isosceles Triangle 25">
              <a:extLst>
                <a:ext uri="{FF2B5EF4-FFF2-40B4-BE49-F238E27FC236}">
                  <a16:creationId xmlns:a16="http://schemas.microsoft.com/office/drawing/2014/main" id="{29387753-8861-4094-9275-B1A4F877A6A8}"/>
                </a:ext>
              </a:extLst>
            </p:cNvPr>
            <p:cNvSpPr/>
            <p:nvPr/>
          </p:nvSpPr>
          <p:spPr>
            <a:xfrm>
              <a:off x="2305050" y="3171825"/>
              <a:ext cx="1066800" cy="1162050"/>
            </a:xfrm>
            <a:prstGeom prst="triangle">
              <a:avLst/>
            </a:prstGeom>
            <a:solidFill>
              <a:srgbClr val="00B0F0"/>
            </a:solidFill>
            <a:ln w="38100">
              <a:solidFill>
                <a:srgbClr val="00B0F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Isosceles Triangle 26">
              <a:extLst>
                <a:ext uri="{FF2B5EF4-FFF2-40B4-BE49-F238E27FC236}">
                  <a16:creationId xmlns:a16="http://schemas.microsoft.com/office/drawing/2014/main" id="{569905F2-07AB-45E0-B2D4-318D157623CD}"/>
                </a:ext>
              </a:extLst>
            </p:cNvPr>
            <p:cNvSpPr/>
            <p:nvPr/>
          </p:nvSpPr>
          <p:spPr>
            <a:xfrm>
              <a:off x="2492701" y="3177968"/>
              <a:ext cx="694411" cy="762219"/>
            </a:xfrm>
            <a:prstGeom prst="triangle">
              <a:avLst/>
            </a:prstGeom>
            <a:solidFill>
              <a:schemeClr val="bg1"/>
            </a:solid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Isosceles Triangle 27">
              <a:extLst>
                <a:ext uri="{FF2B5EF4-FFF2-40B4-BE49-F238E27FC236}">
                  <a16:creationId xmlns:a16="http://schemas.microsoft.com/office/drawing/2014/main" id="{4E299073-AA08-4CBD-A932-4F34C8652BEB}"/>
                </a:ext>
              </a:extLst>
            </p:cNvPr>
            <p:cNvSpPr/>
            <p:nvPr/>
          </p:nvSpPr>
          <p:spPr>
            <a:xfrm>
              <a:off x="2649690" y="3175821"/>
              <a:ext cx="366307" cy="402931"/>
            </a:xfrm>
            <a:prstGeom prst="triangle">
              <a:avLst/>
            </a:prstGeom>
            <a:solidFill>
              <a:srgbClr val="00B0F0"/>
            </a:solid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1" name="TextBox 40">
            <a:extLst>
              <a:ext uri="{FF2B5EF4-FFF2-40B4-BE49-F238E27FC236}">
                <a16:creationId xmlns:a16="http://schemas.microsoft.com/office/drawing/2014/main" id="{DA171CB1-2D6F-4234-8600-B798A5828926}"/>
              </a:ext>
            </a:extLst>
          </p:cNvPr>
          <p:cNvSpPr txBox="1"/>
          <p:nvPr/>
        </p:nvSpPr>
        <p:spPr>
          <a:xfrm>
            <a:off x="2852925" y="5263828"/>
            <a:ext cx="438205" cy="246221"/>
          </a:xfrm>
          <a:prstGeom prst="rect">
            <a:avLst/>
          </a:prstGeom>
          <a:noFill/>
        </p:spPr>
        <p:txBody>
          <a:bodyPr wrap="square" rtlCol="0">
            <a:spAutoFit/>
          </a:bodyPr>
          <a:lstStyle/>
          <a:p>
            <a:r>
              <a:rPr lang="en-US" sz="1000" b="1" dirty="0"/>
              <a:t>KEY:  </a:t>
            </a:r>
          </a:p>
        </p:txBody>
      </p:sp>
      <p:grpSp>
        <p:nvGrpSpPr>
          <p:cNvPr id="42" name="Group 41">
            <a:extLst>
              <a:ext uri="{FF2B5EF4-FFF2-40B4-BE49-F238E27FC236}">
                <a16:creationId xmlns:a16="http://schemas.microsoft.com/office/drawing/2014/main" id="{27DF61E3-F269-4F2F-8235-E2D93EC893D7}"/>
              </a:ext>
            </a:extLst>
          </p:cNvPr>
          <p:cNvGrpSpPr/>
          <p:nvPr/>
        </p:nvGrpSpPr>
        <p:grpSpPr>
          <a:xfrm>
            <a:off x="1901728" y="5608539"/>
            <a:ext cx="1971316" cy="405740"/>
            <a:chOff x="1888174" y="5520047"/>
            <a:chExt cx="1971316" cy="405740"/>
          </a:xfrm>
        </p:grpSpPr>
        <p:sp>
          <p:nvSpPr>
            <p:cNvPr id="48" name="Oval 47">
              <a:extLst>
                <a:ext uri="{FF2B5EF4-FFF2-40B4-BE49-F238E27FC236}">
                  <a16:creationId xmlns:a16="http://schemas.microsoft.com/office/drawing/2014/main" id="{6981F093-ADA6-4F69-BE0B-96617FC3E53D}"/>
                </a:ext>
              </a:extLst>
            </p:cNvPr>
            <p:cNvSpPr/>
            <p:nvPr/>
          </p:nvSpPr>
          <p:spPr>
            <a:xfrm>
              <a:off x="1888174" y="5617028"/>
              <a:ext cx="285008" cy="308759"/>
            </a:xfrm>
            <a:prstGeom prst="ellipse">
              <a:avLst/>
            </a:prstGeom>
            <a:solidFill>
              <a:srgbClr val="00B0F0"/>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FE76B2A5-794F-4107-92CD-69AA63004BB0}"/>
                </a:ext>
              </a:extLst>
            </p:cNvPr>
            <p:cNvSpPr/>
            <p:nvPr/>
          </p:nvSpPr>
          <p:spPr>
            <a:xfrm>
              <a:off x="2040572" y="5520047"/>
              <a:ext cx="285008" cy="308759"/>
            </a:xfrm>
            <a:prstGeom prst="ellipse">
              <a:avLst/>
            </a:prstGeom>
            <a:solidFill>
              <a:srgbClr val="7030A0"/>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C234517D-6E7C-47F0-896A-315B3AC11040}"/>
                </a:ext>
              </a:extLst>
            </p:cNvPr>
            <p:cNvSpPr/>
            <p:nvPr/>
          </p:nvSpPr>
          <p:spPr>
            <a:xfrm>
              <a:off x="2157350" y="5613069"/>
              <a:ext cx="285008" cy="308759"/>
            </a:xfrm>
            <a:prstGeom prst="ellipse">
              <a:avLst/>
            </a:prstGeom>
            <a:solidFill>
              <a:srgbClr val="00B0F0"/>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Equal 47">
              <a:extLst>
                <a:ext uri="{FF2B5EF4-FFF2-40B4-BE49-F238E27FC236}">
                  <a16:creationId xmlns:a16="http://schemas.microsoft.com/office/drawing/2014/main" id="{C059C8D7-7ED2-4A1E-A6BB-33C460F8053B}"/>
                </a:ext>
              </a:extLst>
            </p:cNvPr>
            <p:cNvSpPr/>
            <p:nvPr/>
          </p:nvSpPr>
          <p:spPr>
            <a:xfrm>
              <a:off x="2493815" y="5617027"/>
              <a:ext cx="320636" cy="237507"/>
            </a:xfrm>
            <a:prstGeom prst="mathEqual">
              <a:avLst/>
            </a:prstGeom>
            <a:solidFill>
              <a:schemeClr val="tx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2" name="TextBox 51">
              <a:extLst>
                <a:ext uri="{FF2B5EF4-FFF2-40B4-BE49-F238E27FC236}">
                  <a16:creationId xmlns:a16="http://schemas.microsoft.com/office/drawing/2014/main" id="{8C5697F9-D54D-4EE3-9F8A-470997E18341}"/>
                </a:ext>
              </a:extLst>
            </p:cNvPr>
            <p:cNvSpPr txBox="1"/>
            <p:nvPr/>
          </p:nvSpPr>
          <p:spPr>
            <a:xfrm>
              <a:off x="2826327" y="5572188"/>
              <a:ext cx="1033163" cy="338554"/>
            </a:xfrm>
            <a:prstGeom prst="rect">
              <a:avLst/>
            </a:prstGeom>
            <a:noFill/>
          </p:spPr>
          <p:txBody>
            <a:bodyPr wrap="square" rtlCol="0">
              <a:spAutoFit/>
            </a:bodyPr>
            <a:lstStyle/>
            <a:p>
              <a:r>
                <a:rPr lang="en-US" sz="1600" b="1" dirty="0"/>
                <a:t>x3 and x2</a:t>
              </a:r>
            </a:p>
          </p:txBody>
        </p:sp>
      </p:grpSp>
      <p:sp>
        <p:nvSpPr>
          <p:cNvPr id="43" name="Isosceles Triangle 42">
            <a:extLst>
              <a:ext uri="{FF2B5EF4-FFF2-40B4-BE49-F238E27FC236}">
                <a16:creationId xmlns:a16="http://schemas.microsoft.com/office/drawing/2014/main" id="{975600DC-7730-4981-BDDB-A3C40A37C3C1}"/>
              </a:ext>
            </a:extLst>
          </p:cNvPr>
          <p:cNvSpPr/>
          <p:nvPr/>
        </p:nvSpPr>
        <p:spPr>
          <a:xfrm>
            <a:off x="3303833" y="5229385"/>
            <a:ext cx="248549" cy="231865"/>
          </a:xfrm>
          <a:prstGeom prst="triangle">
            <a:avLst/>
          </a:prstGeom>
          <a:solidFill>
            <a:srgbClr val="00B0F0"/>
          </a:solid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4" name="Group 19">
            <a:extLst>
              <a:ext uri="{FF2B5EF4-FFF2-40B4-BE49-F238E27FC236}">
                <a16:creationId xmlns:a16="http://schemas.microsoft.com/office/drawing/2014/main" id="{9F16C1CF-4D2C-459F-9EB5-3A05FE670584}"/>
              </a:ext>
            </a:extLst>
          </p:cNvPr>
          <p:cNvGrpSpPr/>
          <p:nvPr/>
        </p:nvGrpSpPr>
        <p:grpSpPr>
          <a:xfrm>
            <a:off x="3635537" y="5117706"/>
            <a:ext cx="427498" cy="366879"/>
            <a:chOff x="2429301" y="2974416"/>
            <a:chExt cx="914400" cy="914401"/>
          </a:xfrm>
          <a:effectLst>
            <a:outerShdw blurRad="50800" dist="38100" dir="2700000" algn="tl" rotWithShape="0">
              <a:prstClr val="black">
                <a:alpha val="40000"/>
              </a:prstClr>
            </a:outerShdw>
          </a:effectLst>
        </p:grpSpPr>
        <p:sp>
          <p:nvSpPr>
            <p:cNvPr id="45" name="Oval 44">
              <a:extLst>
                <a:ext uri="{FF2B5EF4-FFF2-40B4-BE49-F238E27FC236}">
                  <a16:creationId xmlns:a16="http://schemas.microsoft.com/office/drawing/2014/main" id="{95C24476-53B2-47C0-B8E4-9A56F617A13A}"/>
                </a:ext>
              </a:extLst>
            </p:cNvPr>
            <p:cNvSpPr/>
            <p:nvPr/>
          </p:nvSpPr>
          <p:spPr>
            <a:xfrm>
              <a:off x="2429301" y="2974416"/>
              <a:ext cx="914400" cy="914401"/>
            </a:xfrm>
            <a:prstGeom prst="ellipse">
              <a:avLst/>
            </a:prstGeom>
            <a:solidFill>
              <a:schemeClr val="bg1"/>
            </a:solidFill>
            <a:ln w="317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812D5F52-194F-47AF-AC9F-7857EC6D12BC}"/>
                </a:ext>
              </a:extLst>
            </p:cNvPr>
            <p:cNvSpPr/>
            <p:nvPr/>
          </p:nvSpPr>
          <p:spPr>
            <a:xfrm>
              <a:off x="2533725" y="3077815"/>
              <a:ext cx="723331" cy="709682"/>
            </a:xfrm>
            <a:prstGeom prst="ellipse">
              <a:avLst/>
            </a:prstGeom>
            <a:solidFill>
              <a:schemeClr val="bg1"/>
            </a:solidFill>
            <a:ln w="317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4D942CA8-E7CE-456F-867D-C7E029D2031C}"/>
                </a:ext>
              </a:extLst>
            </p:cNvPr>
            <p:cNvSpPr/>
            <p:nvPr/>
          </p:nvSpPr>
          <p:spPr>
            <a:xfrm>
              <a:off x="2663589" y="3193571"/>
              <a:ext cx="448102" cy="450375"/>
            </a:xfrm>
            <a:prstGeom prst="ellipse">
              <a:avLst/>
            </a:prstGeom>
            <a:solidFill>
              <a:srgbClr val="FFFF00"/>
            </a:solidFill>
            <a:ln w="317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39" name="Table 6">
            <a:extLst>
              <a:ext uri="{FF2B5EF4-FFF2-40B4-BE49-F238E27FC236}">
                <a16:creationId xmlns:a16="http://schemas.microsoft.com/office/drawing/2014/main" id="{CC0A27E0-667F-4052-B602-90FB23645DD2}"/>
              </a:ext>
            </a:extLst>
          </p:cNvPr>
          <p:cNvGraphicFramePr>
            <a:graphicFrameLocks noGrp="1"/>
          </p:cNvGraphicFramePr>
          <p:nvPr/>
        </p:nvGraphicFramePr>
        <p:xfrm>
          <a:off x="4830969" y="719665"/>
          <a:ext cx="5737719" cy="2651760"/>
        </p:xfrm>
        <a:graphic>
          <a:graphicData uri="http://schemas.openxmlformats.org/drawingml/2006/table">
            <a:tbl>
              <a:tblPr firstRow="1" bandRow="1">
                <a:tableStyleId>{5940675A-B579-460E-94D1-54222C63F5DA}</a:tableStyleId>
              </a:tblPr>
              <a:tblGrid>
                <a:gridCol w="5737719">
                  <a:extLst>
                    <a:ext uri="{9D8B030D-6E8A-4147-A177-3AD203B41FA5}">
                      <a16:colId xmlns:a16="http://schemas.microsoft.com/office/drawing/2014/main" val="3887999668"/>
                    </a:ext>
                  </a:extLst>
                </a:gridCol>
              </a:tblGrid>
              <a:tr h="483493">
                <a:tc>
                  <a:txBody>
                    <a:bodyPr/>
                    <a:lstStyle/>
                    <a:p>
                      <a:pPr algn="ctr"/>
                      <a:r>
                        <a:rPr lang="en-US" sz="3600" b="1" dirty="0"/>
                        <a:t>REVENUE </a:t>
                      </a:r>
                    </a:p>
                    <a:p>
                      <a:pPr algn="ctr"/>
                      <a:r>
                        <a:rPr lang="en-US" sz="3600" b="1" dirty="0"/>
                        <a:t>JOB FUNCTIONS</a:t>
                      </a:r>
                    </a:p>
                  </a:txBody>
                  <a:tcPr/>
                </a:tc>
                <a:extLst>
                  <a:ext uri="{0D108BD9-81ED-4DB2-BD59-A6C34878D82A}">
                    <a16:rowId xmlns:a16="http://schemas.microsoft.com/office/drawing/2014/main" val="1324454018"/>
                  </a:ext>
                </a:extLst>
              </a:tr>
              <a:tr h="1246241">
                <a:tc>
                  <a:txBody>
                    <a:bodyPr/>
                    <a:lstStyle/>
                    <a:p>
                      <a:pPr algn="ctr"/>
                      <a:endParaRPr lang="en-US" sz="1800" b="1" dirty="0"/>
                    </a:p>
                    <a:p>
                      <a:pPr algn="ctr"/>
                      <a:r>
                        <a:rPr lang="en-US" sz="2400" b="1" dirty="0"/>
                        <a:t>SKILL/CAREER- ACCOUNTING, FINANCIAL, ANALYTICS, SALES, MANAGEMENT.</a:t>
                      </a:r>
                      <a:br>
                        <a:rPr lang="en-US" sz="2400" b="1" dirty="0"/>
                      </a:br>
                      <a:endParaRPr lang="en-US" sz="2400" b="1" dirty="0"/>
                    </a:p>
                  </a:txBody>
                  <a:tcPr/>
                </a:tc>
                <a:extLst>
                  <a:ext uri="{0D108BD9-81ED-4DB2-BD59-A6C34878D82A}">
                    <a16:rowId xmlns:a16="http://schemas.microsoft.com/office/drawing/2014/main" val="682039194"/>
                  </a:ext>
                </a:extLst>
              </a:tr>
            </a:tbl>
          </a:graphicData>
        </a:graphic>
      </p:graphicFrame>
      <p:graphicFrame>
        <p:nvGraphicFramePr>
          <p:cNvPr id="29" name="Table 7">
            <a:extLst>
              <a:ext uri="{FF2B5EF4-FFF2-40B4-BE49-F238E27FC236}">
                <a16:creationId xmlns:a16="http://schemas.microsoft.com/office/drawing/2014/main" id="{59C0D6E9-1A4F-4DA0-BCDE-A6D68F45DADC}"/>
              </a:ext>
            </a:extLst>
          </p:cNvPr>
          <p:cNvGraphicFramePr>
            <a:graphicFrameLocks noGrp="1"/>
          </p:cNvGraphicFramePr>
          <p:nvPr/>
        </p:nvGraphicFramePr>
        <p:xfrm>
          <a:off x="4726003" y="5009818"/>
          <a:ext cx="5926384" cy="944880"/>
        </p:xfrm>
        <a:graphic>
          <a:graphicData uri="http://schemas.openxmlformats.org/drawingml/2006/table">
            <a:tbl>
              <a:tblPr firstRow="1" bandRow="1">
                <a:tableStyleId>{5C22544A-7EE6-4342-B048-85BDC9FD1C3A}</a:tableStyleId>
              </a:tblPr>
              <a:tblGrid>
                <a:gridCol w="2963192">
                  <a:extLst>
                    <a:ext uri="{9D8B030D-6E8A-4147-A177-3AD203B41FA5}">
                      <a16:colId xmlns:a16="http://schemas.microsoft.com/office/drawing/2014/main" val="1028654853"/>
                    </a:ext>
                  </a:extLst>
                </a:gridCol>
                <a:gridCol w="2963192">
                  <a:extLst>
                    <a:ext uri="{9D8B030D-6E8A-4147-A177-3AD203B41FA5}">
                      <a16:colId xmlns:a16="http://schemas.microsoft.com/office/drawing/2014/main" val="2159636558"/>
                    </a:ext>
                  </a:extLst>
                </a:gridCol>
              </a:tblGrid>
              <a:tr h="370840">
                <a:tc>
                  <a:txBody>
                    <a:bodyPr/>
                    <a:lstStyle/>
                    <a:p>
                      <a:pPr algn="ctr"/>
                      <a:r>
                        <a:rPr lang="en-US" dirty="0">
                          <a:solidFill>
                            <a:srgbClr val="C00000"/>
                          </a:solidFill>
                        </a:rPr>
                        <a:t>INSIGHT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400" dirty="0">
                          <a:solidFill>
                            <a:srgbClr val="C00000"/>
                          </a:solidFill>
                        </a:rPr>
                        <a:t>SEEK AN UPGRADE COMBO WITH  LOYALTY &amp; CORE VALUES SKILL SETS AND NOTE, MULTI INDUSTRY EXPERIENCE IS AN ADDED BONUS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823397659"/>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1306286" y="769258"/>
            <a:ext cx="3207657" cy="5312228"/>
            <a:chOff x="1306286" y="769258"/>
            <a:chExt cx="3207657" cy="5312228"/>
          </a:xfrm>
        </p:grpSpPr>
        <p:sp>
          <p:nvSpPr>
            <p:cNvPr id="2" name="Rounded Rectangle 1"/>
            <p:cNvSpPr/>
            <p:nvPr/>
          </p:nvSpPr>
          <p:spPr>
            <a:xfrm>
              <a:off x="1306286" y="783771"/>
              <a:ext cx="3207657" cy="5297715"/>
            </a:xfrm>
            <a:prstGeom prst="roundRect">
              <a:avLst/>
            </a:prstGeom>
            <a:solidFill>
              <a:schemeClr val="bg1"/>
            </a:solidFill>
            <a:ln w="76200">
              <a:solidFill>
                <a:schemeClr val="bg1">
                  <a:lumMod val="6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 Same Side Corner Rectangle 2"/>
            <p:cNvSpPr/>
            <p:nvPr/>
          </p:nvSpPr>
          <p:spPr>
            <a:xfrm>
              <a:off x="1306286" y="769258"/>
              <a:ext cx="3207657" cy="1146626"/>
            </a:xfrm>
            <a:prstGeom prst="round2SameRect">
              <a:avLst/>
            </a:prstGeom>
            <a:solidFill>
              <a:srgbClr val="00B0F0"/>
            </a:solidFill>
            <a:ln w="762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R BONNIE" pitchFamily="2" charset="0"/>
                </a:rPr>
                <a:t>GOODWILL</a:t>
              </a:r>
            </a:p>
          </p:txBody>
        </p:sp>
      </p:grpSp>
      <p:sp>
        <p:nvSpPr>
          <p:cNvPr id="12" name="TextBox 11"/>
          <p:cNvSpPr txBox="1"/>
          <p:nvPr/>
        </p:nvSpPr>
        <p:spPr>
          <a:xfrm>
            <a:off x="1294409" y="1950793"/>
            <a:ext cx="3194463" cy="415498"/>
          </a:xfrm>
          <a:prstGeom prst="rect">
            <a:avLst/>
          </a:prstGeom>
          <a:noFill/>
        </p:spPr>
        <p:txBody>
          <a:bodyPr wrap="square" rtlCol="0">
            <a:spAutoFit/>
          </a:bodyPr>
          <a:lstStyle/>
          <a:p>
            <a:pPr algn="ctr"/>
            <a:r>
              <a:rPr lang="en-US" sz="900" b="1" dirty="0"/>
              <a:t>HOW DO YOU GENERATE GOODWILL?</a:t>
            </a:r>
          </a:p>
          <a:p>
            <a:pPr algn="ctr"/>
            <a:r>
              <a:rPr lang="en-US" sz="900" b="1" dirty="0"/>
              <a:t>CREDIBILITY</a:t>
            </a:r>
            <a:r>
              <a:rPr lang="en-US" sz="1050" b="1" dirty="0"/>
              <a:t> I </a:t>
            </a:r>
            <a:r>
              <a:rPr lang="en-US" sz="900" b="1" dirty="0"/>
              <a:t>CULTURE</a:t>
            </a:r>
            <a:r>
              <a:rPr lang="en-US" sz="1050" b="1" dirty="0"/>
              <a:t> I</a:t>
            </a:r>
            <a:r>
              <a:rPr lang="en-US" sz="1200" b="1" dirty="0"/>
              <a:t> </a:t>
            </a:r>
            <a:r>
              <a:rPr lang="en-US" sz="900" b="1" dirty="0"/>
              <a:t>VALUE</a:t>
            </a:r>
            <a:r>
              <a:rPr lang="en-US" sz="1050" b="1" dirty="0"/>
              <a:t> I</a:t>
            </a:r>
            <a:r>
              <a:rPr lang="en-US" sz="900" b="1" dirty="0"/>
              <a:t> VALUES</a:t>
            </a:r>
          </a:p>
        </p:txBody>
      </p:sp>
      <p:sp>
        <p:nvSpPr>
          <p:cNvPr id="25" name="TextBox 24"/>
          <p:cNvSpPr txBox="1"/>
          <p:nvPr/>
        </p:nvSpPr>
        <p:spPr>
          <a:xfrm>
            <a:off x="1924118" y="2431066"/>
            <a:ext cx="736267" cy="400110"/>
          </a:xfrm>
          <a:prstGeom prst="rect">
            <a:avLst/>
          </a:prstGeom>
          <a:noFill/>
        </p:spPr>
        <p:txBody>
          <a:bodyPr wrap="square" rtlCol="0">
            <a:spAutoFit/>
          </a:bodyPr>
          <a:lstStyle/>
          <a:p>
            <a:pPr algn="ctr"/>
            <a:r>
              <a:rPr lang="en-US" sz="2000" b="1" dirty="0"/>
              <a:t>+25</a:t>
            </a:r>
            <a:endParaRPr lang="en-US" sz="2800" b="1" dirty="0"/>
          </a:p>
        </p:txBody>
      </p:sp>
      <p:grpSp>
        <p:nvGrpSpPr>
          <p:cNvPr id="44" name="Group 43"/>
          <p:cNvGrpSpPr/>
          <p:nvPr/>
        </p:nvGrpSpPr>
        <p:grpSpPr>
          <a:xfrm>
            <a:off x="3094275" y="2412656"/>
            <a:ext cx="494604" cy="393799"/>
            <a:chOff x="2404984" y="2565778"/>
            <a:chExt cx="851338" cy="655093"/>
          </a:xfrm>
        </p:grpSpPr>
        <p:sp>
          <p:nvSpPr>
            <p:cNvPr id="45" name="5-Point Star 44"/>
            <p:cNvSpPr/>
            <p:nvPr/>
          </p:nvSpPr>
          <p:spPr>
            <a:xfrm>
              <a:off x="2470246" y="2565778"/>
              <a:ext cx="723330" cy="655093"/>
            </a:xfrm>
            <a:prstGeom prst="star5">
              <a:avLst/>
            </a:prstGeom>
            <a:solidFill>
              <a:srgbClr val="FFFF00"/>
            </a:solidFill>
            <a:ln w="571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dirty="0">
                <a:solidFill>
                  <a:schemeClr val="tx1"/>
                </a:solidFill>
              </a:endParaRPr>
            </a:p>
          </p:txBody>
        </p:sp>
        <p:sp>
          <p:nvSpPr>
            <p:cNvPr id="46" name="TextBox 45"/>
            <p:cNvSpPr txBox="1"/>
            <p:nvPr/>
          </p:nvSpPr>
          <p:spPr>
            <a:xfrm>
              <a:off x="2404984" y="2744777"/>
              <a:ext cx="851338" cy="392421"/>
            </a:xfrm>
            <a:prstGeom prst="rect">
              <a:avLst/>
            </a:prstGeom>
            <a:noFill/>
          </p:spPr>
          <p:txBody>
            <a:bodyPr wrap="square" rtlCol="0">
              <a:spAutoFit/>
            </a:bodyPr>
            <a:lstStyle/>
            <a:p>
              <a:pPr algn="ctr"/>
              <a:r>
                <a:rPr lang="en-US" sz="1100" b="1" dirty="0">
                  <a:solidFill>
                    <a:srgbClr val="FF0000"/>
                  </a:solidFill>
                </a:rPr>
                <a:t>x2</a:t>
              </a:r>
              <a:endParaRPr lang="en-US" sz="1400" b="1" dirty="0">
                <a:solidFill>
                  <a:srgbClr val="FF0000"/>
                </a:solidFill>
              </a:endParaRPr>
            </a:p>
          </p:txBody>
        </p:sp>
      </p:grpSp>
      <p:graphicFrame>
        <p:nvGraphicFramePr>
          <p:cNvPr id="47" name="Table 46"/>
          <p:cNvGraphicFramePr>
            <a:graphicFrameLocks noGrp="1"/>
          </p:cNvGraphicFramePr>
          <p:nvPr/>
        </p:nvGraphicFramePr>
        <p:xfrm>
          <a:off x="2197249" y="3916854"/>
          <a:ext cx="1294410" cy="914400"/>
        </p:xfrm>
        <a:graphic>
          <a:graphicData uri="http://schemas.openxmlformats.org/drawingml/2006/table">
            <a:tbl>
              <a:tblPr firstRow="1" bandRow="1">
                <a:tableStyleId>{5C22544A-7EE6-4342-B048-85BDC9FD1C3A}</a:tableStyleId>
              </a:tblPr>
              <a:tblGrid>
                <a:gridCol w="431470">
                  <a:extLst>
                    <a:ext uri="{9D8B030D-6E8A-4147-A177-3AD203B41FA5}">
                      <a16:colId xmlns:a16="http://schemas.microsoft.com/office/drawing/2014/main" val="20000"/>
                    </a:ext>
                  </a:extLst>
                </a:gridCol>
                <a:gridCol w="431470">
                  <a:extLst>
                    <a:ext uri="{9D8B030D-6E8A-4147-A177-3AD203B41FA5}">
                      <a16:colId xmlns:a16="http://schemas.microsoft.com/office/drawing/2014/main" val="20001"/>
                    </a:ext>
                  </a:extLst>
                </a:gridCol>
                <a:gridCol w="431470">
                  <a:extLst>
                    <a:ext uri="{9D8B030D-6E8A-4147-A177-3AD203B41FA5}">
                      <a16:colId xmlns:a16="http://schemas.microsoft.com/office/drawing/2014/main" val="20002"/>
                    </a:ext>
                  </a:extLst>
                </a:gridCol>
              </a:tblGrid>
              <a:tr h="198809">
                <a:tc gridSpan="2">
                  <a:txBody>
                    <a:bodyPr/>
                    <a:lstStyle/>
                    <a:p>
                      <a:pPr algn="ctr"/>
                      <a:r>
                        <a:rPr lang="en-US" sz="600" b="1" dirty="0">
                          <a:solidFill>
                            <a:schemeClr val="tx1"/>
                          </a:solidFill>
                        </a:rPr>
                        <a:t>RISK WEIGHT PENALTY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600" b="1" dirty="0">
                          <a:solidFill>
                            <a:schemeClr val="tx1"/>
                          </a:solidFill>
                        </a:rPr>
                        <a:t>RISK SCORE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198809">
                <a:tc>
                  <a:txBody>
                    <a:bodyPr/>
                    <a:lstStyle/>
                    <a:p>
                      <a:pPr algn="ctr"/>
                      <a:r>
                        <a:rPr lang="en-US" sz="800" b="1" dirty="0">
                          <a:solidFill>
                            <a:schemeClr val="tx1"/>
                          </a:solidFill>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US" sz="800" b="1" dirty="0">
                          <a:solidFill>
                            <a:schemeClr val="tx1"/>
                          </a:solidFill>
                        </a:rPr>
                        <a:t>-60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US" sz="800" b="1"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10001"/>
                  </a:ext>
                </a:extLst>
              </a:tr>
              <a:tr h="198809">
                <a:tc>
                  <a:txBody>
                    <a:bodyPr/>
                    <a:lstStyle/>
                    <a:p>
                      <a:pPr algn="ctr"/>
                      <a:r>
                        <a:rPr lang="en-US" sz="800" b="1"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sz="800" b="1" dirty="0">
                          <a:solidFill>
                            <a:schemeClr val="tx1"/>
                          </a:solidFill>
                        </a:rPr>
                        <a:t>-40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sz="800" b="1"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2"/>
                  </a:ext>
                </a:extLst>
              </a:tr>
              <a:tr h="198809">
                <a:tc>
                  <a:txBody>
                    <a:bodyPr/>
                    <a:lstStyle/>
                    <a:p>
                      <a:pPr algn="ctr"/>
                      <a:r>
                        <a:rPr lang="en-US" sz="800" b="1"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800" b="1"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800" b="1"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003"/>
                  </a:ext>
                </a:extLst>
              </a:tr>
            </a:tbl>
          </a:graphicData>
        </a:graphic>
      </p:graphicFrame>
      <p:grpSp>
        <p:nvGrpSpPr>
          <p:cNvPr id="34" name="Group 33">
            <a:extLst>
              <a:ext uri="{FF2B5EF4-FFF2-40B4-BE49-F238E27FC236}">
                <a16:creationId xmlns:a16="http://schemas.microsoft.com/office/drawing/2014/main" id="{A927BCB8-3781-4694-829F-0E103848106C}"/>
              </a:ext>
            </a:extLst>
          </p:cNvPr>
          <p:cNvGrpSpPr/>
          <p:nvPr/>
        </p:nvGrpSpPr>
        <p:grpSpPr>
          <a:xfrm>
            <a:off x="2233552" y="2729769"/>
            <a:ext cx="1210460" cy="1069066"/>
            <a:chOff x="2305050" y="3171825"/>
            <a:chExt cx="1066800" cy="1162050"/>
          </a:xfrm>
        </p:grpSpPr>
        <p:sp>
          <p:nvSpPr>
            <p:cNvPr id="35" name="Isosceles Triangle 34">
              <a:extLst>
                <a:ext uri="{FF2B5EF4-FFF2-40B4-BE49-F238E27FC236}">
                  <a16:creationId xmlns:a16="http://schemas.microsoft.com/office/drawing/2014/main" id="{CAC59EAB-7A27-4838-AE4E-D8DFA5EC0FDC}"/>
                </a:ext>
              </a:extLst>
            </p:cNvPr>
            <p:cNvSpPr/>
            <p:nvPr/>
          </p:nvSpPr>
          <p:spPr>
            <a:xfrm>
              <a:off x="2305050" y="3171825"/>
              <a:ext cx="1066800" cy="1162050"/>
            </a:xfrm>
            <a:prstGeom prst="triangle">
              <a:avLst/>
            </a:prstGeom>
            <a:solidFill>
              <a:srgbClr val="00B0F0"/>
            </a:solid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Isosceles Triangle 35">
              <a:extLst>
                <a:ext uri="{FF2B5EF4-FFF2-40B4-BE49-F238E27FC236}">
                  <a16:creationId xmlns:a16="http://schemas.microsoft.com/office/drawing/2014/main" id="{7768E499-D57E-431C-B33F-D9CFECC540F9}"/>
                </a:ext>
              </a:extLst>
            </p:cNvPr>
            <p:cNvSpPr/>
            <p:nvPr/>
          </p:nvSpPr>
          <p:spPr>
            <a:xfrm>
              <a:off x="2492701" y="3177968"/>
              <a:ext cx="694411" cy="762219"/>
            </a:xfrm>
            <a:prstGeom prst="triangle">
              <a:avLst/>
            </a:prstGeom>
            <a:solidFill>
              <a:schemeClr val="bg1"/>
            </a:solid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8" name="TextBox 37">
            <a:extLst>
              <a:ext uri="{FF2B5EF4-FFF2-40B4-BE49-F238E27FC236}">
                <a16:creationId xmlns:a16="http://schemas.microsoft.com/office/drawing/2014/main" id="{5E59C11F-A33B-4B25-949E-6E4F46A14E79}"/>
              </a:ext>
            </a:extLst>
          </p:cNvPr>
          <p:cNvSpPr txBox="1"/>
          <p:nvPr/>
        </p:nvSpPr>
        <p:spPr>
          <a:xfrm>
            <a:off x="2871036" y="5023472"/>
            <a:ext cx="442165" cy="246221"/>
          </a:xfrm>
          <a:prstGeom prst="rect">
            <a:avLst/>
          </a:prstGeom>
          <a:noFill/>
        </p:spPr>
        <p:txBody>
          <a:bodyPr wrap="square" rtlCol="0">
            <a:spAutoFit/>
          </a:bodyPr>
          <a:lstStyle/>
          <a:p>
            <a:r>
              <a:rPr lang="en-US" sz="1000" b="1" dirty="0"/>
              <a:t>KEY:  </a:t>
            </a:r>
          </a:p>
        </p:txBody>
      </p:sp>
      <p:grpSp>
        <p:nvGrpSpPr>
          <p:cNvPr id="39" name="Group 38">
            <a:extLst>
              <a:ext uri="{FF2B5EF4-FFF2-40B4-BE49-F238E27FC236}">
                <a16:creationId xmlns:a16="http://schemas.microsoft.com/office/drawing/2014/main" id="{2EFEFD22-18EB-4844-87CF-9AA5AC3E7BFB}"/>
              </a:ext>
            </a:extLst>
          </p:cNvPr>
          <p:cNvGrpSpPr/>
          <p:nvPr/>
        </p:nvGrpSpPr>
        <p:grpSpPr>
          <a:xfrm>
            <a:off x="1995049" y="5531922"/>
            <a:ext cx="1971316" cy="405740"/>
            <a:chOff x="1888174" y="5520047"/>
            <a:chExt cx="1971316" cy="405740"/>
          </a:xfrm>
        </p:grpSpPr>
        <p:sp>
          <p:nvSpPr>
            <p:cNvPr id="53" name="Oval 52">
              <a:extLst>
                <a:ext uri="{FF2B5EF4-FFF2-40B4-BE49-F238E27FC236}">
                  <a16:creationId xmlns:a16="http://schemas.microsoft.com/office/drawing/2014/main" id="{F2A6D929-D610-4108-8A43-50F1E33A20B3}"/>
                </a:ext>
              </a:extLst>
            </p:cNvPr>
            <p:cNvSpPr/>
            <p:nvPr/>
          </p:nvSpPr>
          <p:spPr>
            <a:xfrm>
              <a:off x="1888174" y="5617028"/>
              <a:ext cx="285008" cy="308759"/>
            </a:xfrm>
            <a:prstGeom prst="ellipse">
              <a:avLst/>
            </a:prstGeom>
            <a:solidFill>
              <a:srgbClr val="00B0F0"/>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FFDEDC47-FEB5-4AE4-9386-00B89FAA4AB8}"/>
                </a:ext>
              </a:extLst>
            </p:cNvPr>
            <p:cNvSpPr/>
            <p:nvPr/>
          </p:nvSpPr>
          <p:spPr>
            <a:xfrm>
              <a:off x="2040572" y="5520047"/>
              <a:ext cx="285008" cy="308759"/>
            </a:xfrm>
            <a:prstGeom prst="ellipse">
              <a:avLst/>
            </a:prstGeom>
            <a:solidFill>
              <a:srgbClr val="7030A0"/>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95C5758D-EC29-4F7B-8A0A-FA630389495F}"/>
                </a:ext>
              </a:extLst>
            </p:cNvPr>
            <p:cNvSpPr/>
            <p:nvPr/>
          </p:nvSpPr>
          <p:spPr>
            <a:xfrm>
              <a:off x="2157350" y="5613069"/>
              <a:ext cx="285008" cy="308759"/>
            </a:xfrm>
            <a:prstGeom prst="ellipse">
              <a:avLst/>
            </a:prstGeom>
            <a:solidFill>
              <a:srgbClr val="00B0F0"/>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Equal 74">
              <a:extLst>
                <a:ext uri="{FF2B5EF4-FFF2-40B4-BE49-F238E27FC236}">
                  <a16:creationId xmlns:a16="http://schemas.microsoft.com/office/drawing/2014/main" id="{FE6AE2AE-DAD5-4712-8D05-D8590DFD0F64}"/>
                </a:ext>
              </a:extLst>
            </p:cNvPr>
            <p:cNvSpPr/>
            <p:nvPr/>
          </p:nvSpPr>
          <p:spPr>
            <a:xfrm>
              <a:off x="2493815" y="5617027"/>
              <a:ext cx="320636" cy="237507"/>
            </a:xfrm>
            <a:prstGeom prst="mathEqual">
              <a:avLst/>
            </a:prstGeom>
            <a:solidFill>
              <a:schemeClr val="tx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7" name="TextBox 56">
              <a:extLst>
                <a:ext uri="{FF2B5EF4-FFF2-40B4-BE49-F238E27FC236}">
                  <a16:creationId xmlns:a16="http://schemas.microsoft.com/office/drawing/2014/main" id="{2FA92CDB-83DA-4EDB-936E-92910CCDA019}"/>
                </a:ext>
              </a:extLst>
            </p:cNvPr>
            <p:cNvSpPr txBox="1"/>
            <p:nvPr/>
          </p:nvSpPr>
          <p:spPr>
            <a:xfrm>
              <a:off x="2826327" y="5572188"/>
              <a:ext cx="1033163" cy="338554"/>
            </a:xfrm>
            <a:prstGeom prst="rect">
              <a:avLst/>
            </a:prstGeom>
            <a:noFill/>
          </p:spPr>
          <p:txBody>
            <a:bodyPr wrap="square" rtlCol="0">
              <a:spAutoFit/>
            </a:bodyPr>
            <a:lstStyle/>
            <a:p>
              <a:r>
                <a:rPr lang="en-US" sz="1600" b="1" dirty="0"/>
                <a:t>x3 and x2</a:t>
              </a:r>
            </a:p>
          </p:txBody>
        </p:sp>
      </p:grpSp>
      <p:grpSp>
        <p:nvGrpSpPr>
          <p:cNvPr id="40" name="Group 39">
            <a:extLst>
              <a:ext uri="{FF2B5EF4-FFF2-40B4-BE49-F238E27FC236}">
                <a16:creationId xmlns:a16="http://schemas.microsoft.com/office/drawing/2014/main" id="{AD2D2C95-836F-4BCD-BFC8-E9A87E47EE78}"/>
              </a:ext>
            </a:extLst>
          </p:cNvPr>
          <p:cNvGrpSpPr/>
          <p:nvPr/>
        </p:nvGrpSpPr>
        <p:grpSpPr>
          <a:xfrm>
            <a:off x="3290299" y="4995313"/>
            <a:ext cx="284173" cy="303115"/>
            <a:chOff x="2305050" y="3171825"/>
            <a:chExt cx="1066800" cy="1162050"/>
          </a:xfrm>
        </p:grpSpPr>
        <p:sp>
          <p:nvSpPr>
            <p:cNvPr id="50" name="Isosceles Triangle 49">
              <a:extLst>
                <a:ext uri="{FF2B5EF4-FFF2-40B4-BE49-F238E27FC236}">
                  <a16:creationId xmlns:a16="http://schemas.microsoft.com/office/drawing/2014/main" id="{9B686BB3-5646-4FA1-B815-E7402DADA032}"/>
                </a:ext>
              </a:extLst>
            </p:cNvPr>
            <p:cNvSpPr/>
            <p:nvPr/>
          </p:nvSpPr>
          <p:spPr>
            <a:xfrm>
              <a:off x="2305050" y="3171825"/>
              <a:ext cx="1066800" cy="1162050"/>
            </a:xfrm>
            <a:prstGeom prst="triangle">
              <a:avLst/>
            </a:prstGeom>
            <a:solidFill>
              <a:srgbClr val="00B0F0"/>
            </a:solidFill>
            <a:ln w="31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Isosceles Triangle 50">
              <a:extLst>
                <a:ext uri="{FF2B5EF4-FFF2-40B4-BE49-F238E27FC236}">
                  <a16:creationId xmlns:a16="http://schemas.microsoft.com/office/drawing/2014/main" id="{886F5A20-0615-4F00-BE46-5355129486BA}"/>
                </a:ext>
              </a:extLst>
            </p:cNvPr>
            <p:cNvSpPr/>
            <p:nvPr/>
          </p:nvSpPr>
          <p:spPr>
            <a:xfrm>
              <a:off x="2492701" y="3177968"/>
              <a:ext cx="694411" cy="762219"/>
            </a:xfrm>
            <a:prstGeom prst="triangle">
              <a:avLst/>
            </a:prstGeom>
            <a:solidFill>
              <a:schemeClr val="bg1"/>
            </a:solidFill>
            <a:ln w="31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Isosceles Triangle 51">
              <a:extLst>
                <a:ext uri="{FF2B5EF4-FFF2-40B4-BE49-F238E27FC236}">
                  <a16:creationId xmlns:a16="http://schemas.microsoft.com/office/drawing/2014/main" id="{DBB5AD6A-F11F-4270-A475-0D654609F938}"/>
                </a:ext>
              </a:extLst>
            </p:cNvPr>
            <p:cNvSpPr/>
            <p:nvPr/>
          </p:nvSpPr>
          <p:spPr>
            <a:xfrm>
              <a:off x="2649690" y="3175821"/>
              <a:ext cx="366307" cy="402931"/>
            </a:xfrm>
            <a:prstGeom prst="triangle">
              <a:avLst/>
            </a:prstGeom>
            <a:solidFill>
              <a:srgbClr val="00B0F0"/>
            </a:solidFill>
            <a:ln w="31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1" name="Group 19">
            <a:extLst>
              <a:ext uri="{FF2B5EF4-FFF2-40B4-BE49-F238E27FC236}">
                <a16:creationId xmlns:a16="http://schemas.microsoft.com/office/drawing/2014/main" id="{BAD4681D-3D12-47B0-BF43-AAFD5C8A3B43}"/>
              </a:ext>
            </a:extLst>
          </p:cNvPr>
          <p:cNvGrpSpPr/>
          <p:nvPr/>
        </p:nvGrpSpPr>
        <p:grpSpPr>
          <a:xfrm>
            <a:off x="3633858" y="4931559"/>
            <a:ext cx="427498" cy="366879"/>
            <a:chOff x="2429301" y="2947916"/>
            <a:chExt cx="914400" cy="914400"/>
          </a:xfrm>
          <a:effectLst>
            <a:outerShdw blurRad="50800" dist="38100" dir="2700000" algn="tl" rotWithShape="0">
              <a:prstClr val="black">
                <a:alpha val="40000"/>
              </a:prstClr>
            </a:outerShdw>
          </a:effectLst>
        </p:grpSpPr>
        <p:sp>
          <p:nvSpPr>
            <p:cNvPr id="43" name="Oval 42">
              <a:extLst>
                <a:ext uri="{FF2B5EF4-FFF2-40B4-BE49-F238E27FC236}">
                  <a16:creationId xmlns:a16="http://schemas.microsoft.com/office/drawing/2014/main" id="{C0E4B979-0833-4900-B278-2629B6EA9233}"/>
                </a:ext>
              </a:extLst>
            </p:cNvPr>
            <p:cNvSpPr/>
            <p:nvPr/>
          </p:nvSpPr>
          <p:spPr>
            <a:xfrm>
              <a:off x="2429301" y="2947916"/>
              <a:ext cx="914400" cy="914400"/>
            </a:xfrm>
            <a:prstGeom prst="ellipse">
              <a:avLst/>
            </a:prstGeom>
            <a:solidFill>
              <a:schemeClr val="bg1"/>
            </a:solidFill>
            <a:ln w="317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AEC88DBF-EDFB-41D8-A01E-5E22E2D5C294}"/>
                </a:ext>
              </a:extLst>
            </p:cNvPr>
            <p:cNvSpPr/>
            <p:nvPr/>
          </p:nvSpPr>
          <p:spPr>
            <a:xfrm>
              <a:off x="2524836" y="3057099"/>
              <a:ext cx="723331" cy="709683"/>
            </a:xfrm>
            <a:prstGeom prst="ellipse">
              <a:avLst/>
            </a:prstGeom>
            <a:solidFill>
              <a:schemeClr val="bg1"/>
            </a:solidFill>
            <a:ln w="317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29A31EC4-BA00-4BE5-89F6-1CD861E98B4B}"/>
                </a:ext>
              </a:extLst>
            </p:cNvPr>
            <p:cNvSpPr/>
            <p:nvPr/>
          </p:nvSpPr>
          <p:spPr>
            <a:xfrm>
              <a:off x="2663589" y="3193571"/>
              <a:ext cx="448102" cy="450375"/>
            </a:xfrm>
            <a:prstGeom prst="ellipse">
              <a:avLst/>
            </a:prstGeom>
            <a:solidFill>
              <a:srgbClr val="FFFF00"/>
            </a:solidFill>
            <a:ln w="317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42" name="Table 6">
            <a:extLst>
              <a:ext uri="{FF2B5EF4-FFF2-40B4-BE49-F238E27FC236}">
                <a16:creationId xmlns:a16="http://schemas.microsoft.com/office/drawing/2014/main" id="{8D1B27D8-18EA-4BD9-813F-F6FBE48196DB}"/>
              </a:ext>
            </a:extLst>
          </p:cNvPr>
          <p:cNvGraphicFramePr>
            <a:graphicFrameLocks noGrp="1"/>
          </p:cNvGraphicFramePr>
          <p:nvPr/>
        </p:nvGraphicFramePr>
        <p:xfrm>
          <a:off x="4830969" y="719665"/>
          <a:ext cx="5737719" cy="3017520"/>
        </p:xfrm>
        <a:graphic>
          <a:graphicData uri="http://schemas.openxmlformats.org/drawingml/2006/table">
            <a:tbl>
              <a:tblPr firstRow="1" bandRow="1">
                <a:tableStyleId>{5940675A-B579-460E-94D1-54222C63F5DA}</a:tableStyleId>
              </a:tblPr>
              <a:tblGrid>
                <a:gridCol w="5737719">
                  <a:extLst>
                    <a:ext uri="{9D8B030D-6E8A-4147-A177-3AD203B41FA5}">
                      <a16:colId xmlns:a16="http://schemas.microsoft.com/office/drawing/2014/main" val="3887999668"/>
                    </a:ext>
                  </a:extLst>
                </a:gridCol>
              </a:tblGrid>
              <a:tr h="483493">
                <a:tc>
                  <a:txBody>
                    <a:bodyPr/>
                    <a:lstStyle/>
                    <a:p>
                      <a:pPr algn="ctr"/>
                      <a:r>
                        <a:rPr lang="en-US" sz="3600" b="1" dirty="0"/>
                        <a:t>GOODWILL </a:t>
                      </a:r>
                    </a:p>
                    <a:p>
                      <a:pPr algn="ctr"/>
                      <a:r>
                        <a:rPr lang="en-US" sz="3600" b="1" dirty="0"/>
                        <a:t>JOB FUNCTIONS</a:t>
                      </a:r>
                    </a:p>
                  </a:txBody>
                  <a:tcPr/>
                </a:tc>
                <a:extLst>
                  <a:ext uri="{0D108BD9-81ED-4DB2-BD59-A6C34878D82A}">
                    <a16:rowId xmlns:a16="http://schemas.microsoft.com/office/drawing/2014/main" val="1324454018"/>
                  </a:ext>
                </a:extLst>
              </a:tr>
              <a:tr h="1246241">
                <a:tc>
                  <a:txBody>
                    <a:bodyPr/>
                    <a:lstStyle/>
                    <a:p>
                      <a:pPr algn="ctr"/>
                      <a:endParaRPr lang="en-US" sz="1800" b="1" dirty="0"/>
                    </a:p>
                    <a:p>
                      <a:pPr algn="ctr"/>
                      <a:r>
                        <a:rPr lang="en-US" sz="2400" b="1" dirty="0"/>
                        <a:t>SKILL/CAREER- NEGOTIATIONS, BUSINESS RELATIONS, DIPLOMACY, LEGAL, FINANCIAL ANALYSIS, GOVERNMENT RELATIONS.</a:t>
                      </a:r>
                      <a:br>
                        <a:rPr lang="en-US" sz="2400" b="1" dirty="0"/>
                      </a:br>
                      <a:endParaRPr lang="en-US" sz="2400" b="1" dirty="0"/>
                    </a:p>
                  </a:txBody>
                  <a:tcPr/>
                </a:tc>
                <a:extLst>
                  <a:ext uri="{0D108BD9-81ED-4DB2-BD59-A6C34878D82A}">
                    <a16:rowId xmlns:a16="http://schemas.microsoft.com/office/drawing/2014/main" val="682039194"/>
                  </a:ext>
                </a:extLst>
              </a:tr>
            </a:tbl>
          </a:graphicData>
        </a:graphic>
      </p:graphicFrame>
      <p:graphicFrame>
        <p:nvGraphicFramePr>
          <p:cNvPr id="30" name="Table 7">
            <a:extLst>
              <a:ext uri="{FF2B5EF4-FFF2-40B4-BE49-F238E27FC236}">
                <a16:creationId xmlns:a16="http://schemas.microsoft.com/office/drawing/2014/main" id="{3C880120-4C61-4CF3-A8A6-961A40AFC829}"/>
              </a:ext>
            </a:extLst>
          </p:cNvPr>
          <p:cNvGraphicFramePr>
            <a:graphicFrameLocks noGrp="1"/>
          </p:cNvGraphicFramePr>
          <p:nvPr/>
        </p:nvGraphicFramePr>
        <p:xfrm>
          <a:off x="4736636" y="4831254"/>
          <a:ext cx="5926384" cy="944880"/>
        </p:xfrm>
        <a:graphic>
          <a:graphicData uri="http://schemas.openxmlformats.org/drawingml/2006/table">
            <a:tbl>
              <a:tblPr firstRow="1" bandRow="1">
                <a:tableStyleId>{5C22544A-7EE6-4342-B048-85BDC9FD1C3A}</a:tableStyleId>
              </a:tblPr>
              <a:tblGrid>
                <a:gridCol w="2963192">
                  <a:extLst>
                    <a:ext uri="{9D8B030D-6E8A-4147-A177-3AD203B41FA5}">
                      <a16:colId xmlns:a16="http://schemas.microsoft.com/office/drawing/2014/main" val="1028654853"/>
                    </a:ext>
                  </a:extLst>
                </a:gridCol>
                <a:gridCol w="2963192">
                  <a:extLst>
                    <a:ext uri="{9D8B030D-6E8A-4147-A177-3AD203B41FA5}">
                      <a16:colId xmlns:a16="http://schemas.microsoft.com/office/drawing/2014/main" val="2159636558"/>
                    </a:ext>
                  </a:extLst>
                </a:gridCol>
              </a:tblGrid>
              <a:tr h="370840">
                <a:tc>
                  <a:txBody>
                    <a:bodyPr/>
                    <a:lstStyle/>
                    <a:p>
                      <a:pPr algn="ctr"/>
                      <a:r>
                        <a:rPr lang="en-US" dirty="0">
                          <a:solidFill>
                            <a:srgbClr val="C00000"/>
                          </a:solidFill>
                        </a:rPr>
                        <a:t>INSIGHT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400" dirty="0">
                          <a:solidFill>
                            <a:srgbClr val="C00000"/>
                          </a:solidFill>
                        </a:rPr>
                        <a:t>SEEK AN UPGRADE COMBO WITH  REVENUE &amp; CORE VALUES SKILL SETS AND NOTE, MULTI INDUSTRY EXPERIENCE IS AN ADDED BONUS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823397659"/>
                  </a:ext>
                </a:extLst>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1306286" y="769258"/>
            <a:ext cx="3207657" cy="5312228"/>
            <a:chOff x="1306286" y="769258"/>
            <a:chExt cx="3207657" cy="5312228"/>
          </a:xfrm>
        </p:grpSpPr>
        <p:sp>
          <p:nvSpPr>
            <p:cNvPr id="2" name="Rounded Rectangle 1"/>
            <p:cNvSpPr/>
            <p:nvPr/>
          </p:nvSpPr>
          <p:spPr>
            <a:xfrm>
              <a:off x="1306286" y="783771"/>
              <a:ext cx="3207657" cy="5297715"/>
            </a:xfrm>
            <a:prstGeom prst="roundRect">
              <a:avLst/>
            </a:prstGeom>
            <a:solidFill>
              <a:schemeClr val="bg1"/>
            </a:solidFill>
            <a:ln w="76200">
              <a:solidFill>
                <a:schemeClr val="bg1">
                  <a:lumMod val="6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 Same Side Corner Rectangle 2"/>
            <p:cNvSpPr/>
            <p:nvPr/>
          </p:nvSpPr>
          <p:spPr>
            <a:xfrm>
              <a:off x="1306286" y="769258"/>
              <a:ext cx="3207657" cy="1146626"/>
            </a:xfrm>
            <a:prstGeom prst="round2SameRect">
              <a:avLst/>
            </a:prstGeom>
            <a:solidFill>
              <a:srgbClr val="00B0F0"/>
            </a:solidFill>
            <a:ln w="762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R BONNIE" pitchFamily="2" charset="0"/>
                </a:rPr>
                <a:t>LOYALTY</a:t>
              </a:r>
            </a:p>
          </p:txBody>
        </p:sp>
      </p:grpSp>
      <p:sp>
        <p:nvSpPr>
          <p:cNvPr id="12" name="TextBox 11"/>
          <p:cNvSpPr txBox="1"/>
          <p:nvPr/>
        </p:nvSpPr>
        <p:spPr>
          <a:xfrm>
            <a:off x="1330034" y="1974544"/>
            <a:ext cx="3159010" cy="392415"/>
          </a:xfrm>
          <a:prstGeom prst="rect">
            <a:avLst/>
          </a:prstGeom>
          <a:noFill/>
        </p:spPr>
        <p:txBody>
          <a:bodyPr wrap="square" rtlCol="0">
            <a:spAutoFit/>
          </a:bodyPr>
          <a:lstStyle/>
          <a:p>
            <a:pPr algn="ctr"/>
            <a:r>
              <a:rPr lang="en-US" sz="900" b="1" dirty="0"/>
              <a:t>HOW DO YOU GENERATE LOYALTY?</a:t>
            </a:r>
          </a:p>
          <a:p>
            <a:pPr algn="ctr"/>
            <a:r>
              <a:rPr lang="en-US" sz="900" b="1" dirty="0"/>
              <a:t>REWARDS </a:t>
            </a:r>
            <a:r>
              <a:rPr lang="en-US" sz="1050" b="1" dirty="0"/>
              <a:t>I </a:t>
            </a:r>
            <a:r>
              <a:rPr lang="en-US" sz="900" b="1" dirty="0"/>
              <a:t>CULTURE </a:t>
            </a:r>
            <a:r>
              <a:rPr lang="en-US" sz="1050" b="1" dirty="0"/>
              <a:t>I</a:t>
            </a:r>
            <a:r>
              <a:rPr lang="en-US" sz="900" b="1" dirty="0"/>
              <a:t> VALUE </a:t>
            </a:r>
            <a:r>
              <a:rPr lang="en-US" sz="1050" b="1" dirty="0"/>
              <a:t>I</a:t>
            </a:r>
            <a:r>
              <a:rPr lang="en-US" sz="900" b="1" dirty="0"/>
              <a:t> VALUES</a:t>
            </a:r>
          </a:p>
        </p:txBody>
      </p:sp>
      <p:sp>
        <p:nvSpPr>
          <p:cNvPr id="19" name="TextBox 18"/>
          <p:cNvSpPr txBox="1"/>
          <p:nvPr/>
        </p:nvSpPr>
        <p:spPr>
          <a:xfrm>
            <a:off x="1900054" y="2394972"/>
            <a:ext cx="736267" cy="400110"/>
          </a:xfrm>
          <a:prstGeom prst="rect">
            <a:avLst/>
          </a:prstGeom>
          <a:noFill/>
        </p:spPr>
        <p:txBody>
          <a:bodyPr wrap="square" rtlCol="0">
            <a:spAutoFit/>
          </a:bodyPr>
          <a:lstStyle/>
          <a:p>
            <a:pPr algn="ctr"/>
            <a:r>
              <a:rPr lang="en-US" sz="2000" b="1" dirty="0"/>
              <a:t>+25</a:t>
            </a:r>
            <a:endParaRPr lang="en-US" sz="2800" b="1" dirty="0"/>
          </a:p>
        </p:txBody>
      </p:sp>
      <p:graphicFrame>
        <p:nvGraphicFramePr>
          <p:cNvPr id="36" name="Table 35"/>
          <p:cNvGraphicFramePr>
            <a:graphicFrameLocks noGrp="1"/>
          </p:cNvGraphicFramePr>
          <p:nvPr/>
        </p:nvGraphicFramePr>
        <p:xfrm>
          <a:off x="2173185" y="4025136"/>
          <a:ext cx="1294410" cy="914400"/>
        </p:xfrm>
        <a:graphic>
          <a:graphicData uri="http://schemas.openxmlformats.org/drawingml/2006/table">
            <a:tbl>
              <a:tblPr firstRow="1" bandRow="1">
                <a:tableStyleId>{5C22544A-7EE6-4342-B048-85BDC9FD1C3A}</a:tableStyleId>
              </a:tblPr>
              <a:tblGrid>
                <a:gridCol w="431470">
                  <a:extLst>
                    <a:ext uri="{9D8B030D-6E8A-4147-A177-3AD203B41FA5}">
                      <a16:colId xmlns:a16="http://schemas.microsoft.com/office/drawing/2014/main" val="20000"/>
                    </a:ext>
                  </a:extLst>
                </a:gridCol>
                <a:gridCol w="431470">
                  <a:extLst>
                    <a:ext uri="{9D8B030D-6E8A-4147-A177-3AD203B41FA5}">
                      <a16:colId xmlns:a16="http://schemas.microsoft.com/office/drawing/2014/main" val="20001"/>
                    </a:ext>
                  </a:extLst>
                </a:gridCol>
                <a:gridCol w="431470">
                  <a:extLst>
                    <a:ext uri="{9D8B030D-6E8A-4147-A177-3AD203B41FA5}">
                      <a16:colId xmlns:a16="http://schemas.microsoft.com/office/drawing/2014/main" val="20002"/>
                    </a:ext>
                  </a:extLst>
                </a:gridCol>
              </a:tblGrid>
              <a:tr h="198809">
                <a:tc gridSpan="2">
                  <a:txBody>
                    <a:bodyPr/>
                    <a:lstStyle/>
                    <a:p>
                      <a:pPr algn="ctr"/>
                      <a:r>
                        <a:rPr lang="en-US" sz="600" b="1" dirty="0">
                          <a:solidFill>
                            <a:schemeClr val="tx1"/>
                          </a:solidFill>
                        </a:rPr>
                        <a:t>RISK WEIGHT PENALTY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600" b="1" dirty="0">
                          <a:solidFill>
                            <a:schemeClr val="tx1"/>
                          </a:solidFill>
                        </a:rPr>
                        <a:t>RISK SCORE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198809">
                <a:tc>
                  <a:txBody>
                    <a:bodyPr/>
                    <a:lstStyle/>
                    <a:p>
                      <a:pPr algn="ctr"/>
                      <a:r>
                        <a:rPr lang="en-US" sz="800" b="1" dirty="0">
                          <a:solidFill>
                            <a:schemeClr val="tx1"/>
                          </a:solidFill>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US" sz="800" b="1" dirty="0">
                          <a:solidFill>
                            <a:schemeClr val="tx1"/>
                          </a:solidFill>
                        </a:rPr>
                        <a:t>-60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US" sz="800" b="1"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10001"/>
                  </a:ext>
                </a:extLst>
              </a:tr>
              <a:tr h="198809">
                <a:tc>
                  <a:txBody>
                    <a:bodyPr/>
                    <a:lstStyle/>
                    <a:p>
                      <a:pPr algn="ctr"/>
                      <a:r>
                        <a:rPr lang="en-US" sz="800" b="1"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sz="800" b="1" dirty="0">
                          <a:solidFill>
                            <a:schemeClr val="tx1"/>
                          </a:solidFill>
                        </a:rPr>
                        <a:t>-40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sz="800" b="1"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2"/>
                  </a:ext>
                </a:extLst>
              </a:tr>
              <a:tr h="198809">
                <a:tc>
                  <a:txBody>
                    <a:bodyPr/>
                    <a:lstStyle/>
                    <a:p>
                      <a:pPr algn="ctr"/>
                      <a:r>
                        <a:rPr lang="en-US" sz="800" b="1"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800" b="1"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800" b="1"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003"/>
                  </a:ext>
                </a:extLst>
              </a:tr>
            </a:tbl>
          </a:graphicData>
        </a:graphic>
      </p:graphicFrame>
      <p:grpSp>
        <p:nvGrpSpPr>
          <p:cNvPr id="21" name="Group 20"/>
          <p:cNvGrpSpPr/>
          <p:nvPr/>
        </p:nvGrpSpPr>
        <p:grpSpPr>
          <a:xfrm>
            <a:off x="3070211" y="2376562"/>
            <a:ext cx="494604" cy="393799"/>
            <a:chOff x="2404984" y="2565778"/>
            <a:chExt cx="851338" cy="655093"/>
          </a:xfrm>
        </p:grpSpPr>
        <p:sp>
          <p:nvSpPr>
            <p:cNvPr id="25" name="5-Point Star 24"/>
            <p:cNvSpPr/>
            <p:nvPr/>
          </p:nvSpPr>
          <p:spPr>
            <a:xfrm>
              <a:off x="2470246" y="2565778"/>
              <a:ext cx="723330" cy="655093"/>
            </a:xfrm>
            <a:prstGeom prst="star5">
              <a:avLst/>
            </a:prstGeom>
            <a:solidFill>
              <a:srgbClr val="FFFF00"/>
            </a:solidFill>
            <a:ln w="571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dirty="0">
                <a:solidFill>
                  <a:schemeClr val="tx1"/>
                </a:solidFill>
              </a:endParaRPr>
            </a:p>
          </p:txBody>
        </p:sp>
        <p:sp>
          <p:nvSpPr>
            <p:cNvPr id="26" name="TextBox 25"/>
            <p:cNvSpPr txBox="1"/>
            <p:nvPr/>
          </p:nvSpPr>
          <p:spPr>
            <a:xfrm>
              <a:off x="2404984" y="2744777"/>
              <a:ext cx="851338" cy="392421"/>
            </a:xfrm>
            <a:prstGeom prst="rect">
              <a:avLst/>
            </a:prstGeom>
            <a:noFill/>
          </p:spPr>
          <p:txBody>
            <a:bodyPr wrap="square" rtlCol="0">
              <a:spAutoFit/>
            </a:bodyPr>
            <a:lstStyle/>
            <a:p>
              <a:pPr algn="ctr"/>
              <a:r>
                <a:rPr lang="en-US" sz="1100" b="1" dirty="0">
                  <a:solidFill>
                    <a:srgbClr val="FF0000"/>
                  </a:solidFill>
                </a:rPr>
                <a:t>x2</a:t>
              </a:r>
              <a:endParaRPr lang="en-US" sz="1400" b="1" dirty="0">
                <a:solidFill>
                  <a:srgbClr val="FF0000"/>
                </a:solidFill>
              </a:endParaRPr>
            </a:p>
          </p:txBody>
        </p:sp>
      </p:grpSp>
      <p:sp>
        <p:nvSpPr>
          <p:cNvPr id="27" name="Isosceles Triangle 26">
            <a:extLst>
              <a:ext uri="{FF2B5EF4-FFF2-40B4-BE49-F238E27FC236}">
                <a16:creationId xmlns:a16="http://schemas.microsoft.com/office/drawing/2014/main" id="{6510BD47-B104-4138-8A58-F1B7A219CD2E}"/>
              </a:ext>
            </a:extLst>
          </p:cNvPr>
          <p:cNvSpPr/>
          <p:nvPr/>
        </p:nvSpPr>
        <p:spPr>
          <a:xfrm>
            <a:off x="2209017" y="2767341"/>
            <a:ext cx="1210460" cy="1069066"/>
          </a:xfrm>
          <a:prstGeom prst="triangle">
            <a:avLst/>
          </a:prstGeom>
          <a:solidFill>
            <a:srgbClr val="00B0F0"/>
          </a:solidFill>
          <a:ln w="38100">
            <a:solidFill>
              <a:srgbClr val="00B0F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 name="Group 28">
            <a:extLst>
              <a:ext uri="{FF2B5EF4-FFF2-40B4-BE49-F238E27FC236}">
                <a16:creationId xmlns:a16="http://schemas.microsoft.com/office/drawing/2014/main" id="{7486AE59-9BB8-4312-902A-4EFEEF2ABCEF}"/>
              </a:ext>
            </a:extLst>
          </p:cNvPr>
          <p:cNvGrpSpPr/>
          <p:nvPr/>
        </p:nvGrpSpPr>
        <p:grpSpPr>
          <a:xfrm>
            <a:off x="1995049" y="5083132"/>
            <a:ext cx="2288186" cy="854530"/>
            <a:chOff x="1995049" y="5083132"/>
            <a:chExt cx="2288186" cy="854530"/>
          </a:xfrm>
        </p:grpSpPr>
        <p:grpSp>
          <p:nvGrpSpPr>
            <p:cNvPr id="33" name="Group 32">
              <a:extLst>
                <a:ext uri="{FF2B5EF4-FFF2-40B4-BE49-F238E27FC236}">
                  <a16:creationId xmlns:a16="http://schemas.microsoft.com/office/drawing/2014/main" id="{ABEC80D4-5163-44C0-908B-C7144719773E}"/>
                </a:ext>
              </a:extLst>
            </p:cNvPr>
            <p:cNvGrpSpPr/>
            <p:nvPr/>
          </p:nvGrpSpPr>
          <p:grpSpPr>
            <a:xfrm>
              <a:off x="1995049" y="5531922"/>
              <a:ext cx="1971316" cy="405740"/>
              <a:chOff x="1888174" y="5520047"/>
              <a:chExt cx="1971316" cy="405740"/>
            </a:xfrm>
          </p:grpSpPr>
          <p:sp>
            <p:nvSpPr>
              <p:cNvPr id="48" name="Oval 47">
                <a:extLst>
                  <a:ext uri="{FF2B5EF4-FFF2-40B4-BE49-F238E27FC236}">
                    <a16:creationId xmlns:a16="http://schemas.microsoft.com/office/drawing/2014/main" id="{43088728-35BA-42C9-A18F-34C912C382C8}"/>
                  </a:ext>
                </a:extLst>
              </p:cNvPr>
              <p:cNvSpPr/>
              <p:nvPr/>
            </p:nvSpPr>
            <p:spPr>
              <a:xfrm>
                <a:off x="1888174" y="5617028"/>
                <a:ext cx="285008" cy="308759"/>
              </a:xfrm>
              <a:prstGeom prst="ellipse">
                <a:avLst/>
              </a:prstGeom>
              <a:solidFill>
                <a:srgbClr val="00B0F0"/>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C2B44EF5-A8CD-4934-A972-8EADEF2F8536}"/>
                  </a:ext>
                </a:extLst>
              </p:cNvPr>
              <p:cNvSpPr/>
              <p:nvPr/>
            </p:nvSpPr>
            <p:spPr>
              <a:xfrm>
                <a:off x="2040572" y="5520047"/>
                <a:ext cx="285008" cy="308759"/>
              </a:xfrm>
              <a:prstGeom prst="ellipse">
                <a:avLst/>
              </a:prstGeom>
              <a:solidFill>
                <a:srgbClr val="7030A0"/>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E2D7B151-B5E2-4A3B-B033-91944AD65479}"/>
                  </a:ext>
                </a:extLst>
              </p:cNvPr>
              <p:cNvSpPr/>
              <p:nvPr/>
            </p:nvSpPr>
            <p:spPr>
              <a:xfrm>
                <a:off x="2157350" y="5613069"/>
                <a:ext cx="285008" cy="308759"/>
              </a:xfrm>
              <a:prstGeom prst="ellipse">
                <a:avLst/>
              </a:prstGeom>
              <a:solidFill>
                <a:srgbClr val="00B0F0"/>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Equal 28">
                <a:extLst>
                  <a:ext uri="{FF2B5EF4-FFF2-40B4-BE49-F238E27FC236}">
                    <a16:creationId xmlns:a16="http://schemas.microsoft.com/office/drawing/2014/main" id="{1E5F08A3-C6A4-4AB2-BDA5-7E3DD25FB8A7}"/>
                  </a:ext>
                </a:extLst>
              </p:cNvPr>
              <p:cNvSpPr/>
              <p:nvPr/>
            </p:nvSpPr>
            <p:spPr>
              <a:xfrm>
                <a:off x="2493815" y="5617027"/>
                <a:ext cx="320636" cy="237507"/>
              </a:xfrm>
              <a:prstGeom prst="mathEqual">
                <a:avLst/>
              </a:prstGeom>
              <a:solidFill>
                <a:schemeClr val="tx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2" name="TextBox 51">
                <a:extLst>
                  <a:ext uri="{FF2B5EF4-FFF2-40B4-BE49-F238E27FC236}">
                    <a16:creationId xmlns:a16="http://schemas.microsoft.com/office/drawing/2014/main" id="{C82449A3-DF1E-4495-AAE0-C72F9CB84C26}"/>
                  </a:ext>
                </a:extLst>
              </p:cNvPr>
              <p:cNvSpPr txBox="1"/>
              <p:nvPr/>
            </p:nvSpPr>
            <p:spPr>
              <a:xfrm>
                <a:off x="2826327" y="5572188"/>
                <a:ext cx="1033163" cy="338554"/>
              </a:xfrm>
              <a:prstGeom prst="rect">
                <a:avLst/>
              </a:prstGeom>
              <a:noFill/>
            </p:spPr>
            <p:txBody>
              <a:bodyPr wrap="square" rtlCol="0">
                <a:spAutoFit/>
              </a:bodyPr>
              <a:lstStyle/>
              <a:p>
                <a:r>
                  <a:rPr lang="en-US" sz="1600" b="1" dirty="0"/>
                  <a:t>x3 and x2</a:t>
                </a:r>
              </a:p>
            </p:txBody>
          </p:sp>
        </p:grpSp>
        <p:sp>
          <p:nvSpPr>
            <p:cNvPr id="34" name="TextBox 33">
              <a:extLst>
                <a:ext uri="{FF2B5EF4-FFF2-40B4-BE49-F238E27FC236}">
                  <a16:creationId xmlns:a16="http://schemas.microsoft.com/office/drawing/2014/main" id="{DA2610ED-182B-44A0-A1E0-BB70DD9F8470}"/>
                </a:ext>
              </a:extLst>
            </p:cNvPr>
            <p:cNvSpPr txBox="1"/>
            <p:nvPr/>
          </p:nvSpPr>
          <p:spPr>
            <a:xfrm>
              <a:off x="2209017" y="5159117"/>
              <a:ext cx="439184" cy="246221"/>
            </a:xfrm>
            <a:prstGeom prst="rect">
              <a:avLst/>
            </a:prstGeom>
            <a:noFill/>
          </p:spPr>
          <p:txBody>
            <a:bodyPr wrap="square" rtlCol="0">
              <a:spAutoFit/>
            </a:bodyPr>
            <a:lstStyle/>
            <a:p>
              <a:r>
                <a:rPr lang="en-US" sz="1000" b="1" dirty="0"/>
                <a:t>KEY:  </a:t>
              </a:r>
            </a:p>
          </p:txBody>
        </p:sp>
        <p:grpSp>
          <p:nvGrpSpPr>
            <p:cNvPr id="35" name="Group 34">
              <a:extLst>
                <a:ext uri="{FF2B5EF4-FFF2-40B4-BE49-F238E27FC236}">
                  <a16:creationId xmlns:a16="http://schemas.microsoft.com/office/drawing/2014/main" id="{90594AAC-CB92-4BE8-8B5D-446664B5BCC5}"/>
                </a:ext>
              </a:extLst>
            </p:cNvPr>
            <p:cNvGrpSpPr/>
            <p:nvPr/>
          </p:nvGrpSpPr>
          <p:grpSpPr>
            <a:xfrm>
              <a:off x="3230092" y="5095546"/>
              <a:ext cx="332707" cy="314159"/>
              <a:chOff x="2002600" y="3176050"/>
              <a:chExt cx="1171575" cy="895350"/>
            </a:xfrm>
            <a:effectLst>
              <a:outerShdw blurRad="50800" dist="38100" dir="2700000" algn="tl" rotWithShape="0">
                <a:prstClr val="black">
                  <a:alpha val="40000"/>
                </a:prstClr>
              </a:outerShdw>
            </a:effectLst>
          </p:grpSpPr>
          <p:sp>
            <p:nvSpPr>
              <p:cNvPr id="46" name="Hexagon 45">
                <a:extLst>
                  <a:ext uri="{FF2B5EF4-FFF2-40B4-BE49-F238E27FC236}">
                    <a16:creationId xmlns:a16="http://schemas.microsoft.com/office/drawing/2014/main" id="{45F3E256-EAED-4ED3-8576-E92B559238AB}"/>
                  </a:ext>
                </a:extLst>
              </p:cNvPr>
              <p:cNvSpPr/>
              <p:nvPr/>
            </p:nvSpPr>
            <p:spPr>
              <a:xfrm>
                <a:off x="2002600" y="3176050"/>
                <a:ext cx="628650" cy="581025"/>
              </a:xfrm>
              <a:prstGeom prst="hexagon">
                <a:avLst/>
              </a:prstGeom>
              <a:solidFill>
                <a:schemeClr val="tx1"/>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Hexagon 46">
                <a:extLst>
                  <a:ext uri="{FF2B5EF4-FFF2-40B4-BE49-F238E27FC236}">
                    <a16:creationId xmlns:a16="http://schemas.microsoft.com/office/drawing/2014/main" id="{FE05442D-E4DD-4368-8870-34052A0FAA55}"/>
                  </a:ext>
                </a:extLst>
              </p:cNvPr>
              <p:cNvSpPr/>
              <p:nvPr/>
            </p:nvSpPr>
            <p:spPr>
              <a:xfrm>
                <a:off x="2545525" y="3490375"/>
                <a:ext cx="628650" cy="581025"/>
              </a:xfrm>
              <a:prstGeom prst="hexagon">
                <a:avLst/>
              </a:prstGeom>
              <a:solidFill>
                <a:srgbClr val="00B0F0"/>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7" name="Group 36">
              <a:extLst>
                <a:ext uri="{FF2B5EF4-FFF2-40B4-BE49-F238E27FC236}">
                  <a16:creationId xmlns:a16="http://schemas.microsoft.com/office/drawing/2014/main" id="{0D8ACAA6-E85A-4D98-96A5-E9D1DEB7BF8E}"/>
                </a:ext>
              </a:extLst>
            </p:cNvPr>
            <p:cNvGrpSpPr/>
            <p:nvPr/>
          </p:nvGrpSpPr>
          <p:grpSpPr>
            <a:xfrm>
              <a:off x="3667301" y="5102097"/>
              <a:ext cx="332707" cy="317501"/>
              <a:chOff x="2545525" y="3166525"/>
              <a:chExt cx="1171575" cy="904875"/>
            </a:xfrm>
            <a:effectLst>
              <a:outerShdw blurRad="50800" dist="38100" dir="2700000" algn="tl" rotWithShape="0">
                <a:prstClr val="black">
                  <a:alpha val="40000"/>
                </a:prstClr>
              </a:outerShdw>
            </a:effectLst>
          </p:grpSpPr>
          <p:sp>
            <p:nvSpPr>
              <p:cNvPr id="44" name="Hexagon 43">
                <a:extLst>
                  <a:ext uri="{FF2B5EF4-FFF2-40B4-BE49-F238E27FC236}">
                    <a16:creationId xmlns:a16="http://schemas.microsoft.com/office/drawing/2014/main" id="{F31ABD5C-3831-49F4-8B85-0519020C3380}"/>
                  </a:ext>
                </a:extLst>
              </p:cNvPr>
              <p:cNvSpPr/>
              <p:nvPr/>
            </p:nvSpPr>
            <p:spPr>
              <a:xfrm>
                <a:off x="3088450" y="3166525"/>
                <a:ext cx="628650" cy="581025"/>
              </a:xfrm>
              <a:prstGeom prst="hexagon">
                <a:avLst/>
              </a:prstGeom>
              <a:solidFill>
                <a:srgbClr val="FFFF00"/>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Hexagon 44">
                <a:extLst>
                  <a:ext uri="{FF2B5EF4-FFF2-40B4-BE49-F238E27FC236}">
                    <a16:creationId xmlns:a16="http://schemas.microsoft.com/office/drawing/2014/main" id="{50332F50-3F13-4C68-827F-FCD2A94A8903}"/>
                  </a:ext>
                </a:extLst>
              </p:cNvPr>
              <p:cNvSpPr/>
              <p:nvPr/>
            </p:nvSpPr>
            <p:spPr>
              <a:xfrm>
                <a:off x="2545525" y="3490375"/>
                <a:ext cx="628650" cy="581025"/>
              </a:xfrm>
              <a:prstGeom prst="hexagon">
                <a:avLst/>
              </a:prstGeom>
              <a:solidFill>
                <a:srgbClr val="00B0F0"/>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8" name="Hexagon 37">
              <a:extLst>
                <a:ext uri="{FF2B5EF4-FFF2-40B4-BE49-F238E27FC236}">
                  <a16:creationId xmlns:a16="http://schemas.microsoft.com/office/drawing/2014/main" id="{24D83AF0-7841-4825-85B4-C1CABB7533D5}"/>
                </a:ext>
              </a:extLst>
            </p:cNvPr>
            <p:cNvSpPr/>
            <p:nvPr/>
          </p:nvSpPr>
          <p:spPr>
            <a:xfrm>
              <a:off x="4104709" y="5201875"/>
              <a:ext cx="178526" cy="203869"/>
            </a:xfrm>
            <a:prstGeom prst="hexagon">
              <a:avLst/>
            </a:prstGeom>
            <a:solidFill>
              <a:srgbClr val="00B0F0"/>
            </a:solidFill>
            <a:ln w="57150">
              <a:solidFill>
                <a:srgbClr val="00B05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9" name="Group 38">
              <a:extLst>
                <a:ext uri="{FF2B5EF4-FFF2-40B4-BE49-F238E27FC236}">
                  <a16:creationId xmlns:a16="http://schemas.microsoft.com/office/drawing/2014/main" id="{879A49C5-DDED-4525-91C0-B79436791197}"/>
                </a:ext>
              </a:extLst>
            </p:cNvPr>
            <p:cNvGrpSpPr/>
            <p:nvPr/>
          </p:nvGrpSpPr>
          <p:grpSpPr>
            <a:xfrm>
              <a:off x="2634346" y="5083132"/>
              <a:ext cx="485107" cy="324591"/>
              <a:chOff x="2002600" y="3146319"/>
              <a:chExt cx="1708227" cy="925081"/>
            </a:xfrm>
            <a:effectLst>
              <a:outerShdw blurRad="50800" dist="38100" dir="2700000" algn="tl" rotWithShape="0">
                <a:prstClr val="black">
                  <a:alpha val="40000"/>
                </a:prstClr>
              </a:outerShdw>
            </a:effectLst>
          </p:grpSpPr>
          <p:sp>
            <p:nvSpPr>
              <p:cNvPr id="40" name="Hexagon 39">
                <a:extLst>
                  <a:ext uri="{FF2B5EF4-FFF2-40B4-BE49-F238E27FC236}">
                    <a16:creationId xmlns:a16="http://schemas.microsoft.com/office/drawing/2014/main" id="{19E82A26-1943-4A27-98FC-5649DA0038AF}"/>
                  </a:ext>
                </a:extLst>
              </p:cNvPr>
              <p:cNvSpPr/>
              <p:nvPr/>
            </p:nvSpPr>
            <p:spPr>
              <a:xfrm>
                <a:off x="2002600" y="3176050"/>
                <a:ext cx="628650" cy="581025"/>
              </a:xfrm>
              <a:prstGeom prst="hexagon">
                <a:avLst/>
              </a:prstGeom>
              <a:solidFill>
                <a:schemeClr val="tx1"/>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Hexagon 40">
                <a:extLst>
                  <a:ext uri="{FF2B5EF4-FFF2-40B4-BE49-F238E27FC236}">
                    <a16:creationId xmlns:a16="http://schemas.microsoft.com/office/drawing/2014/main" id="{E563AE34-7843-4784-A908-45B88D5981ED}"/>
                  </a:ext>
                </a:extLst>
              </p:cNvPr>
              <p:cNvSpPr/>
              <p:nvPr/>
            </p:nvSpPr>
            <p:spPr>
              <a:xfrm>
                <a:off x="2545525" y="3490375"/>
                <a:ext cx="628650" cy="581025"/>
              </a:xfrm>
              <a:prstGeom prst="hexagon">
                <a:avLst/>
              </a:prstGeom>
              <a:solidFill>
                <a:srgbClr val="00B0F0"/>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Hexagon 42">
                <a:extLst>
                  <a:ext uri="{FF2B5EF4-FFF2-40B4-BE49-F238E27FC236}">
                    <a16:creationId xmlns:a16="http://schemas.microsoft.com/office/drawing/2014/main" id="{26F6C200-EA13-45EF-BFCF-6F7F332BBF4B}"/>
                  </a:ext>
                </a:extLst>
              </p:cNvPr>
              <p:cNvSpPr/>
              <p:nvPr/>
            </p:nvSpPr>
            <p:spPr>
              <a:xfrm>
                <a:off x="3082176" y="3146319"/>
                <a:ext cx="628651" cy="581025"/>
              </a:xfrm>
              <a:prstGeom prst="hexagon">
                <a:avLst/>
              </a:prstGeom>
              <a:solidFill>
                <a:srgbClr val="FFFF00"/>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aphicFrame>
        <p:nvGraphicFramePr>
          <p:cNvPr id="42" name="Table 6">
            <a:extLst>
              <a:ext uri="{FF2B5EF4-FFF2-40B4-BE49-F238E27FC236}">
                <a16:creationId xmlns:a16="http://schemas.microsoft.com/office/drawing/2014/main" id="{F234952F-9113-4586-A300-7F9A40CA8DC0}"/>
              </a:ext>
            </a:extLst>
          </p:cNvPr>
          <p:cNvGraphicFramePr>
            <a:graphicFrameLocks noGrp="1"/>
          </p:cNvGraphicFramePr>
          <p:nvPr/>
        </p:nvGraphicFramePr>
        <p:xfrm>
          <a:off x="4830969" y="719665"/>
          <a:ext cx="5737719" cy="3383280"/>
        </p:xfrm>
        <a:graphic>
          <a:graphicData uri="http://schemas.openxmlformats.org/drawingml/2006/table">
            <a:tbl>
              <a:tblPr firstRow="1" bandRow="1">
                <a:tableStyleId>{5940675A-B579-460E-94D1-54222C63F5DA}</a:tableStyleId>
              </a:tblPr>
              <a:tblGrid>
                <a:gridCol w="5737719">
                  <a:extLst>
                    <a:ext uri="{9D8B030D-6E8A-4147-A177-3AD203B41FA5}">
                      <a16:colId xmlns:a16="http://schemas.microsoft.com/office/drawing/2014/main" val="3887999668"/>
                    </a:ext>
                  </a:extLst>
                </a:gridCol>
              </a:tblGrid>
              <a:tr h="483493">
                <a:tc>
                  <a:txBody>
                    <a:bodyPr/>
                    <a:lstStyle/>
                    <a:p>
                      <a:pPr algn="ctr"/>
                      <a:r>
                        <a:rPr lang="en-US" sz="3600" b="1" dirty="0"/>
                        <a:t>LOYALTY </a:t>
                      </a:r>
                    </a:p>
                    <a:p>
                      <a:pPr algn="ctr"/>
                      <a:r>
                        <a:rPr lang="en-US" sz="3600" b="1" dirty="0"/>
                        <a:t>JOB FUNCTIONS</a:t>
                      </a:r>
                    </a:p>
                  </a:txBody>
                  <a:tcPr/>
                </a:tc>
                <a:extLst>
                  <a:ext uri="{0D108BD9-81ED-4DB2-BD59-A6C34878D82A}">
                    <a16:rowId xmlns:a16="http://schemas.microsoft.com/office/drawing/2014/main" val="1324454018"/>
                  </a:ext>
                </a:extLst>
              </a:tr>
              <a:tr h="1246241">
                <a:tc>
                  <a:txBody>
                    <a:bodyPr/>
                    <a:lstStyle/>
                    <a:p>
                      <a:pPr algn="ctr"/>
                      <a:endParaRPr lang="en-US" sz="1800" b="1" dirty="0"/>
                    </a:p>
                    <a:p>
                      <a:pPr algn="ctr"/>
                      <a:r>
                        <a:rPr lang="en-US" sz="2400" b="1" dirty="0"/>
                        <a:t>SKILL/CAREER- CUSTOMER RELATIONSHIP MANAGEMENT, CUSTOMER CARE, SOCIOLOGY, PSYCHOLOGY, CRM ONLINE PLATFORMS.</a:t>
                      </a:r>
                      <a:br>
                        <a:rPr lang="en-US" sz="2400" b="1" dirty="0"/>
                      </a:br>
                      <a:endParaRPr lang="en-US" sz="2400" b="1" dirty="0"/>
                    </a:p>
                  </a:txBody>
                  <a:tcPr/>
                </a:tc>
                <a:extLst>
                  <a:ext uri="{0D108BD9-81ED-4DB2-BD59-A6C34878D82A}">
                    <a16:rowId xmlns:a16="http://schemas.microsoft.com/office/drawing/2014/main" val="682039194"/>
                  </a:ext>
                </a:extLst>
              </a:tr>
            </a:tbl>
          </a:graphicData>
        </a:graphic>
      </p:graphicFrame>
      <p:graphicFrame>
        <p:nvGraphicFramePr>
          <p:cNvPr id="32" name="Table 7">
            <a:extLst>
              <a:ext uri="{FF2B5EF4-FFF2-40B4-BE49-F238E27FC236}">
                <a16:creationId xmlns:a16="http://schemas.microsoft.com/office/drawing/2014/main" id="{C2E68C05-E10F-4DD1-8493-BF42E60F93F4}"/>
              </a:ext>
            </a:extLst>
          </p:cNvPr>
          <p:cNvGraphicFramePr>
            <a:graphicFrameLocks noGrp="1"/>
          </p:cNvGraphicFramePr>
          <p:nvPr/>
        </p:nvGraphicFramePr>
        <p:xfrm>
          <a:off x="4736636" y="4831254"/>
          <a:ext cx="5926384" cy="1158240"/>
        </p:xfrm>
        <a:graphic>
          <a:graphicData uri="http://schemas.openxmlformats.org/drawingml/2006/table">
            <a:tbl>
              <a:tblPr firstRow="1" bandRow="1">
                <a:tableStyleId>{5C22544A-7EE6-4342-B048-85BDC9FD1C3A}</a:tableStyleId>
              </a:tblPr>
              <a:tblGrid>
                <a:gridCol w="2963192">
                  <a:extLst>
                    <a:ext uri="{9D8B030D-6E8A-4147-A177-3AD203B41FA5}">
                      <a16:colId xmlns:a16="http://schemas.microsoft.com/office/drawing/2014/main" val="1028654853"/>
                    </a:ext>
                  </a:extLst>
                </a:gridCol>
                <a:gridCol w="2963192">
                  <a:extLst>
                    <a:ext uri="{9D8B030D-6E8A-4147-A177-3AD203B41FA5}">
                      <a16:colId xmlns:a16="http://schemas.microsoft.com/office/drawing/2014/main" val="2159636558"/>
                    </a:ext>
                  </a:extLst>
                </a:gridCol>
              </a:tblGrid>
              <a:tr h="370840">
                <a:tc>
                  <a:txBody>
                    <a:bodyPr/>
                    <a:lstStyle/>
                    <a:p>
                      <a:pPr algn="ctr"/>
                      <a:r>
                        <a:rPr lang="en-US" dirty="0">
                          <a:solidFill>
                            <a:srgbClr val="C00000"/>
                          </a:solidFill>
                        </a:rPr>
                        <a:t>INSIGHT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400" dirty="0">
                          <a:solidFill>
                            <a:srgbClr val="C00000"/>
                          </a:solidFill>
                        </a:rPr>
                        <a:t>SEEK AN UPGRADE COMBO WITH  PRODUCT, SERVICE, PLATFORM &amp; BUSINESS PROCESS SKILL SETS AND NOTE, MULTI INDUSTRY EXPERIENCE IS AN ADDED BONUS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823397659"/>
                  </a:ext>
                </a:extLst>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9717505" cy="1325563"/>
          </a:xfrm>
          <a:solidFill>
            <a:srgbClr val="0070C0"/>
          </a:solidFill>
        </p:spPr>
        <p:txBody>
          <a:bodyPr/>
          <a:lstStyle/>
          <a:p>
            <a:r>
              <a:rPr lang="en-US" b="1" dirty="0"/>
              <a:t>GET CARDS: SKILL SETS</a:t>
            </a:r>
          </a:p>
        </p:txBody>
      </p:sp>
      <p:sp>
        <p:nvSpPr>
          <p:cNvPr id="3" name="Content Placeholder 2"/>
          <p:cNvSpPr>
            <a:spLocks noGrp="1"/>
          </p:cNvSpPr>
          <p:nvPr>
            <p:ph idx="1"/>
          </p:nvPr>
        </p:nvSpPr>
        <p:spPr>
          <a:xfrm>
            <a:off x="838200" y="1825625"/>
            <a:ext cx="9482959" cy="4351338"/>
          </a:xfrm>
        </p:spPr>
        <p:txBody>
          <a:bodyPr>
            <a:normAutofit/>
          </a:bodyPr>
          <a:lstStyle/>
          <a:p>
            <a:r>
              <a:rPr lang="en-US" dirty="0"/>
              <a:t>REVENUE: Skill/Career- Accounting, Financial, Analytics, Sales, Management.</a:t>
            </a:r>
            <a:br>
              <a:rPr lang="en-US" dirty="0"/>
            </a:br>
            <a:br>
              <a:rPr lang="en-US" dirty="0"/>
            </a:br>
            <a:r>
              <a:rPr lang="en-US" dirty="0"/>
              <a:t>LOYALTY: Skill/Career- Customer Relationship Management, Customer Care, Sociology, psychology, CRM Online Platforms.</a:t>
            </a:r>
            <a:br>
              <a:rPr lang="en-US" dirty="0"/>
            </a:br>
            <a:br>
              <a:rPr lang="en-US" dirty="0"/>
            </a:br>
            <a:r>
              <a:rPr lang="en-US" dirty="0"/>
              <a:t>GOODWILL: Skill/Career- Negotiations, Business Relations, Diplomacy, Legal, Financial Analysis, Government Relations.</a:t>
            </a:r>
            <a:br>
              <a:rPr lang="en-US" dirty="0"/>
            </a:br>
            <a:endParaRPr lang="en-US" dirty="0"/>
          </a:p>
        </p:txBody>
      </p:sp>
    </p:spTree>
    <p:extLst>
      <p:ext uri="{BB962C8B-B14F-4D97-AF65-F5344CB8AC3E}">
        <p14:creationId xmlns:p14="http://schemas.microsoft.com/office/powerpoint/2010/main" val="18902840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THE INNOVATION CARD</a:t>
            </a:r>
          </a:p>
        </p:txBody>
      </p:sp>
      <p:sp>
        <p:nvSpPr>
          <p:cNvPr id="5" name="Text Placeholder 4"/>
          <p:cNvSpPr>
            <a:spLocks noGrp="1"/>
          </p:cNvSpPr>
          <p:nvPr>
            <p:ph type="body" idx="1"/>
          </p:nvPr>
        </p:nvSpPr>
        <p:spPr/>
        <p:txBody>
          <a:bodyPr/>
          <a:lstStyle/>
          <a:p>
            <a:r>
              <a:rPr lang="en-US" b="1" dirty="0">
                <a:solidFill>
                  <a:srgbClr val="FF0000"/>
                </a:solidFill>
              </a:rPr>
              <a:t>CARD CAPABILITIES &amp; NEW DESIGN</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3"/>
          <p:cNvGrpSpPr/>
          <p:nvPr/>
        </p:nvGrpSpPr>
        <p:grpSpPr>
          <a:xfrm>
            <a:off x="3419055" y="563524"/>
            <a:ext cx="5108867" cy="5992095"/>
            <a:chOff x="3273139" y="173184"/>
            <a:chExt cx="5108867" cy="5992095"/>
          </a:xfrm>
        </p:grpSpPr>
        <p:sp>
          <p:nvSpPr>
            <p:cNvPr id="15" name="Rounded Rectangle 14"/>
            <p:cNvSpPr/>
            <p:nvPr/>
          </p:nvSpPr>
          <p:spPr>
            <a:xfrm>
              <a:off x="3273139" y="2341421"/>
              <a:ext cx="2022764" cy="3172691"/>
            </a:xfrm>
            <a:prstGeom prst="roundRect">
              <a:avLst/>
            </a:prstGeom>
            <a:solidFill>
              <a:schemeClr val="bg1">
                <a:lumMod val="95000"/>
              </a:schemeClr>
            </a:solidFill>
            <a:ln w="762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solidFill>
                    <a:srgbClr val="FF0000"/>
                  </a:solidFill>
                </a:rPr>
                <a:t>COGNATE TRIBE CARD TOPOLOGY</a:t>
              </a:r>
            </a:p>
            <a:p>
              <a:pPr algn="ctr"/>
              <a:endParaRPr lang="en-GB" sz="1400" b="1" dirty="0">
                <a:solidFill>
                  <a:srgbClr val="FF0000"/>
                </a:solidFill>
              </a:endParaRPr>
            </a:p>
            <a:p>
              <a:pPr algn="ctr"/>
              <a:r>
                <a:rPr lang="en-GB" sz="1400" b="1" dirty="0">
                  <a:solidFill>
                    <a:srgbClr val="FF0000"/>
                  </a:solidFill>
                </a:rPr>
                <a:t>ANIMAL CARDS</a:t>
              </a:r>
            </a:p>
            <a:p>
              <a:pPr algn="ctr"/>
              <a:r>
                <a:rPr lang="en-GB" sz="1100" b="1" dirty="0">
                  <a:solidFill>
                    <a:srgbClr val="FF0000"/>
                  </a:solidFill>
                </a:rPr>
                <a:t>(ENTERPRISE TYPOLOGY)</a:t>
              </a:r>
            </a:p>
          </p:txBody>
        </p:sp>
        <p:sp>
          <p:nvSpPr>
            <p:cNvPr id="16" name="Rounded Rectangle 15"/>
            <p:cNvSpPr/>
            <p:nvPr/>
          </p:nvSpPr>
          <p:spPr>
            <a:xfrm>
              <a:off x="6359242" y="2341421"/>
              <a:ext cx="2022764" cy="3172691"/>
            </a:xfrm>
            <a:prstGeom prst="roundRect">
              <a:avLst/>
            </a:prstGeom>
            <a:solidFill>
              <a:schemeClr val="bg1">
                <a:lumMod val="95000"/>
              </a:schemeClr>
            </a:solid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solidFill>
                    <a:srgbClr val="FF0000"/>
                  </a:solidFill>
                </a:rPr>
                <a:t>SKILL CARDS TOPOLOGY</a:t>
              </a:r>
            </a:p>
            <a:p>
              <a:pPr algn="ctr"/>
              <a:endParaRPr lang="en-GB" sz="1400" b="1" dirty="0">
                <a:solidFill>
                  <a:srgbClr val="FF0000"/>
                </a:solidFill>
              </a:endParaRPr>
            </a:p>
            <a:p>
              <a:pPr algn="ctr"/>
              <a:r>
                <a:rPr lang="en-GB" sz="1400" b="1" dirty="0">
                  <a:solidFill>
                    <a:srgbClr val="FF0000"/>
                  </a:solidFill>
                </a:rPr>
                <a:t>RELATIONAL</a:t>
              </a:r>
            </a:p>
            <a:p>
              <a:pPr algn="ctr"/>
              <a:r>
                <a:rPr lang="en-GB" sz="1100" b="1" dirty="0">
                  <a:solidFill>
                    <a:srgbClr val="FF0000"/>
                  </a:solidFill>
                </a:rPr>
                <a:t>(CORPORATE VALUES)</a:t>
              </a:r>
            </a:p>
            <a:p>
              <a:pPr algn="ctr"/>
              <a:r>
                <a:rPr lang="en-GB" sz="1400" b="1" dirty="0">
                  <a:solidFill>
                    <a:srgbClr val="FF0000"/>
                  </a:solidFill>
                </a:rPr>
                <a:t>PEOPLE </a:t>
              </a:r>
            </a:p>
            <a:p>
              <a:pPr algn="ctr"/>
              <a:r>
                <a:rPr lang="en-GB" sz="1100" b="1" dirty="0">
                  <a:solidFill>
                    <a:srgbClr val="FF0000"/>
                  </a:solidFill>
                </a:rPr>
                <a:t>(BUSINESS ECOSYSTEM)</a:t>
              </a:r>
            </a:p>
            <a:p>
              <a:pPr algn="ctr"/>
              <a:r>
                <a:rPr lang="en-GB" sz="1400" b="1" dirty="0">
                  <a:solidFill>
                    <a:srgbClr val="FF0000"/>
                  </a:solidFill>
                </a:rPr>
                <a:t>GIVE </a:t>
              </a:r>
            </a:p>
            <a:p>
              <a:pPr algn="ctr"/>
              <a:r>
                <a:rPr lang="en-GB" sz="1100" b="1" dirty="0">
                  <a:solidFill>
                    <a:srgbClr val="FF0000"/>
                  </a:solidFill>
                </a:rPr>
                <a:t>(BUSINESS SYSTEMS)</a:t>
              </a:r>
            </a:p>
            <a:p>
              <a:pPr algn="ctr"/>
              <a:r>
                <a:rPr lang="en-GB" sz="1400" b="1" dirty="0">
                  <a:solidFill>
                    <a:srgbClr val="FF0000"/>
                  </a:solidFill>
                </a:rPr>
                <a:t>GET</a:t>
              </a:r>
            </a:p>
            <a:p>
              <a:pPr algn="ctr"/>
              <a:r>
                <a:rPr lang="en-GB" sz="1100" b="1" dirty="0">
                  <a:solidFill>
                    <a:srgbClr val="FF0000"/>
                  </a:solidFill>
                </a:rPr>
                <a:t>(THE MARKETPLACE)</a:t>
              </a:r>
            </a:p>
          </p:txBody>
        </p:sp>
        <p:sp>
          <p:nvSpPr>
            <p:cNvPr id="17" name="Rounded Rectangle 16"/>
            <p:cNvSpPr/>
            <p:nvPr/>
          </p:nvSpPr>
          <p:spPr>
            <a:xfrm>
              <a:off x="4772894" y="5140043"/>
              <a:ext cx="2022764" cy="1025236"/>
            </a:xfrm>
            <a:prstGeom prst="roundRect">
              <a:avLst/>
            </a:prstGeom>
            <a:solidFill>
              <a:schemeClr val="bg1">
                <a:lumMod val="95000"/>
              </a:schemeClr>
            </a:solidFill>
            <a:ln w="762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solidFill>
                    <a:srgbClr val="FF0000"/>
                  </a:solidFill>
                </a:rPr>
                <a:t>IMPACT OF APPLICATION &amp; NON APPLICATION OF INNOVATION.</a:t>
              </a:r>
            </a:p>
          </p:txBody>
        </p:sp>
        <p:sp>
          <p:nvSpPr>
            <p:cNvPr id="18" name="Rounded Rectangle 17"/>
            <p:cNvSpPr/>
            <p:nvPr/>
          </p:nvSpPr>
          <p:spPr>
            <a:xfrm>
              <a:off x="4772894" y="173184"/>
              <a:ext cx="2022764" cy="3172691"/>
            </a:xfrm>
            <a:prstGeom prst="roundRect">
              <a:avLst/>
            </a:prstGeom>
            <a:solidFill>
              <a:schemeClr val="bg1">
                <a:lumMod val="95000"/>
              </a:schemeClr>
            </a:solidFill>
            <a:ln w="762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solidFill>
                    <a:srgbClr val="FF0000"/>
                  </a:solidFill>
                </a:rPr>
                <a:t>INNOVATION CARD TOPOLOGY</a:t>
              </a:r>
            </a:p>
            <a:p>
              <a:pPr algn="ctr"/>
              <a:endParaRPr lang="en-GB" sz="1400" b="1" dirty="0">
                <a:solidFill>
                  <a:srgbClr val="FF0000"/>
                </a:solidFill>
              </a:endParaRPr>
            </a:p>
            <a:p>
              <a:pPr algn="ctr"/>
              <a:r>
                <a:rPr lang="en-GB" sz="1400" b="1" dirty="0">
                  <a:solidFill>
                    <a:srgbClr val="FF0000"/>
                  </a:solidFill>
                </a:rPr>
                <a:t>EUREKA</a:t>
              </a:r>
            </a:p>
            <a:p>
              <a:pPr algn="ctr"/>
              <a:r>
                <a:rPr lang="en-GB" sz="1100" b="1" dirty="0">
                  <a:solidFill>
                    <a:srgbClr val="FF0000"/>
                  </a:solidFill>
                </a:rPr>
                <a:t>(APPLIED INNOVATION)</a:t>
              </a:r>
            </a:p>
            <a:p>
              <a:pPr algn="ctr"/>
              <a:endParaRPr lang="en-GB" sz="1100" b="1" dirty="0">
                <a:solidFill>
                  <a:srgbClr val="FF0000"/>
                </a:solidFill>
              </a:endParaRPr>
            </a:p>
            <a:p>
              <a:pPr algn="ctr"/>
              <a:r>
                <a:rPr lang="en-GB" sz="1100" b="1" dirty="0">
                  <a:solidFill>
                    <a:srgbClr val="FF0000"/>
                  </a:solidFill>
                </a:rPr>
                <a:t>COMBINE</a:t>
              </a:r>
            </a:p>
            <a:p>
              <a:pPr algn="ctr"/>
              <a:r>
                <a:rPr lang="en-GB" sz="1100" b="1" dirty="0">
                  <a:solidFill>
                    <a:srgbClr val="FF0000"/>
                  </a:solidFill>
                </a:rPr>
                <a:t>CONNECT</a:t>
              </a:r>
            </a:p>
            <a:p>
              <a:pPr algn="ctr"/>
              <a:r>
                <a:rPr lang="en-GB" sz="1100" b="1" dirty="0">
                  <a:solidFill>
                    <a:srgbClr val="FF0000"/>
                  </a:solidFill>
                </a:rPr>
                <a:t>DISRUPT</a:t>
              </a:r>
            </a:p>
            <a:p>
              <a:pPr algn="ctr"/>
              <a:r>
                <a:rPr lang="en-GB" sz="1100" b="1" dirty="0">
                  <a:solidFill>
                    <a:srgbClr val="FF0000"/>
                  </a:solidFill>
                </a:rPr>
                <a:t>IMPROVE</a:t>
              </a:r>
            </a:p>
            <a:p>
              <a:pPr algn="ctr"/>
              <a:r>
                <a:rPr lang="en-GB" sz="1100" b="1" dirty="0">
                  <a:solidFill>
                    <a:srgbClr val="FF0000"/>
                  </a:solidFill>
                </a:rPr>
                <a:t>CREATE</a:t>
              </a:r>
            </a:p>
            <a:p>
              <a:pPr algn="ctr"/>
              <a:endParaRPr lang="en-GB" sz="1100" b="1" dirty="0">
                <a:solidFill>
                  <a:srgbClr val="FF0000"/>
                </a:solidFill>
              </a:endParaRPr>
            </a:p>
          </p:txBody>
        </p:sp>
      </p:grpSp>
    </p:spTree>
    <p:extLst>
      <p:ext uri="{BB962C8B-B14F-4D97-AF65-F5344CB8AC3E}">
        <p14:creationId xmlns:p14="http://schemas.microsoft.com/office/powerpoint/2010/main" val="361759697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1306286" y="769258"/>
            <a:ext cx="3207657" cy="5312228"/>
            <a:chOff x="1306286" y="769258"/>
            <a:chExt cx="3207657" cy="5312228"/>
          </a:xfrm>
        </p:grpSpPr>
        <p:sp>
          <p:nvSpPr>
            <p:cNvPr id="2" name="Rounded Rectangle 1"/>
            <p:cNvSpPr/>
            <p:nvPr/>
          </p:nvSpPr>
          <p:spPr>
            <a:xfrm>
              <a:off x="1306286" y="783771"/>
              <a:ext cx="3207657" cy="5297715"/>
            </a:xfrm>
            <a:prstGeom prst="roundRect">
              <a:avLst/>
            </a:prstGeom>
            <a:solidFill>
              <a:schemeClr val="bg1"/>
            </a:solidFill>
            <a:ln w="76200">
              <a:solidFill>
                <a:schemeClr val="bg1">
                  <a:lumMod val="6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 Same Side Corner Rectangle 2"/>
            <p:cNvSpPr/>
            <p:nvPr/>
          </p:nvSpPr>
          <p:spPr>
            <a:xfrm>
              <a:off x="1306286" y="769258"/>
              <a:ext cx="3207657" cy="1146626"/>
            </a:xfrm>
            <a:prstGeom prst="round2SameRect">
              <a:avLst/>
            </a:prstGeom>
            <a:solidFill>
              <a:srgbClr val="7030A0"/>
            </a:solidFill>
            <a:ln w="762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R BONNIE" pitchFamily="2" charset="0"/>
                </a:rPr>
                <a:t>INNOVATION</a:t>
              </a:r>
            </a:p>
          </p:txBody>
        </p:sp>
      </p:grpSp>
      <p:sp>
        <p:nvSpPr>
          <p:cNvPr id="12" name="TextBox 11"/>
          <p:cNvSpPr txBox="1"/>
          <p:nvPr/>
        </p:nvSpPr>
        <p:spPr>
          <a:xfrm>
            <a:off x="1201003" y="1936669"/>
            <a:ext cx="3384644" cy="438582"/>
          </a:xfrm>
          <a:prstGeom prst="rect">
            <a:avLst/>
          </a:prstGeom>
          <a:noFill/>
        </p:spPr>
        <p:txBody>
          <a:bodyPr wrap="square" rtlCol="0">
            <a:spAutoFit/>
          </a:bodyPr>
          <a:lstStyle/>
          <a:p>
            <a:pPr algn="ctr"/>
            <a:r>
              <a:rPr lang="en-US" sz="1050" b="1" dirty="0"/>
              <a:t>HOW DID YOU APPLY INNOVATION?</a:t>
            </a:r>
          </a:p>
          <a:p>
            <a:pPr algn="ctr"/>
            <a:r>
              <a:rPr lang="en-US" sz="1050" b="1" dirty="0"/>
              <a:t>COMBINE</a:t>
            </a:r>
            <a:r>
              <a:rPr lang="en-US" sz="1200" b="1" dirty="0"/>
              <a:t> I</a:t>
            </a:r>
            <a:r>
              <a:rPr lang="en-US" sz="900" b="1" dirty="0"/>
              <a:t> </a:t>
            </a:r>
            <a:r>
              <a:rPr lang="en-US" sz="1050" b="1" dirty="0"/>
              <a:t>CONNECT </a:t>
            </a:r>
            <a:r>
              <a:rPr lang="en-US" sz="1200" b="1" dirty="0"/>
              <a:t>I </a:t>
            </a:r>
            <a:r>
              <a:rPr lang="en-US" sz="1050" b="1" dirty="0"/>
              <a:t>DISRUPT </a:t>
            </a:r>
            <a:r>
              <a:rPr lang="en-US" sz="1200" b="1" dirty="0"/>
              <a:t>I</a:t>
            </a:r>
            <a:r>
              <a:rPr lang="en-US" sz="1050" b="1" dirty="0"/>
              <a:t> IMPROVE </a:t>
            </a:r>
            <a:r>
              <a:rPr lang="en-US" sz="1200" b="1" dirty="0"/>
              <a:t>I</a:t>
            </a:r>
            <a:r>
              <a:rPr lang="en-US" sz="1050" b="1" dirty="0"/>
              <a:t> CREATE</a:t>
            </a:r>
          </a:p>
        </p:txBody>
      </p:sp>
      <p:sp>
        <p:nvSpPr>
          <p:cNvPr id="13" name="TextBox 12"/>
          <p:cNvSpPr txBox="1"/>
          <p:nvPr/>
        </p:nvSpPr>
        <p:spPr>
          <a:xfrm>
            <a:off x="2370645" y="2379520"/>
            <a:ext cx="851338" cy="646331"/>
          </a:xfrm>
          <a:prstGeom prst="rect">
            <a:avLst/>
          </a:prstGeom>
          <a:noFill/>
        </p:spPr>
        <p:txBody>
          <a:bodyPr wrap="square" rtlCol="0">
            <a:spAutoFit/>
          </a:bodyPr>
          <a:lstStyle/>
          <a:p>
            <a:pPr algn="ctr"/>
            <a:r>
              <a:rPr lang="en-US" sz="2000" b="1" dirty="0"/>
              <a:t>X</a:t>
            </a:r>
            <a:r>
              <a:rPr lang="en-US" sz="3600" b="1" dirty="0"/>
              <a:t>3</a:t>
            </a:r>
          </a:p>
        </p:txBody>
      </p:sp>
      <p:pic>
        <p:nvPicPr>
          <p:cNvPr id="7170" name="Picture 2"/>
          <p:cNvPicPr>
            <a:picLocks noChangeAspect="1" noChangeArrowheads="1"/>
          </p:cNvPicPr>
          <p:nvPr/>
        </p:nvPicPr>
        <p:blipFill>
          <a:blip r:embed="rId2" cstate="print"/>
          <a:srcRect/>
          <a:stretch>
            <a:fillRect/>
          </a:stretch>
        </p:blipFill>
        <p:spPr bwMode="auto">
          <a:xfrm>
            <a:off x="1842933" y="3028206"/>
            <a:ext cx="1974756" cy="2457299"/>
          </a:xfrm>
          <a:prstGeom prst="rect">
            <a:avLst/>
          </a:prstGeom>
          <a:noFill/>
          <a:ln w="9525">
            <a:noFill/>
            <a:miter lim="800000"/>
            <a:headEnd/>
            <a:tailEnd/>
          </a:ln>
        </p:spPr>
      </p:pic>
      <p:sp>
        <p:nvSpPr>
          <p:cNvPr id="21" name="TextBox 20">
            <a:extLst>
              <a:ext uri="{FF2B5EF4-FFF2-40B4-BE49-F238E27FC236}">
                <a16:creationId xmlns:a16="http://schemas.microsoft.com/office/drawing/2014/main" id="{2CFDAE93-27D8-417C-82F1-80F45898175F}"/>
              </a:ext>
            </a:extLst>
          </p:cNvPr>
          <p:cNvSpPr txBox="1"/>
          <p:nvPr/>
        </p:nvSpPr>
        <p:spPr>
          <a:xfrm>
            <a:off x="1318171" y="5378309"/>
            <a:ext cx="3182577" cy="553998"/>
          </a:xfrm>
          <a:prstGeom prst="rect">
            <a:avLst/>
          </a:prstGeom>
          <a:noFill/>
        </p:spPr>
        <p:txBody>
          <a:bodyPr wrap="square" rtlCol="0">
            <a:spAutoFit/>
          </a:bodyPr>
          <a:lstStyle/>
          <a:p>
            <a:pPr algn="ctr"/>
            <a:r>
              <a:rPr lang="en-US" sz="1000" b="1" dirty="0"/>
              <a:t>ACTIVATION CARDS:  </a:t>
            </a:r>
          </a:p>
          <a:p>
            <a:pPr algn="ctr"/>
            <a:r>
              <a:rPr lang="en-US" sz="1000" b="1" dirty="0"/>
              <a:t>ANY TWO OR MORE IDENTICAL CARDS ACTIVATE THIS MULTIPLIER </a:t>
            </a:r>
          </a:p>
        </p:txBody>
      </p:sp>
      <p:graphicFrame>
        <p:nvGraphicFramePr>
          <p:cNvPr id="19" name="Table 6">
            <a:extLst>
              <a:ext uri="{FF2B5EF4-FFF2-40B4-BE49-F238E27FC236}">
                <a16:creationId xmlns:a16="http://schemas.microsoft.com/office/drawing/2014/main" id="{D0B08FD2-8A4A-4282-992B-EAE26F6BE9ED}"/>
              </a:ext>
            </a:extLst>
          </p:cNvPr>
          <p:cNvGraphicFramePr>
            <a:graphicFrameLocks noGrp="1"/>
          </p:cNvGraphicFramePr>
          <p:nvPr/>
        </p:nvGraphicFramePr>
        <p:xfrm>
          <a:off x="4830969" y="719665"/>
          <a:ext cx="5737719" cy="3383280"/>
        </p:xfrm>
        <a:graphic>
          <a:graphicData uri="http://schemas.openxmlformats.org/drawingml/2006/table">
            <a:tbl>
              <a:tblPr firstRow="1" bandRow="1">
                <a:tableStyleId>{5940675A-B579-460E-94D1-54222C63F5DA}</a:tableStyleId>
              </a:tblPr>
              <a:tblGrid>
                <a:gridCol w="5737719">
                  <a:extLst>
                    <a:ext uri="{9D8B030D-6E8A-4147-A177-3AD203B41FA5}">
                      <a16:colId xmlns:a16="http://schemas.microsoft.com/office/drawing/2014/main" val="3887999668"/>
                    </a:ext>
                  </a:extLst>
                </a:gridCol>
              </a:tblGrid>
              <a:tr h="483493">
                <a:tc>
                  <a:txBody>
                    <a:bodyPr/>
                    <a:lstStyle/>
                    <a:p>
                      <a:pPr algn="ctr"/>
                      <a:r>
                        <a:rPr lang="en-US" sz="3600" b="1" dirty="0"/>
                        <a:t>INNOVATION </a:t>
                      </a:r>
                    </a:p>
                    <a:p>
                      <a:pPr algn="ctr"/>
                      <a:r>
                        <a:rPr lang="en-US" sz="3600" b="1" dirty="0"/>
                        <a:t>JOB FUNCTIONS</a:t>
                      </a:r>
                    </a:p>
                  </a:txBody>
                  <a:tcPr/>
                </a:tc>
                <a:extLst>
                  <a:ext uri="{0D108BD9-81ED-4DB2-BD59-A6C34878D82A}">
                    <a16:rowId xmlns:a16="http://schemas.microsoft.com/office/drawing/2014/main" val="1324454018"/>
                  </a:ext>
                </a:extLst>
              </a:tr>
              <a:tr h="1246241">
                <a:tc>
                  <a:txBody>
                    <a:bodyPr/>
                    <a:lstStyle/>
                    <a:p>
                      <a:pPr algn="ctr"/>
                      <a:endParaRPr lang="en-US" sz="1800" b="1" dirty="0"/>
                    </a:p>
                    <a:p>
                      <a:pPr algn="ctr"/>
                      <a:r>
                        <a:rPr lang="en-US" sz="2400" b="1" dirty="0"/>
                        <a:t>PHILOSOPHY, LOGIC, STORYTELLING, CREATIVE THINKING, IDEA GENERATION, CONCEPTUALIZATION, GAME DESIGN, LOGIC, ALGORITHM, FLOWCHARTS.</a:t>
                      </a:r>
                      <a:br>
                        <a:rPr lang="en-US" sz="2400" b="1" dirty="0"/>
                      </a:br>
                      <a:endParaRPr lang="en-US" sz="2400" b="1" dirty="0"/>
                    </a:p>
                  </a:txBody>
                  <a:tcPr/>
                </a:tc>
                <a:extLst>
                  <a:ext uri="{0D108BD9-81ED-4DB2-BD59-A6C34878D82A}">
                    <a16:rowId xmlns:a16="http://schemas.microsoft.com/office/drawing/2014/main" val="682039194"/>
                  </a:ext>
                </a:extLst>
              </a:tr>
            </a:tbl>
          </a:graphicData>
        </a:graphic>
      </p:graphicFrame>
      <p:graphicFrame>
        <p:nvGraphicFramePr>
          <p:cNvPr id="10" name="Table 7">
            <a:extLst>
              <a:ext uri="{FF2B5EF4-FFF2-40B4-BE49-F238E27FC236}">
                <a16:creationId xmlns:a16="http://schemas.microsoft.com/office/drawing/2014/main" id="{252EBCF0-F6C1-4401-8761-FE43691724F4}"/>
              </a:ext>
            </a:extLst>
          </p:cNvPr>
          <p:cNvGraphicFramePr>
            <a:graphicFrameLocks noGrp="1"/>
          </p:cNvGraphicFramePr>
          <p:nvPr/>
        </p:nvGraphicFramePr>
        <p:xfrm>
          <a:off x="4736636" y="4831254"/>
          <a:ext cx="5926384" cy="944880"/>
        </p:xfrm>
        <a:graphic>
          <a:graphicData uri="http://schemas.openxmlformats.org/drawingml/2006/table">
            <a:tbl>
              <a:tblPr firstRow="1" bandRow="1">
                <a:tableStyleId>{5C22544A-7EE6-4342-B048-85BDC9FD1C3A}</a:tableStyleId>
              </a:tblPr>
              <a:tblGrid>
                <a:gridCol w="2963192">
                  <a:extLst>
                    <a:ext uri="{9D8B030D-6E8A-4147-A177-3AD203B41FA5}">
                      <a16:colId xmlns:a16="http://schemas.microsoft.com/office/drawing/2014/main" val="1028654853"/>
                    </a:ext>
                  </a:extLst>
                </a:gridCol>
                <a:gridCol w="2963192">
                  <a:extLst>
                    <a:ext uri="{9D8B030D-6E8A-4147-A177-3AD203B41FA5}">
                      <a16:colId xmlns:a16="http://schemas.microsoft.com/office/drawing/2014/main" val="2159636558"/>
                    </a:ext>
                  </a:extLst>
                </a:gridCol>
              </a:tblGrid>
              <a:tr h="370840">
                <a:tc>
                  <a:txBody>
                    <a:bodyPr/>
                    <a:lstStyle/>
                    <a:p>
                      <a:pPr algn="ctr"/>
                      <a:r>
                        <a:rPr lang="en-US" dirty="0">
                          <a:solidFill>
                            <a:srgbClr val="C00000"/>
                          </a:solidFill>
                        </a:rPr>
                        <a:t>INSIGHT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400" dirty="0">
                          <a:solidFill>
                            <a:srgbClr val="C00000"/>
                          </a:solidFill>
                        </a:rPr>
                        <a:t>SEEK AN UPGRADE COMBO WITH  ANY SKILL SET WITH  SKILL SETS AND NOTE, MULTI INDUSTRY EXPERIENCE IS AN ADDED BONUS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823397659"/>
                  </a:ext>
                </a:extLst>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9861884" cy="1325563"/>
          </a:xfrm>
          <a:solidFill>
            <a:srgbClr val="7030A0"/>
          </a:solidFill>
        </p:spPr>
        <p:txBody>
          <a:bodyPr/>
          <a:lstStyle/>
          <a:p>
            <a:r>
              <a:rPr lang="en-US" b="1" dirty="0"/>
              <a:t>INNOVATION CARDS: SKILL SETS</a:t>
            </a:r>
          </a:p>
        </p:txBody>
      </p:sp>
      <p:sp>
        <p:nvSpPr>
          <p:cNvPr id="3" name="Content Placeholder 2"/>
          <p:cNvSpPr>
            <a:spLocks noGrp="1"/>
          </p:cNvSpPr>
          <p:nvPr>
            <p:ph idx="1"/>
          </p:nvPr>
        </p:nvSpPr>
        <p:spPr>
          <a:xfrm>
            <a:off x="838200" y="1857155"/>
            <a:ext cx="9188669" cy="4351338"/>
          </a:xfrm>
        </p:spPr>
        <p:txBody>
          <a:bodyPr>
            <a:normAutofit/>
          </a:bodyPr>
          <a:lstStyle/>
          <a:p>
            <a:r>
              <a:rPr lang="en-US" dirty="0"/>
              <a:t>INNOVATION: Philosophy, Logic, Storytelling, Creative Thinking, Idea Generation, Conceptualization, Game Design, Logic, Algorithm, Flowcharts.</a:t>
            </a:r>
          </a:p>
        </p:txBody>
      </p:sp>
    </p:spTree>
    <p:extLst>
      <p:ext uri="{BB962C8B-B14F-4D97-AF65-F5344CB8AC3E}">
        <p14:creationId xmlns:p14="http://schemas.microsoft.com/office/powerpoint/2010/main" val="43358829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963084" y="4657726"/>
            <a:ext cx="10363200" cy="1362075"/>
          </a:xfrm>
        </p:spPr>
        <p:txBody>
          <a:bodyPr>
            <a:normAutofit/>
          </a:bodyPr>
          <a:lstStyle/>
          <a:p>
            <a:r>
              <a:rPr lang="en-US" b="1" cap="none" dirty="0"/>
              <a:t>JUNGLENOMICS SKILLMi MASKS</a:t>
            </a:r>
          </a:p>
        </p:txBody>
      </p:sp>
      <p:sp>
        <p:nvSpPr>
          <p:cNvPr id="4" name="Text Placeholder 3"/>
          <p:cNvSpPr>
            <a:spLocks noGrp="1"/>
          </p:cNvSpPr>
          <p:nvPr>
            <p:ph type="body" idx="1"/>
          </p:nvPr>
        </p:nvSpPr>
        <p:spPr>
          <a:xfrm>
            <a:off x="963084" y="3581399"/>
            <a:ext cx="10363200" cy="1458433"/>
          </a:xfrm>
        </p:spPr>
        <p:txBody>
          <a:bodyPr>
            <a:normAutofit/>
          </a:bodyPr>
          <a:lstStyle/>
          <a:p>
            <a:pPr algn="ctr"/>
            <a:r>
              <a:rPr lang="en-US" sz="1600" b="1" dirty="0">
                <a:solidFill>
                  <a:srgbClr val="FF0000"/>
                </a:solidFill>
              </a:rPr>
              <a:t>NON-MASK WEARERS</a:t>
            </a:r>
          </a:p>
          <a:p>
            <a:pPr algn="ctr"/>
            <a:r>
              <a:rPr lang="en-US" sz="1600" b="1" dirty="0">
                <a:solidFill>
                  <a:srgbClr val="FF0000"/>
                </a:solidFill>
              </a:rPr>
              <a:t>THE NOVICE (0) . THE APPRENTICE (0 – 1) .  THE DISCIPLE  (1 – 3).  </a:t>
            </a:r>
          </a:p>
          <a:p>
            <a:pPr algn="ctr"/>
            <a:r>
              <a:rPr lang="en-US" sz="1600" b="1" dirty="0">
                <a:solidFill>
                  <a:srgbClr val="FF0000"/>
                </a:solidFill>
              </a:rPr>
              <a:t>MASK WEARERS </a:t>
            </a:r>
          </a:p>
          <a:p>
            <a:pPr algn="ctr"/>
            <a:r>
              <a:rPr lang="en-US" sz="1600" b="1" dirty="0">
                <a:solidFill>
                  <a:srgbClr val="FF0000"/>
                </a:solidFill>
              </a:rPr>
              <a:t>THE MASTER  (5 - 10).  THE TRIBAL LEADER (10+ &amp; BUSINESS OWNER)</a:t>
            </a:r>
          </a:p>
        </p:txBody>
      </p:sp>
      <p:pic>
        <p:nvPicPr>
          <p:cNvPr id="7169" name="Picture 1"/>
          <p:cNvPicPr>
            <a:picLocks noChangeAspect="1" noChangeArrowheads="1"/>
          </p:cNvPicPr>
          <p:nvPr/>
        </p:nvPicPr>
        <p:blipFill>
          <a:blip r:embed="rId2" cstate="print"/>
          <a:srcRect/>
          <a:stretch>
            <a:fillRect/>
          </a:stretch>
        </p:blipFill>
        <p:spPr bwMode="auto">
          <a:xfrm flipH="1">
            <a:off x="1840914" y="1219793"/>
            <a:ext cx="1045322" cy="1734772"/>
          </a:xfrm>
          <a:prstGeom prst="rect">
            <a:avLst/>
          </a:prstGeom>
          <a:noFill/>
          <a:ln w="9525">
            <a:noFill/>
            <a:miter lim="800000"/>
            <a:headEnd/>
            <a:tailEnd/>
          </a:ln>
          <a:effectLst/>
        </p:spPr>
      </p:pic>
      <p:pic>
        <p:nvPicPr>
          <p:cNvPr id="7170" name="Picture 2"/>
          <p:cNvPicPr>
            <a:picLocks noChangeAspect="1" noChangeArrowheads="1"/>
          </p:cNvPicPr>
          <p:nvPr/>
        </p:nvPicPr>
        <p:blipFill>
          <a:blip r:embed="rId3" cstate="print"/>
          <a:srcRect/>
          <a:stretch>
            <a:fillRect/>
          </a:stretch>
        </p:blipFill>
        <p:spPr bwMode="auto">
          <a:xfrm flipH="1">
            <a:off x="3976819" y="1435395"/>
            <a:ext cx="1045323" cy="1562367"/>
          </a:xfrm>
          <a:prstGeom prst="rect">
            <a:avLst/>
          </a:prstGeom>
          <a:noFill/>
          <a:ln w="9525">
            <a:noFill/>
            <a:miter lim="800000"/>
            <a:headEnd/>
            <a:tailEnd/>
          </a:ln>
          <a:effectLst/>
        </p:spPr>
      </p:pic>
      <p:pic>
        <p:nvPicPr>
          <p:cNvPr id="7171" name="Picture 3"/>
          <p:cNvPicPr>
            <a:picLocks noChangeAspect="1" noChangeArrowheads="1"/>
          </p:cNvPicPr>
          <p:nvPr/>
        </p:nvPicPr>
        <p:blipFill>
          <a:blip r:embed="rId4" cstate="print"/>
          <a:srcRect/>
          <a:stretch>
            <a:fillRect/>
          </a:stretch>
        </p:blipFill>
        <p:spPr bwMode="auto">
          <a:xfrm flipH="1">
            <a:off x="6047363" y="1449453"/>
            <a:ext cx="1045322" cy="1533453"/>
          </a:xfrm>
          <a:prstGeom prst="rect">
            <a:avLst/>
          </a:prstGeom>
          <a:noFill/>
          <a:ln w="9525">
            <a:noFill/>
            <a:miter lim="800000"/>
            <a:headEnd/>
            <a:tailEnd/>
          </a:ln>
          <a:effectLst/>
        </p:spPr>
      </p:pic>
      <p:pic>
        <p:nvPicPr>
          <p:cNvPr id="7172" name="Picture 4"/>
          <p:cNvPicPr>
            <a:picLocks noChangeAspect="1" noChangeArrowheads="1"/>
          </p:cNvPicPr>
          <p:nvPr/>
        </p:nvPicPr>
        <p:blipFill>
          <a:blip r:embed="rId5" cstate="print"/>
          <a:srcRect/>
          <a:stretch>
            <a:fillRect/>
          </a:stretch>
        </p:blipFill>
        <p:spPr bwMode="auto">
          <a:xfrm flipH="1">
            <a:off x="5050676" y="1356630"/>
            <a:ext cx="1045323" cy="1615909"/>
          </a:xfrm>
          <a:prstGeom prst="rect">
            <a:avLst/>
          </a:prstGeom>
          <a:noFill/>
          <a:ln w="9525">
            <a:noFill/>
            <a:miter lim="800000"/>
            <a:headEnd/>
            <a:tailEnd/>
          </a:ln>
          <a:effectLst/>
        </p:spPr>
      </p:pic>
      <p:pic>
        <p:nvPicPr>
          <p:cNvPr id="7173" name="Picture 5"/>
          <p:cNvPicPr>
            <a:picLocks noChangeAspect="1" noChangeArrowheads="1"/>
          </p:cNvPicPr>
          <p:nvPr/>
        </p:nvPicPr>
        <p:blipFill>
          <a:blip r:embed="rId6" cstate="print"/>
          <a:srcRect/>
          <a:stretch>
            <a:fillRect/>
          </a:stretch>
        </p:blipFill>
        <p:spPr bwMode="auto">
          <a:xfrm flipH="1">
            <a:off x="7036156" y="1358991"/>
            <a:ext cx="1045322" cy="1628759"/>
          </a:xfrm>
          <a:prstGeom prst="rect">
            <a:avLst/>
          </a:prstGeom>
          <a:noFill/>
          <a:ln w="9525">
            <a:noFill/>
            <a:miter lim="800000"/>
            <a:headEnd/>
            <a:tailEnd/>
          </a:ln>
          <a:effectLst/>
        </p:spPr>
      </p:pic>
      <p:pic>
        <p:nvPicPr>
          <p:cNvPr id="7174" name="Picture 6"/>
          <p:cNvPicPr>
            <a:picLocks noChangeAspect="1" noChangeArrowheads="1"/>
          </p:cNvPicPr>
          <p:nvPr/>
        </p:nvPicPr>
        <p:blipFill>
          <a:blip r:embed="rId7" cstate="print"/>
          <a:srcRect/>
          <a:stretch>
            <a:fillRect/>
          </a:stretch>
        </p:blipFill>
        <p:spPr bwMode="auto">
          <a:xfrm flipH="1">
            <a:off x="2948655" y="1314742"/>
            <a:ext cx="1045323" cy="1665168"/>
          </a:xfrm>
          <a:prstGeom prst="rect">
            <a:avLst/>
          </a:prstGeom>
          <a:noFill/>
          <a:ln w="9525">
            <a:noFill/>
            <a:miter lim="800000"/>
            <a:headEnd/>
            <a:tailEnd/>
          </a:ln>
          <a:effectLst/>
        </p:spPr>
      </p:pic>
      <p:pic>
        <p:nvPicPr>
          <p:cNvPr id="10" name="Picture 9"/>
          <p:cNvPicPr>
            <a:picLocks noChangeAspect="1"/>
          </p:cNvPicPr>
          <p:nvPr/>
        </p:nvPicPr>
        <p:blipFill>
          <a:blip r:embed="rId8" cstate="print"/>
          <a:stretch>
            <a:fillRect/>
          </a:stretch>
        </p:blipFill>
        <p:spPr>
          <a:xfrm>
            <a:off x="2227226" y="2925572"/>
            <a:ext cx="289071" cy="189769"/>
          </a:xfrm>
          <a:prstGeom prst="rect">
            <a:avLst/>
          </a:prstGeom>
          <a:effectLst>
            <a:outerShdw blurRad="50800" dist="38100" dir="8100000" algn="tr" rotWithShape="0">
              <a:prstClr val="black">
                <a:alpha val="40000"/>
              </a:prstClr>
            </a:outerShdw>
          </a:effectLst>
        </p:spPr>
      </p:pic>
      <p:pic>
        <p:nvPicPr>
          <p:cNvPr id="11" name="Picture 10"/>
          <p:cNvPicPr>
            <a:picLocks noChangeAspect="1"/>
          </p:cNvPicPr>
          <p:nvPr/>
        </p:nvPicPr>
        <p:blipFill>
          <a:blip r:embed="rId8" cstate="print"/>
          <a:stretch>
            <a:fillRect/>
          </a:stretch>
        </p:blipFill>
        <p:spPr>
          <a:xfrm>
            <a:off x="3336557" y="2939748"/>
            <a:ext cx="289071" cy="189769"/>
          </a:xfrm>
          <a:prstGeom prst="rect">
            <a:avLst/>
          </a:prstGeom>
          <a:effectLst>
            <a:outerShdw blurRad="50800" dist="38100" dir="8100000" algn="tr" rotWithShape="0">
              <a:prstClr val="black">
                <a:alpha val="40000"/>
              </a:prstClr>
            </a:outerShdw>
          </a:effectLst>
        </p:spPr>
      </p:pic>
      <p:pic>
        <p:nvPicPr>
          <p:cNvPr id="12" name="Picture 11"/>
          <p:cNvPicPr>
            <a:picLocks noChangeAspect="1"/>
          </p:cNvPicPr>
          <p:nvPr/>
        </p:nvPicPr>
        <p:blipFill>
          <a:blip r:embed="rId8" cstate="print"/>
          <a:stretch>
            <a:fillRect/>
          </a:stretch>
        </p:blipFill>
        <p:spPr>
          <a:xfrm>
            <a:off x="4382088" y="2922027"/>
            <a:ext cx="289071" cy="189769"/>
          </a:xfrm>
          <a:prstGeom prst="rect">
            <a:avLst/>
          </a:prstGeom>
          <a:effectLst>
            <a:outerShdw blurRad="50800" dist="38100" dir="8100000" algn="tr" rotWithShape="0">
              <a:prstClr val="black">
                <a:alpha val="40000"/>
              </a:prstClr>
            </a:outerShdw>
          </a:effectLst>
        </p:spPr>
      </p:pic>
      <p:pic>
        <p:nvPicPr>
          <p:cNvPr id="13" name="Picture 12"/>
          <p:cNvPicPr>
            <a:picLocks noChangeAspect="1"/>
          </p:cNvPicPr>
          <p:nvPr/>
        </p:nvPicPr>
        <p:blipFill>
          <a:blip r:embed="rId8" cstate="print"/>
          <a:stretch>
            <a:fillRect/>
          </a:stretch>
        </p:blipFill>
        <p:spPr>
          <a:xfrm>
            <a:off x="5416989" y="2914937"/>
            <a:ext cx="289071" cy="189769"/>
          </a:xfrm>
          <a:prstGeom prst="rect">
            <a:avLst/>
          </a:prstGeom>
          <a:effectLst>
            <a:outerShdw blurRad="50800" dist="38100" dir="8100000" algn="tr" rotWithShape="0">
              <a:prstClr val="black">
                <a:alpha val="40000"/>
              </a:prstClr>
            </a:outerShdw>
          </a:effectLst>
        </p:spPr>
      </p:pic>
      <p:pic>
        <p:nvPicPr>
          <p:cNvPr id="14" name="Picture 13"/>
          <p:cNvPicPr>
            <a:picLocks noChangeAspect="1"/>
          </p:cNvPicPr>
          <p:nvPr/>
        </p:nvPicPr>
        <p:blipFill>
          <a:blip r:embed="rId8" cstate="print"/>
          <a:stretch>
            <a:fillRect/>
          </a:stretch>
        </p:blipFill>
        <p:spPr>
          <a:xfrm>
            <a:off x="6419988" y="2939744"/>
            <a:ext cx="289071" cy="189769"/>
          </a:xfrm>
          <a:prstGeom prst="rect">
            <a:avLst/>
          </a:prstGeom>
          <a:effectLst>
            <a:outerShdw blurRad="50800" dist="38100" dir="8100000" algn="tr" rotWithShape="0">
              <a:prstClr val="black">
                <a:alpha val="40000"/>
              </a:prstClr>
            </a:outerShdw>
          </a:effectLst>
        </p:spPr>
      </p:pic>
      <p:pic>
        <p:nvPicPr>
          <p:cNvPr id="15" name="Picture 14"/>
          <p:cNvPicPr>
            <a:picLocks noChangeAspect="1"/>
          </p:cNvPicPr>
          <p:nvPr/>
        </p:nvPicPr>
        <p:blipFill>
          <a:blip r:embed="rId8" cstate="print"/>
          <a:stretch>
            <a:fillRect/>
          </a:stretch>
        </p:blipFill>
        <p:spPr>
          <a:xfrm>
            <a:off x="7422986" y="2932653"/>
            <a:ext cx="289071" cy="189769"/>
          </a:xfrm>
          <a:prstGeom prst="rect">
            <a:avLst/>
          </a:prstGeom>
          <a:effectLst>
            <a:outerShdw blurRad="50800" dist="38100" dir="8100000" algn="tr" rotWithShape="0">
              <a:prstClr val="black">
                <a:alpha val="40000"/>
              </a:prstClr>
            </a:outerShdw>
          </a:effec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9" name="Group 38"/>
          <p:cNvGrpSpPr/>
          <p:nvPr/>
        </p:nvGrpSpPr>
        <p:grpSpPr>
          <a:xfrm>
            <a:off x="406400" y="609600"/>
            <a:ext cx="10013507" cy="5684874"/>
            <a:chOff x="406400" y="609600"/>
            <a:chExt cx="11379200" cy="5257800"/>
          </a:xfrm>
        </p:grpSpPr>
        <p:sp>
          <p:nvSpPr>
            <p:cNvPr id="4" name="Regular Pentagon 3"/>
            <p:cNvSpPr/>
            <p:nvPr/>
          </p:nvSpPr>
          <p:spPr>
            <a:xfrm>
              <a:off x="3251200" y="1143000"/>
              <a:ext cx="5689600" cy="3810000"/>
            </a:xfrm>
            <a:prstGeom prst="pentagon">
              <a:avLst/>
            </a:prstGeom>
            <a:no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pic>
          <p:nvPicPr>
            <p:cNvPr id="5" name="Picture 1"/>
            <p:cNvPicPr>
              <a:picLocks noChangeAspect="1" noChangeArrowheads="1"/>
            </p:cNvPicPr>
            <p:nvPr/>
          </p:nvPicPr>
          <p:blipFill>
            <a:blip r:embed="rId2" cstate="print"/>
            <a:srcRect/>
            <a:stretch>
              <a:fillRect/>
            </a:stretch>
          </p:blipFill>
          <p:spPr bwMode="auto">
            <a:xfrm flipH="1">
              <a:off x="5486400" y="609600"/>
              <a:ext cx="1049992" cy="1273194"/>
            </a:xfrm>
            <a:prstGeom prst="rect">
              <a:avLst/>
            </a:prstGeom>
            <a:noFill/>
            <a:ln w="9525">
              <a:no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pic>
          <p:nvPicPr>
            <p:cNvPr id="6" name="Picture 2"/>
            <p:cNvPicPr>
              <a:picLocks noChangeAspect="1" noChangeArrowheads="1"/>
            </p:cNvPicPr>
            <p:nvPr/>
          </p:nvPicPr>
          <p:blipFill>
            <a:blip r:embed="rId3" cstate="print"/>
            <a:srcRect/>
            <a:stretch>
              <a:fillRect/>
            </a:stretch>
          </p:blipFill>
          <p:spPr bwMode="auto">
            <a:xfrm flipH="1">
              <a:off x="7315200" y="4343401"/>
              <a:ext cx="1049992" cy="1146661"/>
            </a:xfrm>
            <a:prstGeom prst="rect">
              <a:avLst/>
            </a:prstGeom>
            <a:noFill/>
            <a:ln w="9525">
              <a:no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pic>
          <p:nvPicPr>
            <p:cNvPr id="7" name="Picture 3"/>
            <p:cNvPicPr>
              <a:picLocks noChangeAspect="1" noChangeArrowheads="1"/>
            </p:cNvPicPr>
            <p:nvPr/>
          </p:nvPicPr>
          <p:blipFill>
            <a:blip r:embed="rId4" cstate="print"/>
            <a:srcRect/>
            <a:stretch>
              <a:fillRect/>
            </a:stretch>
          </p:blipFill>
          <p:spPr bwMode="auto">
            <a:xfrm flipH="1">
              <a:off x="2743200" y="1981201"/>
              <a:ext cx="1049992" cy="1125441"/>
            </a:xfrm>
            <a:prstGeom prst="rect">
              <a:avLst/>
            </a:prstGeom>
            <a:noFill/>
            <a:ln w="9525">
              <a:no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pic>
          <p:nvPicPr>
            <p:cNvPr id="8" name="Picture 4"/>
            <p:cNvPicPr>
              <a:picLocks noChangeAspect="1" noChangeArrowheads="1"/>
            </p:cNvPicPr>
            <p:nvPr/>
          </p:nvPicPr>
          <p:blipFill>
            <a:blip r:embed="rId5" cstate="print"/>
            <a:srcRect/>
            <a:stretch>
              <a:fillRect/>
            </a:stretch>
          </p:blipFill>
          <p:spPr bwMode="auto">
            <a:xfrm flipH="1">
              <a:off x="3759200" y="4267201"/>
              <a:ext cx="1049992" cy="1185957"/>
            </a:xfrm>
            <a:prstGeom prst="rect">
              <a:avLst/>
            </a:prstGeom>
            <a:noFill/>
            <a:ln w="9525">
              <a:no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pic>
          <p:nvPicPr>
            <p:cNvPr id="9" name="Picture 5"/>
            <p:cNvPicPr>
              <a:picLocks noChangeAspect="1" noChangeArrowheads="1"/>
            </p:cNvPicPr>
            <p:nvPr/>
          </p:nvPicPr>
          <p:blipFill>
            <a:blip r:embed="rId6" cstate="print"/>
            <a:srcRect/>
            <a:stretch>
              <a:fillRect/>
            </a:stretch>
          </p:blipFill>
          <p:spPr bwMode="auto">
            <a:xfrm flipH="1">
              <a:off x="5486400" y="2362200"/>
              <a:ext cx="1049992" cy="1195388"/>
            </a:xfrm>
            <a:prstGeom prst="rect">
              <a:avLst/>
            </a:prstGeom>
            <a:noFill/>
            <a:ln w="9525">
              <a:no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pic>
          <p:nvPicPr>
            <p:cNvPr id="10" name="Picture 6"/>
            <p:cNvPicPr>
              <a:picLocks noChangeAspect="1" noChangeArrowheads="1"/>
            </p:cNvPicPr>
            <p:nvPr/>
          </p:nvPicPr>
          <p:blipFill>
            <a:blip r:embed="rId7" cstate="print"/>
            <a:srcRect/>
            <a:stretch>
              <a:fillRect/>
            </a:stretch>
          </p:blipFill>
          <p:spPr bwMode="auto">
            <a:xfrm flipH="1">
              <a:off x="8331200" y="1905001"/>
              <a:ext cx="1049992" cy="1222109"/>
            </a:xfrm>
            <a:prstGeom prst="rect">
              <a:avLst/>
            </a:prstGeom>
            <a:noFill/>
            <a:ln w="9525">
              <a:no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
          <p:nvSpPr>
            <p:cNvPr id="22" name="TextBox 21"/>
            <p:cNvSpPr txBox="1"/>
            <p:nvPr/>
          </p:nvSpPr>
          <p:spPr>
            <a:xfrm>
              <a:off x="6604000" y="762000"/>
              <a:ext cx="2336800" cy="341586"/>
            </a:xfrm>
            <a:prstGeom prst="rect">
              <a:avLst/>
            </a:prstGeom>
            <a:noFill/>
          </p:spPr>
          <p:txBody>
            <a:bodyPr wrap="square" rtlCol="0">
              <a:spAutoFit/>
            </a:bodyPr>
            <a:lstStyle/>
            <a:p>
              <a:r>
                <a:rPr lang="en-US" b="1" dirty="0"/>
                <a:t>THE WHITE MASK</a:t>
              </a:r>
            </a:p>
          </p:txBody>
        </p:sp>
        <p:sp>
          <p:nvSpPr>
            <p:cNvPr id="23" name="TextBox 22"/>
            <p:cNvSpPr txBox="1"/>
            <p:nvPr/>
          </p:nvSpPr>
          <p:spPr>
            <a:xfrm>
              <a:off x="9448800" y="2438400"/>
              <a:ext cx="2336800" cy="341586"/>
            </a:xfrm>
            <a:prstGeom prst="rect">
              <a:avLst/>
            </a:prstGeom>
            <a:noFill/>
          </p:spPr>
          <p:txBody>
            <a:bodyPr wrap="square" rtlCol="0">
              <a:spAutoFit/>
            </a:bodyPr>
            <a:lstStyle/>
            <a:p>
              <a:r>
                <a:rPr lang="en-US" b="1" dirty="0"/>
                <a:t>THE GOLDEN MASK</a:t>
              </a:r>
            </a:p>
          </p:txBody>
        </p:sp>
        <p:sp>
          <p:nvSpPr>
            <p:cNvPr id="24" name="TextBox 23"/>
            <p:cNvSpPr txBox="1"/>
            <p:nvPr/>
          </p:nvSpPr>
          <p:spPr>
            <a:xfrm>
              <a:off x="8432800" y="4876800"/>
              <a:ext cx="2336800" cy="341586"/>
            </a:xfrm>
            <a:prstGeom prst="rect">
              <a:avLst/>
            </a:prstGeom>
            <a:noFill/>
          </p:spPr>
          <p:txBody>
            <a:bodyPr wrap="square" rtlCol="0">
              <a:spAutoFit/>
            </a:bodyPr>
            <a:lstStyle/>
            <a:p>
              <a:r>
                <a:rPr lang="en-US" b="1" dirty="0"/>
                <a:t>THE GRAY MASK</a:t>
              </a:r>
            </a:p>
          </p:txBody>
        </p:sp>
        <p:sp>
          <p:nvSpPr>
            <p:cNvPr id="25" name="TextBox 24"/>
            <p:cNvSpPr txBox="1"/>
            <p:nvPr/>
          </p:nvSpPr>
          <p:spPr>
            <a:xfrm>
              <a:off x="1320800" y="4876800"/>
              <a:ext cx="2336800" cy="341586"/>
            </a:xfrm>
            <a:prstGeom prst="rect">
              <a:avLst/>
            </a:prstGeom>
            <a:noFill/>
          </p:spPr>
          <p:txBody>
            <a:bodyPr wrap="square" rtlCol="0">
              <a:spAutoFit/>
            </a:bodyPr>
            <a:lstStyle/>
            <a:p>
              <a:pPr algn="r"/>
              <a:r>
                <a:rPr lang="en-US" b="1" dirty="0"/>
                <a:t>THE GREEN MASK</a:t>
              </a:r>
            </a:p>
          </p:txBody>
        </p:sp>
        <p:sp>
          <p:nvSpPr>
            <p:cNvPr id="26" name="TextBox 25"/>
            <p:cNvSpPr txBox="1"/>
            <p:nvPr/>
          </p:nvSpPr>
          <p:spPr>
            <a:xfrm>
              <a:off x="406400" y="2514600"/>
              <a:ext cx="2336800" cy="341586"/>
            </a:xfrm>
            <a:prstGeom prst="rect">
              <a:avLst/>
            </a:prstGeom>
            <a:noFill/>
          </p:spPr>
          <p:txBody>
            <a:bodyPr wrap="square" rtlCol="0">
              <a:spAutoFit/>
            </a:bodyPr>
            <a:lstStyle/>
            <a:p>
              <a:pPr algn="r"/>
              <a:r>
                <a:rPr lang="en-US" b="1" dirty="0"/>
                <a:t>THE BLUE MASK </a:t>
              </a:r>
            </a:p>
          </p:txBody>
        </p:sp>
        <p:sp>
          <p:nvSpPr>
            <p:cNvPr id="27" name="TextBox 26"/>
            <p:cNvSpPr txBox="1"/>
            <p:nvPr/>
          </p:nvSpPr>
          <p:spPr>
            <a:xfrm>
              <a:off x="4876800" y="3581400"/>
              <a:ext cx="2336800" cy="341586"/>
            </a:xfrm>
            <a:prstGeom prst="rect">
              <a:avLst/>
            </a:prstGeom>
            <a:noFill/>
          </p:spPr>
          <p:txBody>
            <a:bodyPr wrap="square" rtlCol="0">
              <a:spAutoFit/>
            </a:bodyPr>
            <a:lstStyle/>
            <a:p>
              <a:pPr algn="ctr"/>
              <a:r>
                <a:rPr lang="en-US" b="1" dirty="0"/>
                <a:t>THE PURPLE MASK</a:t>
              </a:r>
            </a:p>
          </p:txBody>
        </p:sp>
        <p:sp>
          <p:nvSpPr>
            <p:cNvPr id="28" name="Rectangle 27"/>
            <p:cNvSpPr/>
            <p:nvPr/>
          </p:nvSpPr>
          <p:spPr>
            <a:xfrm>
              <a:off x="7823200" y="1143000"/>
              <a:ext cx="508000" cy="381000"/>
            </a:xfrm>
            <a:prstGeom prst="rect">
              <a:avLst/>
            </a:prstGeom>
            <a:solidFill>
              <a:schemeClr val="bg1"/>
            </a:solidFill>
            <a:ln w="76200">
              <a:solidFill>
                <a:schemeClr val="tx1"/>
              </a:solidFill>
            </a:ln>
            <a:effectLst>
              <a:outerShdw blurRad="50800" dist="38100" dir="2700000" algn="tl"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A</a:t>
              </a:r>
            </a:p>
          </p:txBody>
        </p:sp>
        <p:sp>
          <p:nvSpPr>
            <p:cNvPr id="29" name="Rectangle 28"/>
            <p:cNvSpPr/>
            <p:nvPr/>
          </p:nvSpPr>
          <p:spPr>
            <a:xfrm>
              <a:off x="7112000" y="1143000"/>
              <a:ext cx="508000" cy="381000"/>
            </a:xfrm>
            <a:prstGeom prst="rect">
              <a:avLst/>
            </a:prstGeom>
            <a:solidFill>
              <a:schemeClr val="bg1"/>
            </a:solidFill>
            <a:ln w="76200">
              <a:solidFill>
                <a:schemeClr val="tx1"/>
              </a:solidFill>
            </a:ln>
            <a:effectLst>
              <a:outerShdw blurRad="50800" dist="38100" dir="2700000" algn="tl"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E</a:t>
              </a:r>
            </a:p>
          </p:txBody>
        </p:sp>
        <p:sp>
          <p:nvSpPr>
            <p:cNvPr id="30" name="Rectangle 29"/>
            <p:cNvSpPr/>
            <p:nvPr/>
          </p:nvSpPr>
          <p:spPr>
            <a:xfrm>
              <a:off x="8534400" y="1143000"/>
              <a:ext cx="508000" cy="381000"/>
            </a:xfrm>
            <a:prstGeom prst="rect">
              <a:avLst/>
            </a:prstGeom>
            <a:solidFill>
              <a:schemeClr val="bg1"/>
            </a:solidFill>
            <a:ln w="76200">
              <a:solidFill>
                <a:schemeClr val="tx1"/>
              </a:solidFill>
            </a:ln>
            <a:effectLst>
              <a:outerShdw blurRad="50800" dist="38100" dir="2700000" algn="tl"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C</a:t>
              </a:r>
            </a:p>
          </p:txBody>
        </p:sp>
        <p:sp>
          <p:nvSpPr>
            <p:cNvPr id="31" name="Rectangle 30"/>
            <p:cNvSpPr/>
            <p:nvPr/>
          </p:nvSpPr>
          <p:spPr>
            <a:xfrm>
              <a:off x="9245600" y="1143000"/>
              <a:ext cx="508000" cy="381000"/>
            </a:xfrm>
            <a:prstGeom prst="rect">
              <a:avLst/>
            </a:prstGeom>
            <a:solidFill>
              <a:schemeClr val="bg1"/>
            </a:solidFill>
            <a:ln w="76200">
              <a:solidFill>
                <a:schemeClr val="tx1"/>
              </a:solidFill>
            </a:ln>
            <a:effectLst>
              <a:outerShdw blurRad="50800" dist="38100" dir="2700000" algn="tl"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B</a:t>
              </a:r>
            </a:p>
          </p:txBody>
        </p:sp>
        <p:sp>
          <p:nvSpPr>
            <p:cNvPr id="32" name="Rectangle 31"/>
            <p:cNvSpPr/>
            <p:nvPr/>
          </p:nvSpPr>
          <p:spPr>
            <a:xfrm>
              <a:off x="9956800" y="1143000"/>
              <a:ext cx="508000" cy="381000"/>
            </a:xfrm>
            <a:prstGeom prst="rect">
              <a:avLst/>
            </a:prstGeom>
            <a:solidFill>
              <a:schemeClr val="bg1"/>
            </a:solidFill>
            <a:ln w="76200">
              <a:solidFill>
                <a:schemeClr val="tx1"/>
              </a:solidFill>
            </a:ln>
            <a:effectLst>
              <a:outerShdw blurRad="50800" dist="38100" dir="2700000" algn="tl"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Bb</a:t>
              </a:r>
            </a:p>
          </p:txBody>
        </p:sp>
        <p:sp>
          <p:nvSpPr>
            <p:cNvPr id="33" name="Rectangle 32"/>
            <p:cNvSpPr/>
            <p:nvPr/>
          </p:nvSpPr>
          <p:spPr>
            <a:xfrm>
              <a:off x="10668000" y="1143000"/>
              <a:ext cx="508000" cy="381000"/>
            </a:xfrm>
            <a:prstGeom prst="rect">
              <a:avLst/>
            </a:prstGeom>
            <a:solidFill>
              <a:schemeClr val="bg1"/>
            </a:solidFill>
            <a:ln w="76200">
              <a:solidFill>
                <a:schemeClr val="tx1"/>
              </a:solidFill>
            </a:ln>
            <a:effectLst>
              <a:outerShdw blurRad="50800" dist="38100" dir="2700000" algn="tl"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W</a:t>
              </a:r>
            </a:p>
          </p:txBody>
        </p:sp>
        <p:sp>
          <p:nvSpPr>
            <p:cNvPr id="34" name="Rectangle 33"/>
            <p:cNvSpPr/>
            <p:nvPr/>
          </p:nvSpPr>
          <p:spPr>
            <a:xfrm>
              <a:off x="8839200" y="3200400"/>
              <a:ext cx="508000" cy="381000"/>
            </a:xfrm>
            <a:prstGeom prst="rect">
              <a:avLst/>
            </a:prstGeom>
            <a:solidFill>
              <a:srgbClr val="FFFF00"/>
            </a:solidFill>
            <a:ln w="76200">
              <a:solidFill>
                <a:schemeClr val="tx1"/>
              </a:solidFill>
            </a:ln>
            <a:effectLst>
              <a:outerShdw blurRad="50800" dist="38100" dir="2700000" algn="tl"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C</a:t>
              </a:r>
            </a:p>
          </p:txBody>
        </p:sp>
        <p:sp>
          <p:nvSpPr>
            <p:cNvPr id="35" name="Rectangle 34"/>
            <p:cNvSpPr/>
            <p:nvPr/>
          </p:nvSpPr>
          <p:spPr>
            <a:xfrm>
              <a:off x="9550400" y="3200400"/>
              <a:ext cx="508000" cy="381000"/>
            </a:xfrm>
            <a:prstGeom prst="rect">
              <a:avLst/>
            </a:prstGeom>
            <a:solidFill>
              <a:srgbClr val="FFFF00"/>
            </a:solidFill>
            <a:ln w="76200">
              <a:solidFill>
                <a:schemeClr val="tx1"/>
              </a:solidFill>
            </a:ln>
            <a:effectLst>
              <a:outerShdw blurRad="50800" dist="38100" dir="2700000" algn="tl"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err="1">
                  <a:solidFill>
                    <a:schemeClr val="tx1"/>
                  </a:solidFill>
                </a:rPr>
                <a:t>Cv</a:t>
              </a:r>
              <a:endParaRPr lang="en-US" sz="1400" b="1" dirty="0">
                <a:solidFill>
                  <a:schemeClr val="tx1"/>
                </a:solidFill>
              </a:endParaRPr>
            </a:p>
          </p:txBody>
        </p:sp>
        <p:sp>
          <p:nvSpPr>
            <p:cNvPr id="36" name="Rectangle 35"/>
            <p:cNvSpPr/>
            <p:nvPr/>
          </p:nvSpPr>
          <p:spPr>
            <a:xfrm>
              <a:off x="10261600" y="3200400"/>
              <a:ext cx="508000" cy="381000"/>
            </a:xfrm>
            <a:prstGeom prst="rect">
              <a:avLst/>
            </a:prstGeom>
            <a:solidFill>
              <a:srgbClr val="FFFF00"/>
            </a:solidFill>
            <a:ln w="76200">
              <a:solidFill>
                <a:schemeClr val="tx1"/>
              </a:solidFill>
            </a:ln>
            <a:effectLst>
              <a:outerShdw blurRad="50800" dist="38100" dir="2700000" algn="tl"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Co</a:t>
              </a:r>
            </a:p>
          </p:txBody>
        </p:sp>
        <p:sp>
          <p:nvSpPr>
            <p:cNvPr id="37" name="Rectangle 36"/>
            <p:cNvSpPr/>
            <p:nvPr/>
          </p:nvSpPr>
          <p:spPr>
            <a:xfrm>
              <a:off x="7823200" y="5486400"/>
              <a:ext cx="508000" cy="381000"/>
            </a:xfrm>
            <a:prstGeom prst="rect">
              <a:avLst/>
            </a:prstGeom>
            <a:solidFill>
              <a:schemeClr val="bg1">
                <a:lumMod val="75000"/>
              </a:schemeClr>
            </a:solidFill>
            <a:ln w="76200">
              <a:solidFill>
                <a:schemeClr val="tx1"/>
              </a:solidFill>
            </a:ln>
            <a:effectLst>
              <a:outerShdw blurRad="50800" dist="38100" dir="2700000" algn="tl"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err="1">
                  <a:solidFill>
                    <a:schemeClr val="tx1"/>
                  </a:solidFill>
                </a:rPr>
                <a:t>Pe</a:t>
              </a:r>
              <a:endParaRPr lang="en-US" sz="1400" b="1" dirty="0">
                <a:solidFill>
                  <a:schemeClr val="tx1"/>
                </a:solidFill>
              </a:endParaRPr>
            </a:p>
          </p:txBody>
        </p:sp>
        <p:sp>
          <p:nvSpPr>
            <p:cNvPr id="38" name="Rectangle 37"/>
            <p:cNvSpPr/>
            <p:nvPr/>
          </p:nvSpPr>
          <p:spPr>
            <a:xfrm>
              <a:off x="8534400" y="5486400"/>
              <a:ext cx="508000" cy="381000"/>
            </a:xfrm>
            <a:prstGeom prst="rect">
              <a:avLst/>
            </a:prstGeom>
            <a:solidFill>
              <a:schemeClr val="bg1">
                <a:lumMod val="75000"/>
              </a:schemeClr>
            </a:solidFill>
            <a:ln w="76200">
              <a:solidFill>
                <a:schemeClr val="tx1"/>
              </a:solidFill>
            </a:ln>
            <a:effectLst>
              <a:outerShdw blurRad="50800" dist="38100" dir="2700000" algn="tl"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Pa</a:t>
              </a:r>
            </a:p>
          </p:txBody>
        </p:sp>
        <p:sp>
          <p:nvSpPr>
            <p:cNvPr id="40" name="Rectangle 39"/>
            <p:cNvSpPr/>
            <p:nvPr/>
          </p:nvSpPr>
          <p:spPr>
            <a:xfrm>
              <a:off x="9245600" y="5486400"/>
              <a:ext cx="508000" cy="381000"/>
            </a:xfrm>
            <a:prstGeom prst="rect">
              <a:avLst/>
            </a:prstGeom>
            <a:solidFill>
              <a:schemeClr val="bg1">
                <a:lumMod val="75000"/>
              </a:schemeClr>
            </a:solidFill>
            <a:ln w="76200">
              <a:solidFill>
                <a:schemeClr val="tx1"/>
              </a:solidFill>
            </a:ln>
            <a:effectLst>
              <a:outerShdw blurRad="50800" dist="38100" dir="2700000" algn="tl"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b="1" dirty="0" err="1">
                  <a:solidFill>
                    <a:schemeClr val="tx1"/>
                  </a:solidFill>
                </a:rPr>
                <a:t>TMm</a:t>
              </a:r>
              <a:endParaRPr lang="en-US" sz="700" b="1" dirty="0">
                <a:solidFill>
                  <a:schemeClr val="tx1"/>
                </a:solidFill>
              </a:endParaRPr>
            </a:p>
          </p:txBody>
        </p:sp>
        <p:sp>
          <p:nvSpPr>
            <p:cNvPr id="41" name="Rectangle 40"/>
            <p:cNvSpPr/>
            <p:nvPr/>
          </p:nvSpPr>
          <p:spPr>
            <a:xfrm>
              <a:off x="9956800" y="5486400"/>
              <a:ext cx="508000" cy="381000"/>
            </a:xfrm>
            <a:prstGeom prst="rect">
              <a:avLst/>
            </a:prstGeom>
            <a:solidFill>
              <a:schemeClr val="bg1">
                <a:lumMod val="75000"/>
              </a:schemeClr>
            </a:solidFill>
            <a:ln w="76200">
              <a:solidFill>
                <a:schemeClr val="tx1"/>
              </a:solidFill>
            </a:ln>
            <a:effectLst>
              <a:outerShdw blurRad="50800" dist="38100" dir="2700000" algn="tl"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b="1" dirty="0">
                  <a:solidFill>
                    <a:schemeClr val="tx1"/>
                  </a:solidFill>
                </a:rPr>
                <a:t>TMs</a:t>
              </a:r>
            </a:p>
          </p:txBody>
        </p:sp>
        <p:sp>
          <p:nvSpPr>
            <p:cNvPr id="43" name="Rectangle 42"/>
            <p:cNvSpPr/>
            <p:nvPr/>
          </p:nvSpPr>
          <p:spPr>
            <a:xfrm>
              <a:off x="1625600" y="5486400"/>
              <a:ext cx="508000" cy="381000"/>
            </a:xfrm>
            <a:prstGeom prst="rect">
              <a:avLst/>
            </a:prstGeom>
            <a:solidFill>
              <a:srgbClr val="00B050"/>
            </a:solidFill>
            <a:ln w="76200">
              <a:solidFill>
                <a:schemeClr val="tx1"/>
              </a:solidFill>
            </a:ln>
            <a:effectLst>
              <a:outerShdw blurRad="50800" dist="38100" dir="2700000" algn="tl"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Bp</a:t>
              </a:r>
            </a:p>
          </p:txBody>
        </p:sp>
        <p:sp>
          <p:nvSpPr>
            <p:cNvPr id="44" name="Rectangle 43"/>
            <p:cNvSpPr/>
            <p:nvPr/>
          </p:nvSpPr>
          <p:spPr>
            <a:xfrm>
              <a:off x="2336800" y="5486400"/>
              <a:ext cx="508000" cy="381000"/>
            </a:xfrm>
            <a:prstGeom prst="rect">
              <a:avLst/>
            </a:prstGeom>
            <a:solidFill>
              <a:srgbClr val="00B050"/>
            </a:solidFill>
            <a:ln w="76200">
              <a:solidFill>
                <a:schemeClr val="tx1"/>
              </a:solidFill>
            </a:ln>
            <a:effectLst>
              <a:outerShdw blurRad="50800" dist="38100" dir="2700000" algn="tl"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P</a:t>
              </a:r>
            </a:p>
          </p:txBody>
        </p:sp>
        <p:sp>
          <p:nvSpPr>
            <p:cNvPr id="45" name="Rectangle 44"/>
            <p:cNvSpPr/>
            <p:nvPr/>
          </p:nvSpPr>
          <p:spPr>
            <a:xfrm>
              <a:off x="3048000" y="5486400"/>
              <a:ext cx="508000" cy="381000"/>
            </a:xfrm>
            <a:prstGeom prst="rect">
              <a:avLst/>
            </a:prstGeom>
            <a:solidFill>
              <a:srgbClr val="00B050"/>
            </a:solidFill>
            <a:ln w="76200">
              <a:solidFill>
                <a:schemeClr val="tx1"/>
              </a:solidFill>
            </a:ln>
            <a:effectLst>
              <a:outerShdw blurRad="50800" dist="38100" dir="2700000" algn="tl"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S</a:t>
              </a:r>
            </a:p>
          </p:txBody>
        </p:sp>
        <p:sp>
          <p:nvSpPr>
            <p:cNvPr id="46" name="Rectangle 45"/>
            <p:cNvSpPr/>
            <p:nvPr/>
          </p:nvSpPr>
          <p:spPr>
            <a:xfrm>
              <a:off x="3759200" y="5486400"/>
              <a:ext cx="508000" cy="381000"/>
            </a:xfrm>
            <a:prstGeom prst="rect">
              <a:avLst/>
            </a:prstGeom>
            <a:solidFill>
              <a:srgbClr val="00B050"/>
            </a:solidFill>
            <a:ln w="76200">
              <a:solidFill>
                <a:schemeClr val="tx1"/>
              </a:solidFill>
            </a:ln>
            <a:effectLst>
              <a:outerShdw blurRad="50800" dist="38100" dir="2700000" algn="tl"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C</a:t>
              </a:r>
            </a:p>
          </p:txBody>
        </p:sp>
        <p:sp>
          <p:nvSpPr>
            <p:cNvPr id="47" name="Rectangle 46"/>
            <p:cNvSpPr/>
            <p:nvPr/>
          </p:nvSpPr>
          <p:spPr>
            <a:xfrm>
              <a:off x="914400" y="5486400"/>
              <a:ext cx="508000" cy="381000"/>
            </a:xfrm>
            <a:prstGeom prst="rect">
              <a:avLst/>
            </a:prstGeom>
            <a:solidFill>
              <a:srgbClr val="00B050"/>
            </a:solidFill>
            <a:ln w="76200">
              <a:solidFill>
                <a:schemeClr val="tx1"/>
              </a:solidFill>
            </a:ln>
            <a:effectLst>
              <a:outerShdw blurRad="50800" dist="38100" dir="2700000" algn="tl"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Pl</a:t>
              </a:r>
            </a:p>
          </p:txBody>
        </p:sp>
        <p:sp>
          <p:nvSpPr>
            <p:cNvPr id="48" name="Rectangle 47"/>
            <p:cNvSpPr/>
            <p:nvPr/>
          </p:nvSpPr>
          <p:spPr>
            <a:xfrm>
              <a:off x="1320800" y="3124200"/>
              <a:ext cx="508000" cy="381000"/>
            </a:xfrm>
            <a:prstGeom prst="rect">
              <a:avLst/>
            </a:prstGeom>
            <a:solidFill>
              <a:srgbClr val="0070C0"/>
            </a:solidFill>
            <a:ln w="76200">
              <a:solidFill>
                <a:schemeClr val="tx1"/>
              </a:solidFill>
            </a:ln>
            <a:effectLst>
              <a:outerShdw blurRad="50800" dist="38100" dir="2700000" algn="tl"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R</a:t>
              </a:r>
            </a:p>
          </p:txBody>
        </p:sp>
        <p:sp>
          <p:nvSpPr>
            <p:cNvPr id="49" name="Rectangle 48"/>
            <p:cNvSpPr/>
            <p:nvPr/>
          </p:nvSpPr>
          <p:spPr>
            <a:xfrm>
              <a:off x="2032000" y="3124200"/>
              <a:ext cx="508000" cy="381000"/>
            </a:xfrm>
            <a:prstGeom prst="rect">
              <a:avLst/>
            </a:prstGeom>
            <a:solidFill>
              <a:srgbClr val="0070C0"/>
            </a:solidFill>
            <a:ln w="76200">
              <a:solidFill>
                <a:schemeClr val="tx1"/>
              </a:solidFill>
            </a:ln>
            <a:effectLst>
              <a:outerShdw blurRad="50800" dist="38100" dir="2700000" algn="tl"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L</a:t>
              </a:r>
            </a:p>
          </p:txBody>
        </p:sp>
        <p:sp>
          <p:nvSpPr>
            <p:cNvPr id="50" name="Rectangle 49"/>
            <p:cNvSpPr/>
            <p:nvPr/>
          </p:nvSpPr>
          <p:spPr>
            <a:xfrm>
              <a:off x="2743200" y="3124200"/>
              <a:ext cx="508000" cy="381000"/>
            </a:xfrm>
            <a:prstGeom prst="rect">
              <a:avLst/>
            </a:prstGeom>
            <a:solidFill>
              <a:srgbClr val="0070C0"/>
            </a:solidFill>
            <a:ln w="76200">
              <a:solidFill>
                <a:schemeClr val="tx1"/>
              </a:solidFill>
            </a:ln>
            <a:effectLst>
              <a:outerShdw blurRad="50800" dist="38100" dir="2700000" algn="tl"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G</a:t>
              </a:r>
            </a:p>
          </p:txBody>
        </p:sp>
        <p:sp>
          <p:nvSpPr>
            <p:cNvPr id="51" name="Rectangle 50"/>
            <p:cNvSpPr/>
            <p:nvPr/>
          </p:nvSpPr>
          <p:spPr>
            <a:xfrm>
              <a:off x="5791200" y="3962400"/>
              <a:ext cx="508000" cy="381000"/>
            </a:xfrm>
            <a:prstGeom prst="rect">
              <a:avLst/>
            </a:prstGeom>
            <a:solidFill>
              <a:srgbClr val="7030A0"/>
            </a:solidFill>
            <a:ln w="76200">
              <a:solidFill>
                <a:schemeClr val="tx1"/>
              </a:solidFill>
            </a:ln>
            <a:effectLst>
              <a:outerShdw blurRad="50800" dist="38100" dir="2700000" algn="tl"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i</a:t>
              </a:r>
            </a:p>
          </p:txBody>
        </p:sp>
      </p:grpSp>
      <p:sp>
        <p:nvSpPr>
          <p:cNvPr id="52" name="TextBox 51"/>
          <p:cNvSpPr txBox="1"/>
          <p:nvPr/>
        </p:nvSpPr>
        <p:spPr>
          <a:xfrm>
            <a:off x="304800" y="228600"/>
            <a:ext cx="4978400" cy="369332"/>
          </a:xfrm>
          <a:prstGeom prst="rect">
            <a:avLst/>
          </a:prstGeom>
          <a:noFill/>
        </p:spPr>
        <p:txBody>
          <a:bodyPr wrap="square" rtlCol="0">
            <a:spAutoFit/>
          </a:bodyPr>
          <a:lstStyle/>
          <a:p>
            <a:r>
              <a:rPr lang="en-US" b="1" dirty="0"/>
              <a:t>THE JUNGLENOMICS SKILL MASKS</a:t>
            </a:r>
          </a:p>
        </p:txBody>
      </p:sp>
      <p:pic>
        <p:nvPicPr>
          <p:cNvPr id="42" name="Picture 41"/>
          <p:cNvPicPr>
            <a:picLocks noChangeAspect="1"/>
          </p:cNvPicPr>
          <p:nvPr/>
        </p:nvPicPr>
        <p:blipFill>
          <a:blip r:embed="rId8" cstate="print"/>
          <a:stretch>
            <a:fillRect/>
          </a:stretch>
        </p:blipFill>
        <p:spPr>
          <a:xfrm>
            <a:off x="6544041" y="565142"/>
            <a:ext cx="402446" cy="264197"/>
          </a:xfrm>
          <a:prstGeom prst="rect">
            <a:avLst/>
          </a:prstGeom>
          <a:effectLst>
            <a:outerShdw blurRad="50800" dist="38100" dir="8100000" algn="tr" rotWithShape="0">
              <a:prstClr val="black">
                <a:alpha val="40000"/>
              </a:prstClr>
            </a:outerShdw>
          </a:effectLst>
        </p:spPr>
      </p:pic>
      <p:pic>
        <p:nvPicPr>
          <p:cNvPr id="53" name="Picture 52"/>
          <p:cNvPicPr>
            <a:picLocks noChangeAspect="1"/>
          </p:cNvPicPr>
          <p:nvPr/>
        </p:nvPicPr>
        <p:blipFill>
          <a:blip r:embed="rId8" cstate="print"/>
          <a:stretch>
            <a:fillRect/>
          </a:stretch>
        </p:blipFill>
        <p:spPr>
          <a:xfrm>
            <a:off x="9088766" y="2397486"/>
            <a:ext cx="402446" cy="264197"/>
          </a:xfrm>
          <a:prstGeom prst="rect">
            <a:avLst/>
          </a:prstGeom>
          <a:effectLst>
            <a:outerShdw blurRad="50800" dist="38100" dir="8100000" algn="tr" rotWithShape="0">
              <a:prstClr val="black">
                <a:alpha val="40000"/>
              </a:prstClr>
            </a:outerShdw>
          </a:effectLst>
        </p:spPr>
      </p:pic>
      <p:pic>
        <p:nvPicPr>
          <p:cNvPr id="54" name="Picture 53"/>
          <p:cNvPicPr>
            <a:picLocks noChangeAspect="1"/>
          </p:cNvPicPr>
          <p:nvPr/>
        </p:nvPicPr>
        <p:blipFill>
          <a:blip r:embed="rId8" cstate="print"/>
          <a:stretch>
            <a:fillRect/>
          </a:stretch>
        </p:blipFill>
        <p:spPr>
          <a:xfrm>
            <a:off x="8018422" y="5027271"/>
            <a:ext cx="402446" cy="264197"/>
          </a:xfrm>
          <a:prstGeom prst="rect">
            <a:avLst/>
          </a:prstGeom>
          <a:effectLst>
            <a:outerShdw blurRad="50800" dist="38100" dir="8100000" algn="tr" rotWithShape="0">
              <a:prstClr val="black">
                <a:alpha val="40000"/>
              </a:prstClr>
            </a:outerShdw>
          </a:effectLst>
        </p:spPr>
      </p:pic>
      <p:pic>
        <p:nvPicPr>
          <p:cNvPr id="55" name="Picture 54"/>
          <p:cNvPicPr>
            <a:picLocks noChangeAspect="1"/>
          </p:cNvPicPr>
          <p:nvPr/>
        </p:nvPicPr>
        <p:blipFill>
          <a:blip r:embed="rId8" cstate="print"/>
          <a:stretch>
            <a:fillRect/>
          </a:stretch>
        </p:blipFill>
        <p:spPr>
          <a:xfrm>
            <a:off x="1252571" y="2471914"/>
            <a:ext cx="402446" cy="264197"/>
          </a:xfrm>
          <a:prstGeom prst="rect">
            <a:avLst/>
          </a:prstGeom>
          <a:effectLst>
            <a:outerShdw blurRad="50800" dist="38100" dir="8100000" algn="tr" rotWithShape="0">
              <a:prstClr val="black">
                <a:alpha val="40000"/>
              </a:prstClr>
            </a:outerShdw>
          </a:effectLst>
        </p:spPr>
      </p:pic>
      <p:pic>
        <p:nvPicPr>
          <p:cNvPr id="56" name="Picture 55"/>
          <p:cNvPicPr>
            <a:picLocks noChangeAspect="1"/>
          </p:cNvPicPr>
          <p:nvPr/>
        </p:nvPicPr>
        <p:blipFill>
          <a:blip r:embed="rId8" cstate="print"/>
          <a:stretch>
            <a:fillRect/>
          </a:stretch>
        </p:blipFill>
        <p:spPr>
          <a:xfrm>
            <a:off x="2042925" y="4995374"/>
            <a:ext cx="402446" cy="264197"/>
          </a:xfrm>
          <a:prstGeom prst="rect">
            <a:avLst/>
          </a:prstGeom>
          <a:effectLst>
            <a:outerShdw blurRad="50800" dist="38100" dir="8100000" algn="tr" rotWithShape="0">
              <a:prstClr val="black">
                <a:alpha val="40000"/>
              </a:prstClr>
            </a:outerShdw>
          </a:effec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946400" y="274638"/>
            <a:ext cx="8636000" cy="1143000"/>
          </a:xfrm>
        </p:spPr>
        <p:txBody>
          <a:bodyPr/>
          <a:lstStyle/>
          <a:p>
            <a:r>
              <a:rPr lang="en-US" dirty="0"/>
              <a:t>THE WHITE MASK</a:t>
            </a:r>
          </a:p>
        </p:txBody>
      </p:sp>
      <p:sp>
        <p:nvSpPr>
          <p:cNvPr id="5" name="Content Placeholder 4"/>
          <p:cNvSpPr>
            <a:spLocks noGrp="1"/>
          </p:cNvSpPr>
          <p:nvPr>
            <p:ph idx="1"/>
          </p:nvPr>
        </p:nvSpPr>
        <p:spPr>
          <a:xfrm>
            <a:off x="2946400" y="1600201"/>
            <a:ext cx="7569200" cy="4525963"/>
          </a:xfrm>
        </p:spPr>
        <p:txBody>
          <a:bodyPr/>
          <a:lstStyle/>
          <a:p>
            <a:r>
              <a:rPr lang="en-US" b="1" dirty="0"/>
              <a:t>ABILITIES</a:t>
            </a:r>
            <a:r>
              <a:rPr lang="en-US" dirty="0"/>
              <a:t>: Tribe identification and entry guidance</a:t>
            </a:r>
          </a:p>
          <a:p>
            <a:endParaRPr lang="en-US" dirty="0"/>
          </a:p>
          <a:p>
            <a:r>
              <a:rPr lang="en-US" b="1" dirty="0"/>
              <a:t>SKILLS</a:t>
            </a:r>
            <a:r>
              <a:rPr lang="en-US" dirty="0"/>
              <a:t>: Professional level Knowledge of enterprise types and there peculiarities</a:t>
            </a:r>
          </a:p>
          <a:p>
            <a:endParaRPr lang="en-US" dirty="0"/>
          </a:p>
          <a:p>
            <a:r>
              <a:rPr lang="en-US" b="1" dirty="0"/>
              <a:t>PERSONALITY</a:t>
            </a:r>
            <a:r>
              <a:rPr lang="en-US" dirty="0"/>
              <a:t>: The Typologist</a:t>
            </a:r>
          </a:p>
          <a:p>
            <a:endParaRPr lang="en-US" dirty="0"/>
          </a:p>
          <a:p>
            <a:r>
              <a:rPr lang="en-US" dirty="0"/>
              <a:t>10+ Experience with the skill set</a:t>
            </a:r>
          </a:p>
        </p:txBody>
      </p:sp>
      <p:sp>
        <p:nvSpPr>
          <p:cNvPr id="6146" name="AutoShape 2" descr="Image result for african tribal chief cartoon"/>
          <p:cNvSpPr>
            <a:spLocks noChangeAspect="1" noChangeArrowheads="1"/>
          </p:cNvSpPr>
          <p:nvPr/>
        </p:nvSpPr>
        <p:spPr bwMode="auto">
          <a:xfrm>
            <a:off x="84667" y="-136525"/>
            <a:ext cx="4064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grpSp>
        <p:nvGrpSpPr>
          <p:cNvPr id="2" name="Group 49"/>
          <p:cNvGrpSpPr/>
          <p:nvPr/>
        </p:nvGrpSpPr>
        <p:grpSpPr>
          <a:xfrm>
            <a:off x="725286" y="327835"/>
            <a:ext cx="1755647" cy="2713074"/>
            <a:chOff x="664463" y="2514600"/>
            <a:chExt cx="1316735" cy="2362200"/>
          </a:xfrm>
        </p:grpSpPr>
        <p:grpSp>
          <p:nvGrpSpPr>
            <p:cNvPr id="3" name="Group 41"/>
            <p:cNvGrpSpPr/>
            <p:nvPr/>
          </p:nvGrpSpPr>
          <p:grpSpPr>
            <a:xfrm>
              <a:off x="664463" y="2514600"/>
              <a:ext cx="1316735" cy="2362200"/>
              <a:chOff x="664463" y="2514600"/>
              <a:chExt cx="1316735" cy="2362200"/>
            </a:xfrm>
          </p:grpSpPr>
          <p:grpSp>
            <p:nvGrpSpPr>
              <p:cNvPr id="6" name="Group 40"/>
              <p:cNvGrpSpPr/>
              <p:nvPr/>
            </p:nvGrpSpPr>
            <p:grpSpPr>
              <a:xfrm>
                <a:off x="664463" y="3427141"/>
                <a:ext cx="1316735" cy="1449659"/>
                <a:chOff x="664463" y="3427141"/>
                <a:chExt cx="1316735" cy="1449659"/>
              </a:xfrm>
            </p:grpSpPr>
            <p:sp>
              <p:nvSpPr>
                <p:cNvPr id="27" name="Regular Pentagon 26"/>
                <p:cNvSpPr/>
                <p:nvPr/>
              </p:nvSpPr>
              <p:spPr>
                <a:xfrm rot="10800000">
                  <a:off x="664463" y="3427141"/>
                  <a:ext cx="1316735" cy="1449659"/>
                </a:xfrm>
                <a:prstGeom prst="pentagon">
                  <a:avLst/>
                </a:prstGeom>
                <a:solidFill>
                  <a:schemeClr val="bg1"/>
                </a:solidFill>
                <a:ln>
                  <a:solidFill>
                    <a:schemeClr val="tx1"/>
                  </a:solidFill>
                </a:ln>
                <a:effectLst>
                  <a:outerShdw blurRad="107950" dist="12700" dir="5400000" algn="ctr">
                    <a:srgbClr val="000000"/>
                  </a:outerShdw>
                </a:effectLst>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lowchart: Terminator 32"/>
                <p:cNvSpPr/>
                <p:nvPr/>
              </p:nvSpPr>
              <p:spPr>
                <a:xfrm>
                  <a:off x="990600" y="4267200"/>
                  <a:ext cx="685800" cy="228600"/>
                </a:xfrm>
                <a:prstGeom prst="flowChartTerminator">
                  <a:avLst/>
                </a:prstGeom>
                <a:noFill/>
                <a:ln>
                  <a:solidFill>
                    <a:schemeClr val="tx1"/>
                  </a:solid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Pentagon 34"/>
                <p:cNvSpPr/>
                <p:nvPr/>
              </p:nvSpPr>
              <p:spPr>
                <a:xfrm>
                  <a:off x="990600" y="3733800"/>
                  <a:ext cx="304800" cy="228600"/>
                </a:xfrm>
                <a:prstGeom prst="homePlate">
                  <a:avLst/>
                </a:prstGeom>
                <a:noFill/>
                <a:ln>
                  <a:solidFill>
                    <a:schemeClr val="tx1"/>
                  </a:solid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Pentagon 35"/>
                <p:cNvSpPr/>
                <p:nvPr/>
              </p:nvSpPr>
              <p:spPr>
                <a:xfrm rot="10800000">
                  <a:off x="1371600" y="3733800"/>
                  <a:ext cx="304800" cy="228600"/>
                </a:xfrm>
                <a:prstGeom prst="homePlate">
                  <a:avLst/>
                </a:prstGeom>
                <a:noFill/>
                <a:ln>
                  <a:solidFill>
                    <a:schemeClr val="tx1"/>
                  </a:solid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Pentagon 36"/>
                <p:cNvSpPr/>
                <p:nvPr/>
              </p:nvSpPr>
              <p:spPr>
                <a:xfrm rot="16200000">
                  <a:off x="1181100" y="3924300"/>
                  <a:ext cx="304800" cy="228600"/>
                </a:xfrm>
                <a:prstGeom prst="homePlate">
                  <a:avLst/>
                </a:prstGeom>
                <a:noFill/>
                <a:ln>
                  <a:solidFill>
                    <a:schemeClr val="tx1"/>
                  </a:solid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9" name="32-Point Star 38"/>
              <p:cNvSpPr/>
              <p:nvPr/>
            </p:nvSpPr>
            <p:spPr>
              <a:xfrm>
                <a:off x="914400" y="2514600"/>
                <a:ext cx="838200" cy="762000"/>
              </a:xfrm>
              <a:prstGeom prst="star32">
                <a:avLst/>
              </a:prstGeom>
              <a:solidFill>
                <a:schemeClr val="bg1"/>
              </a:solidFill>
              <a:ln>
                <a:solidFill>
                  <a:schemeClr val="tx1"/>
                </a:solid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44" name="Straight Connector 43"/>
            <p:cNvCxnSpPr>
              <a:stCxn id="27" idx="1"/>
            </p:cNvCxnSpPr>
            <p:nvPr/>
          </p:nvCxnSpPr>
          <p:spPr>
            <a:xfrm flipH="1" flipV="1">
              <a:off x="1676400" y="4191000"/>
              <a:ext cx="304797" cy="132081"/>
            </a:xfrm>
            <a:prstGeom prst="line">
              <a:avLst/>
            </a:prstGeom>
            <a:ln w="5715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grpSp>
      <p:sp>
        <p:nvSpPr>
          <p:cNvPr id="15" name="Rectangle 14"/>
          <p:cNvSpPr/>
          <p:nvPr/>
        </p:nvSpPr>
        <p:spPr>
          <a:xfrm>
            <a:off x="711200" y="3200400"/>
            <a:ext cx="812800" cy="609600"/>
          </a:xfrm>
          <a:prstGeom prst="rect">
            <a:avLst/>
          </a:prstGeom>
          <a:solidFill>
            <a:schemeClr val="bg1"/>
          </a:solidFill>
          <a:ln w="76200">
            <a:solidFill>
              <a:schemeClr val="tx1"/>
            </a:solidFill>
          </a:ln>
          <a:effectLst>
            <a:outerShdw blurRad="50800" dist="38100" dir="2700000" algn="tl"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A</a:t>
            </a:r>
          </a:p>
        </p:txBody>
      </p:sp>
      <p:sp>
        <p:nvSpPr>
          <p:cNvPr id="16" name="Rectangle 15"/>
          <p:cNvSpPr/>
          <p:nvPr/>
        </p:nvSpPr>
        <p:spPr>
          <a:xfrm>
            <a:off x="1727200" y="3200400"/>
            <a:ext cx="812800" cy="609600"/>
          </a:xfrm>
          <a:prstGeom prst="rect">
            <a:avLst/>
          </a:prstGeom>
          <a:solidFill>
            <a:schemeClr val="bg1"/>
          </a:solidFill>
          <a:ln w="76200">
            <a:solidFill>
              <a:schemeClr val="tx1"/>
            </a:solidFill>
          </a:ln>
          <a:effectLst>
            <a:outerShdw blurRad="50800" dist="38100" dir="2700000" algn="tl"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E</a:t>
            </a:r>
          </a:p>
        </p:txBody>
      </p:sp>
      <p:sp>
        <p:nvSpPr>
          <p:cNvPr id="17" name="Rectangle 16"/>
          <p:cNvSpPr/>
          <p:nvPr/>
        </p:nvSpPr>
        <p:spPr>
          <a:xfrm>
            <a:off x="711200" y="3962400"/>
            <a:ext cx="812800" cy="609600"/>
          </a:xfrm>
          <a:prstGeom prst="rect">
            <a:avLst/>
          </a:prstGeom>
          <a:solidFill>
            <a:schemeClr val="bg1"/>
          </a:solidFill>
          <a:ln w="76200">
            <a:solidFill>
              <a:schemeClr val="tx1"/>
            </a:solidFill>
          </a:ln>
          <a:effectLst>
            <a:outerShdw blurRad="50800" dist="38100" dir="2700000" algn="tl"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C</a:t>
            </a:r>
          </a:p>
        </p:txBody>
      </p:sp>
      <p:sp>
        <p:nvSpPr>
          <p:cNvPr id="18" name="Rectangle 17"/>
          <p:cNvSpPr/>
          <p:nvPr/>
        </p:nvSpPr>
        <p:spPr>
          <a:xfrm>
            <a:off x="1727200" y="3962400"/>
            <a:ext cx="812800" cy="609600"/>
          </a:xfrm>
          <a:prstGeom prst="rect">
            <a:avLst/>
          </a:prstGeom>
          <a:solidFill>
            <a:schemeClr val="bg1"/>
          </a:solidFill>
          <a:ln w="76200">
            <a:solidFill>
              <a:schemeClr val="tx1"/>
            </a:solidFill>
          </a:ln>
          <a:effectLst>
            <a:outerShdw blurRad="50800" dist="38100" dir="2700000" algn="tl"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B</a:t>
            </a:r>
          </a:p>
        </p:txBody>
      </p:sp>
      <p:sp>
        <p:nvSpPr>
          <p:cNvPr id="19" name="Rectangle 18"/>
          <p:cNvSpPr/>
          <p:nvPr/>
        </p:nvSpPr>
        <p:spPr>
          <a:xfrm>
            <a:off x="711200" y="4724400"/>
            <a:ext cx="812800" cy="609600"/>
          </a:xfrm>
          <a:prstGeom prst="rect">
            <a:avLst/>
          </a:prstGeom>
          <a:solidFill>
            <a:schemeClr val="bg1"/>
          </a:solidFill>
          <a:ln w="76200">
            <a:solidFill>
              <a:schemeClr val="tx1"/>
            </a:solidFill>
          </a:ln>
          <a:effectLst>
            <a:outerShdw blurRad="50800" dist="38100" dir="2700000" algn="tl"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Bb</a:t>
            </a:r>
          </a:p>
        </p:txBody>
      </p:sp>
      <p:sp>
        <p:nvSpPr>
          <p:cNvPr id="20" name="Rectangle 19"/>
          <p:cNvSpPr/>
          <p:nvPr/>
        </p:nvSpPr>
        <p:spPr>
          <a:xfrm>
            <a:off x="1727200" y="4724400"/>
            <a:ext cx="812800" cy="609600"/>
          </a:xfrm>
          <a:prstGeom prst="rect">
            <a:avLst/>
          </a:prstGeom>
          <a:solidFill>
            <a:schemeClr val="bg1"/>
          </a:solidFill>
          <a:ln w="76200">
            <a:solidFill>
              <a:schemeClr val="tx1"/>
            </a:solidFill>
          </a:ln>
          <a:effectLst>
            <a:outerShdw blurRad="50800" dist="38100" dir="2700000" algn="tl"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W</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946400" y="274638"/>
            <a:ext cx="8636000" cy="1143000"/>
          </a:xfrm>
        </p:spPr>
        <p:txBody>
          <a:bodyPr/>
          <a:lstStyle/>
          <a:p>
            <a:r>
              <a:rPr lang="en-US" dirty="0"/>
              <a:t>THE GOLDEN MASK </a:t>
            </a:r>
          </a:p>
        </p:txBody>
      </p:sp>
      <p:sp>
        <p:nvSpPr>
          <p:cNvPr id="5" name="Content Placeholder 4"/>
          <p:cNvSpPr>
            <a:spLocks noGrp="1"/>
          </p:cNvSpPr>
          <p:nvPr>
            <p:ph idx="1"/>
          </p:nvPr>
        </p:nvSpPr>
        <p:spPr>
          <a:xfrm>
            <a:off x="2946400" y="1600201"/>
            <a:ext cx="7654260" cy="4525963"/>
          </a:xfrm>
        </p:spPr>
        <p:txBody>
          <a:bodyPr/>
          <a:lstStyle/>
          <a:p>
            <a:r>
              <a:rPr lang="en-US" b="1" dirty="0"/>
              <a:t>ABILITIES</a:t>
            </a:r>
            <a:r>
              <a:rPr lang="en-US" dirty="0"/>
              <a:t>: Values Identification</a:t>
            </a:r>
          </a:p>
          <a:p>
            <a:endParaRPr lang="en-US" dirty="0"/>
          </a:p>
          <a:p>
            <a:r>
              <a:rPr lang="en-US" b="1" dirty="0"/>
              <a:t>SKILLS</a:t>
            </a:r>
            <a:r>
              <a:rPr lang="en-US" dirty="0"/>
              <a:t>: Professional level knowledge of Ecclesiastical, Psychological knowledge areas </a:t>
            </a:r>
          </a:p>
          <a:p>
            <a:endParaRPr lang="en-US" dirty="0"/>
          </a:p>
          <a:p>
            <a:r>
              <a:rPr lang="en-US" b="1" dirty="0"/>
              <a:t>PERSONALITY</a:t>
            </a:r>
            <a:r>
              <a:rPr lang="en-US" dirty="0"/>
              <a:t>: The Spiritual Leader </a:t>
            </a:r>
          </a:p>
          <a:p>
            <a:endParaRPr lang="en-US" dirty="0"/>
          </a:p>
          <a:p>
            <a:r>
              <a:rPr lang="en-US" dirty="0"/>
              <a:t>10+ Experience with the skill set</a:t>
            </a:r>
          </a:p>
        </p:txBody>
      </p:sp>
      <p:grpSp>
        <p:nvGrpSpPr>
          <p:cNvPr id="2" name="Group 33"/>
          <p:cNvGrpSpPr/>
          <p:nvPr/>
        </p:nvGrpSpPr>
        <p:grpSpPr>
          <a:xfrm>
            <a:off x="763088" y="327834"/>
            <a:ext cx="1755647" cy="2638647"/>
            <a:chOff x="588265" y="2590800"/>
            <a:chExt cx="1316735" cy="2286000"/>
          </a:xfrm>
        </p:grpSpPr>
        <p:grpSp>
          <p:nvGrpSpPr>
            <p:cNvPr id="3" name="Group 20"/>
            <p:cNvGrpSpPr/>
            <p:nvPr/>
          </p:nvGrpSpPr>
          <p:grpSpPr>
            <a:xfrm>
              <a:off x="588265" y="2590800"/>
              <a:ext cx="1316735" cy="2286000"/>
              <a:chOff x="588265" y="2590800"/>
              <a:chExt cx="1316735" cy="2286000"/>
            </a:xfrm>
          </p:grpSpPr>
          <p:grpSp>
            <p:nvGrpSpPr>
              <p:cNvPr id="6" name="Group 16"/>
              <p:cNvGrpSpPr/>
              <p:nvPr/>
            </p:nvGrpSpPr>
            <p:grpSpPr>
              <a:xfrm>
                <a:off x="588265" y="3427141"/>
                <a:ext cx="1316735" cy="1449659"/>
                <a:chOff x="664463" y="3427141"/>
                <a:chExt cx="1316735" cy="1449659"/>
              </a:xfrm>
            </p:grpSpPr>
            <p:sp>
              <p:nvSpPr>
                <p:cNvPr id="15" name="Regular Pentagon 14"/>
                <p:cNvSpPr/>
                <p:nvPr/>
              </p:nvSpPr>
              <p:spPr>
                <a:xfrm rot="10800000">
                  <a:off x="664463" y="3427141"/>
                  <a:ext cx="1316735" cy="1449659"/>
                </a:xfrm>
                <a:prstGeom prst="pentagon">
                  <a:avLst/>
                </a:prstGeom>
                <a:solidFill>
                  <a:srgbClr val="FFFF00"/>
                </a:solidFill>
                <a:ln>
                  <a:solidFill>
                    <a:schemeClr val="tx1"/>
                  </a:solidFill>
                </a:ln>
                <a:effectLst>
                  <a:outerShdw blurRad="107950" dist="12700" dir="5400000" algn="ctr">
                    <a:srgbClr val="000000"/>
                  </a:outerShdw>
                </a:effectLst>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lowchart: Terminator 9"/>
                <p:cNvSpPr/>
                <p:nvPr/>
              </p:nvSpPr>
              <p:spPr>
                <a:xfrm>
                  <a:off x="990600" y="4267200"/>
                  <a:ext cx="685800" cy="228600"/>
                </a:xfrm>
                <a:prstGeom prst="flowChartTerminator">
                  <a:avLst/>
                </a:prstGeom>
                <a:solidFill>
                  <a:schemeClr val="bg1"/>
                </a:solidFill>
                <a:ln>
                  <a:solidFill>
                    <a:schemeClr val="tx1"/>
                  </a:solid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Pentagon 11"/>
                <p:cNvSpPr/>
                <p:nvPr/>
              </p:nvSpPr>
              <p:spPr>
                <a:xfrm>
                  <a:off x="990600" y="3733800"/>
                  <a:ext cx="304800" cy="228600"/>
                </a:xfrm>
                <a:prstGeom prst="homePlate">
                  <a:avLst/>
                </a:prstGeom>
                <a:solidFill>
                  <a:schemeClr val="bg1"/>
                </a:solidFill>
                <a:ln>
                  <a:solidFill>
                    <a:schemeClr val="tx1"/>
                  </a:solid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Pentagon 12"/>
                <p:cNvSpPr/>
                <p:nvPr/>
              </p:nvSpPr>
              <p:spPr>
                <a:xfrm rot="10800000">
                  <a:off x="1371600" y="3733800"/>
                  <a:ext cx="304800" cy="228600"/>
                </a:xfrm>
                <a:prstGeom prst="homePlate">
                  <a:avLst/>
                </a:prstGeom>
                <a:solidFill>
                  <a:schemeClr val="bg1"/>
                </a:solidFill>
                <a:ln>
                  <a:solidFill>
                    <a:schemeClr val="tx1"/>
                  </a:solid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Pentagon 13"/>
                <p:cNvSpPr/>
                <p:nvPr/>
              </p:nvSpPr>
              <p:spPr>
                <a:xfrm rot="16200000">
                  <a:off x="1181100" y="3924300"/>
                  <a:ext cx="304800" cy="228600"/>
                </a:xfrm>
                <a:prstGeom prst="homePlate">
                  <a:avLst/>
                </a:prstGeom>
                <a:solidFill>
                  <a:schemeClr val="bg1"/>
                </a:solidFill>
                <a:ln>
                  <a:solidFill>
                    <a:schemeClr val="tx1"/>
                  </a:solid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Oval 19"/>
              <p:cNvSpPr/>
              <p:nvPr/>
            </p:nvSpPr>
            <p:spPr>
              <a:xfrm>
                <a:off x="914400" y="2590800"/>
                <a:ext cx="685800" cy="685800"/>
              </a:xfrm>
              <a:prstGeom prst="ellipse">
                <a:avLst/>
              </a:prstGeom>
              <a:solidFill>
                <a:srgbClr val="FFFF00"/>
              </a:solidFill>
              <a:ln>
                <a:solidFill>
                  <a:schemeClr val="tx1"/>
                </a:solid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22" name="Straight Connector 21"/>
            <p:cNvCxnSpPr>
              <a:stCxn id="15" idx="1"/>
            </p:cNvCxnSpPr>
            <p:nvPr/>
          </p:nvCxnSpPr>
          <p:spPr>
            <a:xfrm flipH="1" flipV="1">
              <a:off x="1600200" y="4191000"/>
              <a:ext cx="304799" cy="132081"/>
            </a:xfrm>
            <a:prstGeom prst="line">
              <a:avLst/>
            </a:prstGeom>
            <a:ln w="5715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3" name="Straight Connector 22"/>
            <p:cNvCxnSpPr>
              <a:stCxn id="15" idx="5"/>
            </p:cNvCxnSpPr>
            <p:nvPr/>
          </p:nvCxnSpPr>
          <p:spPr>
            <a:xfrm flipV="1">
              <a:off x="588266" y="4191000"/>
              <a:ext cx="326134" cy="132081"/>
            </a:xfrm>
            <a:prstGeom prst="line">
              <a:avLst/>
            </a:prstGeom>
            <a:ln w="5715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grpSp>
      <p:sp>
        <p:nvSpPr>
          <p:cNvPr id="16" name="Rectangle 15"/>
          <p:cNvSpPr/>
          <p:nvPr/>
        </p:nvSpPr>
        <p:spPr>
          <a:xfrm>
            <a:off x="711200" y="3124200"/>
            <a:ext cx="812800" cy="609600"/>
          </a:xfrm>
          <a:prstGeom prst="rect">
            <a:avLst/>
          </a:prstGeom>
          <a:solidFill>
            <a:srgbClr val="FFFF00"/>
          </a:solidFill>
          <a:ln w="76200">
            <a:solidFill>
              <a:schemeClr val="tx1"/>
            </a:solidFill>
          </a:ln>
          <a:effectLst>
            <a:outerShdw blurRad="50800" dist="38100" dir="2700000" algn="tl"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C</a:t>
            </a:r>
          </a:p>
        </p:txBody>
      </p:sp>
      <p:sp>
        <p:nvSpPr>
          <p:cNvPr id="18" name="Rectangle 17"/>
          <p:cNvSpPr/>
          <p:nvPr/>
        </p:nvSpPr>
        <p:spPr>
          <a:xfrm>
            <a:off x="1727200" y="3124200"/>
            <a:ext cx="812800" cy="609600"/>
          </a:xfrm>
          <a:prstGeom prst="rect">
            <a:avLst/>
          </a:prstGeom>
          <a:solidFill>
            <a:srgbClr val="FFFF00"/>
          </a:solidFill>
          <a:ln w="76200">
            <a:solidFill>
              <a:schemeClr val="tx1"/>
            </a:solidFill>
          </a:ln>
          <a:effectLst>
            <a:outerShdw blurRad="50800" dist="38100" dir="2700000" algn="tl"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err="1">
                <a:solidFill>
                  <a:schemeClr val="tx1"/>
                </a:solidFill>
              </a:rPr>
              <a:t>Cv</a:t>
            </a:r>
            <a:endParaRPr lang="en-US" sz="2800" b="1" dirty="0">
              <a:solidFill>
                <a:schemeClr val="tx1"/>
              </a:solidFill>
            </a:endParaRPr>
          </a:p>
        </p:txBody>
      </p:sp>
      <p:sp>
        <p:nvSpPr>
          <p:cNvPr id="19" name="Rectangle 18"/>
          <p:cNvSpPr/>
          <p:nvPr/>
        </p:nvSpPr>
        <p:spPr>
          <a:xfrm>
            <a:off x="1219200" y="3886200"/>
            <a:ext cx="812800" cy="609600"/>
          </a:xfrm>
          <a:prstGeom prst="rect">
            <a:avLst/>
          </a:prstGeom>
          <a:solidFill>
            <a:srgbClr val="FFFF00"/>
          </a:solidFill>
          <a:ln w="76200">
            <a:solidFill>
              <a:schemeClr val="tx1"/>
            </a:solidFill>
          </a:ln>
          <a:effectLst>
            <a:outerShdw blurRad="50800" dist="38100" dir="2700000" algn="tl"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Co</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946400" y="274638"/>
            <a:ext cx="8636000" cy="1143000"/>
          </a:xfrm>
        </p:spPr>
        <p:txBody>
          <a:bodyPr/>
          <a:lstStyle/>
          <a:p>
            <a:r>
              <a:rPr lang="en-US" dirty="0"/>
              <a:t>THE GRAY MASK</a:t>
            </a:r>
          </a:p>
        </p:txBody>
      </p:sp>
      <p:sp>
        <p:nvSpPr>
          <p:cNvPr id="5" name="Content Placeholder 4"/>
          <p:cNvSpPr>
            <a:spLocks noGrp="1"/>
          </p:cNvSpPr>
          <p:nvPr>
            <p:ph idx="1"/>
          </p:nvPr>
        </p:nvSpPr>
        <p:spPr>
          <a:xfrm>
            <a:off x="2946400" y="1600201"/>
            <a:ext cx="8636000" cy="4525963"/>
          </a:xfrm>
        </p:spPr>
        <p:txBody>
          <a:bodyPr/>
          <a:lstStyle/>
          <a:p>
            <a:r>
              <a:rPr lang="en-US" b="1" dirty="0"/>
              <a:t>ABILITIES</a:t>
            </a:r>
            <a:r>
              <a:rPr lang="en-US" dirty="0"/>
              <a:t>: Skills Identification &amp; Enhancement</a:t>
            </a:r>
          </a:p>
          <a:p>
            <a:endParaRPr lang="en-US" dirty="0"/>
          </a:p>
          <a:p>
            <a:r>
              <a:rPr lang="en-US" b="1" dirty="0"/>
              <a:t>SKILLS</a:t>
            </a:r>
            <a:r>
              <a:rPr lang="en-US" dirty="0"/>
              <a:t>: Professional knowledge of Personnel management and skill maximization.</a:t>
            </a:r>
          </a:p>
          <a:p>
            <a:endParaRPr lang="en-US" dirty="0"/>
          </a:p>
          <a:p>
            <a:r>
              <a:rPr lang="en-US" b="1" dirty="0"/>
              <a:t>PERSONALITY</a:t>
            </a:r>
            <a:r>
              <a:rPr lang="en-US" dirty="0"/>
              <a:t>: The Coach</a:t>
            </a:r>
          </a:p>
          <a:p>
            <a:endParaRPr lang="en-US" dirty="0"/>
          </a:p>
          <a:p>
            <a:r>
              <a:rPr lang="en-US" dirty="0"/>
              <a:t>10+ Experience with the skill set</a:t>
            </a:r>
          </a:p>
          <a:p>
            <a:endParaRPr lang="en-US" dirty="0"/>
          </a:p>
        </p:txBody>
      </p:sp>
      <p:grpSp>
        <p:nvGrpSpPr>
          <p:cNvPr id="2" name="Group 42"/>
          <p:cNvGrpSpPr/>
          <p:nvPr/>
        </p:nvGrpSpPr>
        <p:grpSpPr>
          <a:xfrm>
            <a:off x="732466" y="338467"/>
            <a:ext cx="1755648" cy="2691809"/>
            <a:chOff x="588263" y="2743200"/>
            <a:chExt cx="1316736" cy="2133600"/>
          </a:xfrm>
        </p:grpSpPr>
        <p:sp>
          <p:nvSpPr>
            <p:cNvPr id="8" name="Regular Pentagon 7"/>
            <p:cNvSpPr/>
            <p:nvPr/>
          </p:nvSpPr>
          <p:spPr>
            <a:xfrm rot="10800000">
              <a:off x="588263" y="3427139"/>
              <a:ext cx="1316736" cy="1449659"/>
            </a:xfrm>
            <a:prstGeom prst="pentagon">
              <a:avLst/>
            </a:prstGeom>
            <a:solidFill>
              <a:schemeClr val="bg1">
                <a:lumMod val="65000"/>
              </a:schemeClr>
            </a:solidFill>
            <a:ln>
              <a:solidFill>
                <a:schemeClr val="tx1"/>
              </a:solidFill>
            </a:ln>
            <a:effectLst>
              <a:outerShdw blurRad="107950" dist="12700" dir="5400000" algn="ctr">
                <a:srgbClr val="000000"/>
              </a:outerShdw>
            </a:effectLst>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entagon 9"/>
            <p:cNvSpPr/>
            <p:nvPr/>
          </p:nvSpPr>
          <p:spPr>
            <a:xfrm>
              <a:off x="914400" y="3733800"/>
              <a:ext cx="304800" cy="228600"/>
            </a:xfrm>
            <a:prstGeom prst="homePlate">
              <a:avLst/>
            </a:prstGeom>
            <a:solidFill>
              <a:schemeClr val="bg1"/>
            </a:solidFill>
            <a:ln>
              <a:solidFill>
                <a:schemeClr val="tx1"/>
              </a:solid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entagon 10"/>
            <p:cNvSpPr/>
            <p:nvPr/>
          </p:nvSpPr>
          <p:spPr>
            <a:xfrm rot="10800000">
              <a:off x="1295400" y="3733800"/>
              <a:ext cx="304800" cy="228600"/>
            </a:xfrm>
            <a:prstGeom prst="homePlate">
              <a:avLst/>
            </a:prstGeom>
            <a:solidFill>
              <a:schemeClr val="bg1"/>
            </a:solidFill>
            <a:ln>
              <a:solidFill>
                <a:schemeClr val="tx1"/>
              </a:solid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914400" y="2743200"/>
              <a:ext cx="685800" cy="533400"/>
            </a:xfrm>
            <a:prstGeom prst="rect">
              <a:avLst/>
            </a:prstGeom>
            <a:solidFill>
              <a:schemeClr val="bg1">
                <a:lumMod val="65000"/>
              </a:schemeClr>
            </a:solidFill>
            <a:ln>
              <a:solidFill>
                <a:schemeClr val="tx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Connector 16"/>
            <p:cNvCxnSpPr>
              <a:stCxn id="8" idx="5"/>
            </p:cNvCxnSpPr>
            <p:nvPr/>
          </p:nvCxnSpPr>
          <p:spPr>
            <a:xfrm flipV="1">
              <a:off x="588264" y="4191005"/>
              <a:ext cx="326136" cy="132074"/>
            </a:xfrm>
            <a:prstGeom prst="line">
              <a:avLst/>
            </a:prstGeom>
            <a:ln w="5715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2" name="Pentagon 11"/>
            <p:cNvSpPr/>
            <p:nvPr/>
          </p:nvSpPr>
          <p:spPr>
            <a:xfrm rot="16200000">
              <a:off x="1104900" y="3924300"/>
              <a:ext cx="304800" cy="228600"/>
            </a:xfrm>
            <a:prstGeom prst="homePlate">
              <a:avLst/>
            </a:prstGeom>
            <a:solidFill>
              <a:schemeClr val="bg1"/>
            </a:solidFill>
            <a:ln>
              <a:solidFill>
                <a:schemeClr val="tx1"/>
              </a:solid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lowchart: Terminator 8"/>
            <p:cNvSpPr/>
            <p:nvPr/>
          </p:nvSpPr>
          <p:spPr>
            <a:xfrm>
              <a:off x="914402" y="4267200"/>
              <a:ext cx="685800" cy="228600"/>
            </a:xfrm>
            <a:prstGeom prst="flowChartTerminator">
              <a:avLst/>
            </a:prstGeom>
            <a:solidFill>
              <a:schemeClr val="bg1"/>
            </a:solidFill>
            <a:ln>
              <a:solidFill>
                <a:schemeClr val="tx1"/>
              </a:solid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6" name="Straight Connector 35"/>
            <p:cNvCxnSpPr>
              <a:endCxn id="8" idx="1"/>
            </p:cNvCxnSpPr>
            <p:nvPr/>
          </p:nvCxnSpPr>
          <p:spPr>
            <a:xfrm>
              <a:off x="1524000" y="4191000"/>
              <a:ext cx="380998" cy="132079"/>
            </a:xfrm>
            <a:prstGeom prst="line">
              <a:avLst/>
            </a:prstGeom>
            <a:ln w="5715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flipV="1">
              <a:off x="1219200" y="4572000"/>
              <a:ext cx="0" cy="304800"/>
            </a:xfrm>
            <a:prstGeom prst="line">
              <a:avLst/>
            </a:prstGeom>
            <a:ln w="5715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grpSp>
      <p:sp>
        <p:nvSpPr>
          <p:cNvPr id="14" name="Rectangle 13"/>
          <p:cNvSpPr/>
          <p:nvPr/>
        </p:nvSpPr>
        <p:spPr>
          <a:xfrm>
            <a:off x="711200" y="3200400"/>
            <a:ext cx="812800" cy="609600"/>
          </a:xfrm>
          <a:prstGeom prst="rect">
            <a:avLst/>
          </a:prstGeom>
          <a:solidFill>
            <a:schemeClr val="bg1">
              <a:lumMod val="75000"/>
            </a:schemeClr>
          </a:solidFill>
          <a:ln w="76200">
            <a:solidFill>
              <a:schemeClr val="tx1"/>
            </a:solidFill>
          </a:ln>
          <a:effectLst>
            <a:outerShdw blurRad="50800" dist="38100" dir="2700000" algn="tl"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err="1">
                <a:solidFill>
                  <a:schemeClr val="tx1"/>
                </a:solidFill>
              </a:rPr>
              <a:t>Pe</a:t>
            </a:r>
            <a:endParaRPr lang="en-US" sz="2000" b="1" dirty="0">
              <a:solidFill>
                <a:schemeClr val="tx1"/>
              </a:solidFill>
            </a:endParaRPr>
          </a:p>
        </p:txBody>
      </p:sp>
      <p:sp>
        <p:nvSpPr>
          <p:cNvPr id="16" name="Rectangle 15"/>
          <p:cNvSpPr/>
          <p:nvPr/>
        </p:nvSpPr>
        <p:spPr>
          <a:xfrm>
            <a:off x="1727200" y="3200400"/>
            <a:ext cx="812800" cy="609600"/>
          </a:xfrm>
          <a:prstGeom prst="rect">
            <a:avLst/>
          </a:prstGeom>
          <a:solidFill>
            <a:schemeClr val="bg1">
              <a:lumMod val="75000"/>
            </a:schemeClr>
          </a:solidFill>
          <a:ln w="76200">
            <a:solidFill>
              <a:schemeClr val="tx1"/>
            </a:solidFill>
          </a:ln>
          <a:effectLst>
            <a:outerShdw blurRad="50800" dist="38100" dir="2700000" algn="tl"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Pa</a:t>
            </a:r>
          </a:p>
        </p:txBody>
      </p:sp>
      <p:sp>
        <p:nvSpPr>
          <p:cNvPr id="18" name="Rectangle 17"/>
          <p:cNvSpPr/>
          <p:nvPr/>
        </p:nvSpPr>
        <p:spPr>
          <a:xfrm>
            <a:off x="711200" y="3962400"/>
            <a:ext cx="812800" cy="609600"/>
          </a:xfrm>
          <a:prstGeom prst="rect">
            <a:avLst/>
          </a:prstGeom>
          <a:solidFill>
            <a:schemeClr val="bg1">
              <a:lumMod val="75000"/>
            </a:schemeClr>
          </a:solidFill>
          <a:ln w="76200">
            <a:solidFill>
              <a:schemeClr val="tx1"/>
            </a:solidFill>
          </a:ln>
          <a:effectLst>
            <a:outerShdw blurRad="50800" dist="38100" dir="2700000" algn="tl"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err="1">
                <a:solidFill>
                  <a:schemeClr val="tx1"/>
                </a:solidFill>
              </a:rPr>
              <a:t>TMm</a:t>
            </a:r>
            <a:endParaRPr lang="en-US" sz="1400" b="1" dirty="0">
              <a:solidFill>
                <a:schemeClr val="tx1"/>
              </a:solidFill>
            </a:endParaRPr>
          </a:p>
        </p:txBody>
      </p:sp>
      <p:sp>
        <p:nvSpPr>
          <p:cNvPr id="19" name="Rectangle 18"/>
          <p:cNvSpPr/>
          <p:nvPr/>
        </p:nvSpPr>
        <p:spPr>
          <a:xfrm>
            <a:off x="1727200" y="3962400"/>
            <a:ext cx="812800" cy="609600"/>
          </a:xfrm>
          <a:prstGeom prst="rect">
            <a:avLst/>
          </a:prstGeom>
          <a:solidFill>
            <a:schemeClr val="bg1">
              <a:lumMod val="75000"/>
            </a:schemeClr>
          </a:solidFill>
          <a:ln w="76200">
            <a:solidFill>
              <a:schemeClr val="tx1"/>
            </a:solidFill>
          </a:ln>
          <a:effectLst>
            <a:outerShdw blurRad="50800" dist="38100" dir="2700000" algn="tl"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TMs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946400" y="274638"/>
            <a:ext cx="8636000" cy="1143000"/>
          </a:xfrm>
        </p:spPr>
        <p:txBody>
          <a:bodyPr/>
          <a:lstStyle/>
          <a:p>
            <a:r>
              <a:rPr lang="en-US" dirty="0"/>
              <a:t>THE GREEN MASK</a:t>
            </a:r>
          </a:p>
        </p:txBody>
      </p:sp>
      <p:sp>
        <p:nvSpPr>
          <p:cNvPr id="5" name="Content Placeholder 4"/>
          <p:cNvSpPr>
            <a:spLocks noGrp="1"/>
          </p:cNvSpPr>
          <p:nvPr>
            <p:ph idx="1"/>
          </p:nvPr>
        </p:nvSpPr>
        <p:spPr>
          <a:xfrm>
            <a:off x="2946400" y="1600201"/>
            <a:ext cx="7718056" cy="4525963"/>
          </a:xfrm>
        </p:spPr>
        <p:txBody>
          <a:bodyPr/>
          <a:lstStyle/>
          <a:p>
            <a:r>
              <a:rPr lang="en-US" b="1" dirty="0"/>
              <a:t>ABILITIES</a:t>
            </a:r>
            <a:r>
              <a:rPr lang="en-US" dirty="0"/>
              <a:t>: Systems Design</a:t>
            </a:r>
          </a:p>
          <a:p>
            <a:endParaRPr lang="en-US" dirty="0"/>
          </a:p>
          <a:p>
            <a:r>
              <a:rPr lang="en-US" b="1" dirty="0"/>
              <a:t>SKILLS</a:t>
            </a:r>
            <a:r>
              <a:rPr lang="en-US" dirty="0"/>
              <a:t>: Professional knowledge of Systems, Processes and the Standards that measure them.</a:t>
            </a:r>
          </a:p>
          <a:p>
            <a:endParaRPr lang="en-US" dirty="0"/>
          </a:p>
          <a:p>
            <a:r>
              <a:rPr lang="en-US" b="1" dirty="0"/>
              <a:t>PERSONALITY</a:t>
            </a:r>
            <a:r>
              <a:rPr lang="en-US" dirty="0"/>
              <a:t>: The Architect</a:t>
            </a:r>
          </a:p>
          <a:p>
            <a:endParaRPr lang="en-US" dirty="0"/>
          </a:p>
          <a:p>
            <a:r>
              <a:rPr lang="en-US" dirty="0"/>
              <a:t>10+ Experience with the skill set</a:t>
            </a:r>
          </a:p>
          <a:p>
            <a:endParaRPr lang="en-US" dirty="0"/>
          </a:p>
        </p:txBody>
      </p:sp>
      <p:grpSp>
        <p:nvGrpSpPr>
          <p:cNvPr id="2" name="Group 30"/>
          <p:cNvGrpSpPr/>
          <p:nvPr/>
        </p:nvGrpSpPr>
        <p:grpSpPr>
          <a:xfrm>
            <a:off x="770269" y="239144"/>
            <a:ext cx="1755647" cy="2759235"/>
            <a:chOff x="588265" y="2971800"/>
            <a:chExt cx="1316735" cy="2211659"/>
          </a:xfrm>
        </p:grpSpPr>
        <p:grpSp>
          <p:nvGrpSpPr>
            <p:cNvPr id="3" name="Group 15"/>
            <p:cNvGrpSpPr/>
            <p:nvPr/>
          </p:nvGrpSpPr>
          <p:grpSpPr>
            <a:xfrm>
              <a:off x="588265" y="2971800"/>
              <a:ext cx="1316735" cy="2211659"/>
              <a:chOff x="533400" y="2438400"/>
              <a:chExt cx="1316735" cy="2211659"/>
            </a:xfrm>
          </p:grpSpPr>
          <p:grpSp>
            <p:nvGrpSpPr>
              <p:cNvPr id="6" name="Group 5"/>
              <p:cNvGrpSpPr/>
              <p:nvPr/>
            </p:nvGrpSpPr>
            <p:grpSpPr>
              <a:xfrm>
                <a:off x="533400" y="3200400"/>
                <a:ext cx="1316735" cy="1449659"/>
                <a:chOff x="664463" y="3427141"/>
                <a:chExt cx="1316735" cy="1449659"/>
              </a:xfrm>
              <a:solidFill>
                <a:srgbClr val="00B050"/>
              </a:solidFill>
            </p:grpSpPr>
            <p:sp>
              <p:nvSpPr>
                <p:cNvPr id="8" name="Regular Pentagon 7"/>
                <p:cNvSpPr/>
                <p:nvPr/>
              </p:nvSpPr>
              <p:spPr>
                <a:xfrm rot="10800000">
                  <a:off x="664463" y="3427141"/>
                  <a:ext cx="1316735" cy="1449659"/>
                </a:xfrm>
                <a:prstGeom prst="pentagon">
                  <a:avLst/>
                </a:prstGeom>
                <a:grpFill/>
                <a:ln>
                  <a:solidFill>
                    <a:schemeClr val="tx1"/>
                  </a:solidFill>
                </a:ln>
                <a:effectLst>
                  <a:outerShdw blurRad="107950" dist="12700" dir="5400000" algn="ctr">
                    <a:srgbClr val="000000"/>
                  </a:outerShdw>
                </a:effectLst>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lowchart: Terminator 8"/>
                <p:cNvSpPr/>
                <p:nvPr/>
              </p:nvSpPr>
              <p:spPr>
                <a:xfrm>
                  <a:off x="990600" y="4267200"/>
                  <a:ext cx="685800" cy="228600"/>
                </a:xfrm>
                <a:prstGeom prst="flowChartTerminator">
                  <a:avLst/>
                </a:prstGeom>
                <a:solidFill>
                  <a:schemeClr val="bg1"/>
                </a:solidFill>
                <a:ln>
                  <a:solidFill>
                    <a:schemeClr val="tx1"/>
                  </a:solid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entagon 9"/>
                <p:cNvSpPr/>
                <p:nvPr/>
              </p:nvSpPr>
              <p:spPr>
                <a:xfrm>
                  <a:off x="990600" y="3733800"/>
                  <a:ext cx="304800" cy="228600"/>
                </a:xfrm>
                <a:prstGeom prst="homePlate">
                  <a:avLst/>
                </a:prstGeom>
                <a:solidFill>
                  <a:schemeClr val="bg1"/>
                </a:solidFill>
                <a:ln>
                  <a:solidFill>
                    <a:schemeClr val="tx1"/>
                  </a:solid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entagon 10"/>
                <p:cNvSpPr/>
                <p:nvPr/>
              </p:nvSpPr>
              <p:spPr>
                <a:xfrm rot="10800000">
                  <a:off x="1371600" y="3733800"/>
                  <a:ext cx="304800" cy="228600"/>
                </a:xfrm>
                <a:prstGeom prst="homePlate">
                  <a:avLst/>
                </a:prstGeom>
                <a:solidFill>
                  <a:schemeClr val="bg1"/>
                </a:solidFill>
                <a:ln>
                  <a:solidFill>
                    <a:schemeClr val="tx1"/>
                  </a:solid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Pentagon 11"/>
                <p:cNvSpPr/>
                <p:nvPr/>
              </p:nvSpPr>
              <p:spPr>
                <a:xfrm rot="16200000">
                  <a:off x="1181100" y="3924300"/>
                  <a:ext cx="304800" cy="228600"/>
                </a:xfrm>
                <a:prstGeom prst="homePlate">
                  <a:avLst/>
                </a:prstGeom>
                <a:solidFill>
                  <a:schemeClr val="bg1"/>
                </a:solidFill>
                <a:ln>
                  <a:solidFill>
                    <a:schemeClr val="tx1"/>
                  </a:solid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Hexagon 14"/>
              <p:cNvSpPr/>
              <p:nvPr/>
            </p:nvSpPr>
            <p:spPr>
              <a:xfrm>
                <a:off x="838200" y="2438400"/>
                <a:ext cx="685800" cy="609600"/>
              </a:xfrm>
              <a:prstGeom prst="hexagon">
                <a:avLst/>
              </a:prstGeom>
              <a:solidFill>
                <a:srgbClr val="00B050"/>
              </a:solidFill>
              <a:ln>
                <a:solidFill>
                  <a:schemeClr val="tx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7" name="Straight Connector 16"/>
            <p:cNvCxnSpPr>
              <a:stCxn id="8" idx="5"/>
            </p:cNvCxnSpPr>
            <p:nvPr/>
          </p:nvCxnSpPr>
          <p:spPr>
            <a:xfrm flipV="1">
              <a:off x="588266" y="4495800"/>
              <a:ext cx="326134" cy="133940"/>
            </a:xfrm>
            <a:prstGeom prst="line">
              <a:avLst/>
            </a:prstGeom>
            <a:ln w="5715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flipV="1">
              <a:off x="1219200" y="4876800"/>
              <a:ext cx="0" cy="304800"/>
            </a:xfrm>
            <a:prstGeom prst="line">
              <a:avLst/>
            </a:prstGeom>
            <a:ln w="5715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5" name="Straight Connector 24"/>
            <p:cNvCxnSpPr>
              <a:stCxn id="8" idx="1"/>
            </p:cNvCxnSpPr>
            <p:nvPr/>
          </p:nvCxnSpPr>
          <p:spPr>
            <a:xfrm flipH="1" flipV="1">
              <a:off x="1600200" y="4495800"/>
              <a:ext cx="304799" cy="133940"/>
            </a:xfrm>
            <a:prstGeom prst="line">
              <a:avLst/>
            </a:prstGeom>
            <a:ln w="5715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V="1">
              <a:off x="1219200" y="3733800"/>
              <a:ext cx="0" cy="304800"/>
            </a:xfrm>
            <a:prstGeom prst="line">
              <a:avLst/>
            </a:prstGeom>
            <a:ln w="5715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grpSp>
      <p:sp>
        <p:nvSpPr>
          <p:cNvPr id="18" name="Rectangle 17"/>
          <p:cNvSpPr/>
          <p:nvPr/>
        </p:nvSpPr>
        <p:spPr>
          <a:xfrm>
            <a:off x="711200" y="3200400"/>
            <a:ext cx="812800" cy="609600"/>
          </a:xfrm>
          <a:prstGeom prst="rect">
            <a:avLst/>
          </a:prstGeom>
          <a:solidFill>
            <a:srgbClr val="00B050"/>
          </a:solidFill>
          <a:ln w="76200">
            <a:solidFill>
              <a:schemeClr val="tx1"/>
            </a:solidFill>
          </a:ln>
          <a:effectLst>
            <a:outerShdw blurRad="50800" dist="38100" dir="2700000" algn="tl"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Pl</a:t>
            </a:r>
          </a:p>
        </p:txBody>
      </p:sp>
      <p:sp>
        <p:nvSpPr>
          <p:cNvPr id="19" name="Rectangle 18"/>
          <p:cNvSpPr/>
          <p:nvPr/>
        </p:nvSpPr>
        <p:spPr>
          <a:xfrm>
            <a:off x="1727200" y="3200400"/>
            <a:ext cx="812800" cy="609600"/>
          </a:xfrm>
          <a:prstGeom prst="rect">
            <a:avLst/>
          </a:prstGeom>
          <a:solidFill>
            <a:srgbClr val="00B050"/>
          </a:solidFill>
          <a:ln w="76200">
            <a:solidFill>
              <a:schemeClr val="tx1"/>
            </a:solidFill>
          </a:ln>
          <a:effectLst>
            <a:outerShdw blurRad="50800" dist="38100" dir="2700000" algn="tl"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BP</a:t>
            </a:r>
          </a:p>
        </p:txBody>
      </p:sp>
      <p:sp>
        <p:nvSpPr>
          <p:cNvPr id="20" name="Rectangle 19"/>
          <p:cNvSpPr/>
          <p:nvPr/>
        </p:nvSpPr>
        <p:spPr>
          <a:xfrm>
            <a:off x="711200" y="3962400"/>
            <a:ext cx="812800" cy="609600"/>
          </a:xfrm>
          <a:prstGeom prst="rect">
            <a:avLst/>
          </a:prstGeom>
          <a:solidFill>
            <a:srgbClr val="00B050"/>
          </a:solidFill>
          <a:ln w="76200">
            <a:solidFill>
              <a:schemeClr val="tx1"/>
            </a:solidFill>
          </a:ln>
          <a:effectLst>
            <a:outerShdw blurRad="50800" dist="38100" dir="2700000" algn="tl"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P</a:t>
            </a:r>
          </a:p>
        </p:txBody>
      </p:sp>
      <p:sp>
        <p:nvSpPr>
          <p:cNvPr id="22" name="Rectangle 21"/>
          <p:cNvSpPr/>
          <p:nvPr/>
        </p:nvSpPr>
        <p:spPr>
          <a:xfrm>
            <a:off x="1727200" y="3962400"/>
            <a:ext cx="812800" cy="609600"/>
          </a:xfrm>
          <a:prstGeom prst="rect">
            <a:avLst/>
          </a:prstGeom>
          <a:solidFill>
            <a:srgbClr val="00B050"/>
          </a:solidFill>
          <a:ln w="76200">
            <a:solidFill>
              <a:schemeClr val="tx1"/>
            </a:solidFill>
          </a:ln>
          <a:effectLst>
            <a:outerShdw blurRad="50800" dist="38100" dir="2700000" algn="tl"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S</a:t>
            </a:r>
          </a:p>
        </p:txBody>
      </p:sp>
      <p:sp>
        <p:nvSpPr>
          <p:cNvPr id="23" name="Rectangle 22"/>
          <p:cNvSpPr/>
          <p:nvPr/>
        </p:nvSpPr>
        <p:spPr>
          <a:xfrm>
            <a:off x="711200" y="4724400"/>
            <a:ext cx="812800" cy="609600"/>
          </a:xfrm>
          <a:prstGeom prst="rect">
            <a:avLst/>
          </a:prstGeom>
          <a:solidFill>
            <a:srgbClr val="00B050"/>
          </a:solidFill>
          <a:ln w="76200">
            <a:solidFill>
              <a:schemeClr val="tx1"/>
            </a:solidFill>
          </a:ln>
          <a:effectLst>
            <a:outerShdw blurRad="50800" dist="38100" dir="2700000" algn="tl"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C</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946400" y="274638"/>
            <a:ext cx="8636000" cy="1143000"/>
          </a:xfrm>
        </p:spPr>
        <p:txBody>
          <a:bodyPr/>
          <a:lstStyle/>
          <a:p>
            <a:r>
              <a:rPr lang="en-US" dirty="0"/>
              <a:t>THE BLUE MASK</a:t>
            </a:r>
          </a:p>
        </p:txBody>
      </p:sp>
      <p:sp>
        <p:nvSpPr>
          <p:cNvPr id="5" name="Content Placeholder 4"/>
          <p:cNvSpPr>
            <a:spLocks noGrp="1"/>
          </p:cNvSpPr>
          <p:nvPr>
            <p:ph idx="1"/>
          </p:nvPr>
        </p:nvSpPr>
        <p:spPr>
          <a:xfrm>
            <a:off x="2946400" y="1600201"/>
            <a:ext cx="8636000" cy="4525963"/>
          </a:xfrm>
        </p:spPr>
        <p:txBody>
          <a:bodyPr/>
          <a:lstStyle/>
          <a:p>
            <a:r>
              <a:rPr lang="en-US" b="1" dirty="0"/>
              <a:t>ABILITIES</a:t>
            </a:r>
            <a:r>
              <a:rPr lang="en-US" dirty="0"/>
              <a:t>: Financial and Credibility development.</a:t>
            </a:r>
          </a:p>
          <a:p>
            <a:endParaRPr lang="en-US" dirty="0"/>
          </a:p>
          <a:p>
            <a:r>
              <a:rPr lang="en-US" b="1" dirty="0"/>
              <a:t>SKILLS</a:t>
            </a:r>
            <a:r>
              <a:rPr lang="en-US" dirty="0"/>
              <a:t>: Professional knowledge of financial systems, markets and transaction platforms.</a:t>
            </a:r>
          </a:p>
          <a:p>
            <a:endParaRPr lang="en-US" dirty="0"/>
          </a:p>
          <a:p>
            <a:r>
              <a:rPr lang="en-US" b="1" dirty="0"/>
              <a:t>PERSONALITY</a:t>
            </a:r>
            <a:r>
              <a:rPr lang="en-US" dirty="0"/>
              <a:t>: The Rain Maker</a:t>
            </a:r>
          </a:p>
          <a:p>
            <a:endParaRPr lang="en-US" dirty="0"/>
          </a:p>
          <a:p>
            <a:r>
              <a:rPr lang="en-US" dirty="0"/>
              <a:t>10+ Experience with the skill set</a:t>
            </a:r>
          </a:p>
          <a:p>
            <a:endParaRPr lang="en-US" dirty="0"/>
          </a:p>
        </p:txBody>
      </p:sp>
      <p:grpSp>
        <p:nvGrpSpPr>
          <p:cNvPr id="2" name="Group 27"/>
          <p:cNvGrpSpPr/>
          <p:nvPr/>
        </p:nvGrpSpPr>
        <p:grpSpPr>
          <a:xfrm>
            <a:off x="711201" y="380999"/>
            <a:ext cx="1755647" cy="2606749"/>
            <a:chOff x="588265" y="2819400"/>
            <a:chExt cx="1316735" cy="2057400"/>
          </a:xfrm>
        </p:grpSpPr>
        <p:grpSp>
          <p:nvGrpSpPr>
            <p:cNvPr id="3" name="Group 13"/>
            <p:cNvGrpSpPr/>
            <p:nvPr/>
          </p:nvGrpSpPr>
          <p:grpSpPr>
            <a:xfrm>
              <a:off x="588265" y="2819400"/>
              <a:ext cx="1316735" cy="2057400"/>
              <a:chOff x="588265" y="2819400"/>
              <a:chExt cx="1316735" cy="2057400"/>
            </a:xfrm>
          </p:grpSpPr>
          <p:grpSp>
            <p:nvGrpSpPr>
              <p:cNvPr id="6" name="Group 5"/>
              <p:cNvGrpSpPr/>
              <p:nvPr/>
            </p:nvGrpSpPr>
            <p:grpSpPr>
              <a:xfrm>
                <a:off x="588265" y="3427141"/>
                <a:ext cx="1316735" cy="1449659"/>
                <a:chOff x="664463" y="3427141"/>
                <a:chExt cx="1316735" cy="1449659"/>
              </a:xfrm>
            </p:grpSpPr>
            <p:sp>
              <p:nvSpPr>
                <p:cNvPr id="8" name="Regular Pentagon 7"/>
                <p:cNvSpPr/>
                <p:nvPr/>
              </p:nvSpPr>
              <p:spPr>
                <a:xfrm rot="10800000">
                  <a:off x="664463" y="3427141"/>
                  <a:ext cx="1316735" cy="1449659"/>
                </a:xfrm>
                <a:prstGeom prst="pentagon">
                  <a:avLst/>
                </a:prstGeom>
                <a:solidFill>
                  <a:srgbClr val="0070C0"/>
                </a:solidFill>
                <a:ln>
                  <a:solidFill>
                    <a:schemeClr val="tx1"/>
                  </a:solidFill>
                </a:ln>
                <a:effectLst>
                  <a:outerShdw blurRad="107950" dist="12700" dir="5400000" algn="ctr">
                    <a:srgbClr val="000000"/>
                  </a:outerShdw>
                </a:effectLst>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lowchart: Terminator 8"/>
                <p:cNvSpPr/>
                <p:nvPr/>
              </p:nvSpPr>
              <p:spPr>
                <a:xfrm>
                  <a:off x="990600" y="4267200"/>
                  <a:ext cx="685800" cy="228600"/>
                </a:xfrm>
                <a:prstGeom prst="flowChartTerminator">
                  <a:avLst/>
                </a:prstGeom>
                <a:solidFill>
                  <a:schemeClr val="bg1"/>
                </a:solidFill>
                <a:ln>
                  <a:solidFill>
                    <a:schemeClr val="tx1"/>
                  </a:solid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entagon 9"/>
                <p:cNvSpPr/>
                <p:nvPr/>
              </p:nvSpPr>
              <p:spPr>
                <a:xfrm>
                  <a:off x="990600" y="3733800"/>
                  <a:ext cx="304800" cy="228600"/>
                </a:xfrm>
                <a:prstGeom prst="homePlate">
                  <a:avLst/>
                </a:prstGeom>
                <a:solidFill>
                  <a:schemeClr val="bg1"/>
                </a:solidFill>
                <a:ln>
                  <a:solidFill>
                    <a:schemeClr val="tx1"/>
                  </a:solid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entagon 10"/>
                <p:cNvSpPr/>
                <p:nvPr/>
              </p:nvSpPr>
              <p:spPr>
                <a:xfrm rot="10800000">
                  <a:off x="1371600" y="3733800"/>
                  <a:ext cx="304800" cy="228600"/>
                </a:xfrm>
                <a:prstGeom prst="homePlate">
                  <a:avLst/>
                </a:prstGeom>
                <a:solidFill>
                  <a:schemeClr val="bg1"/>
                </a:solidFill>
                <a:ln>
                  <a:solidFill>
                    <a:schemeClr val="tx1"/>
                  </a:solid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Pentagon 11"/>
                <p:cNvSpPr/>
                <p:nvPr/>
              </p:nvSpPr>
              <p:spPr>
                <a:xfrm rot="16200000">
                  <a:off x="1181100" y="3924300"/>
                  <a:ext cx="304800" cy="228600"/>
                </a:xfrm>
                <a:prstGeom prst="homePlate">
                  <a:avLst/>
                </a:prstGeom>
                <a:solidFill>
                  <a:schemeClr val="bg1"/>
                </a:solidFill>
                <a:ln>
                  <a:solidFill>
                    <a:schemeClr val="tx1"/>
                  </a:solid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Flowchart: Extract 12"/>
              <p:cNvSpPr/>
              <p:nvPr/>
            </p:nvSpPr>
            <p:spPr>
              <a:xfrm>
                <a:off x="990600" y="2819400"/>
                <a:ext cx="533400" cy="457200"/>
              </a:xfrm>
              <a:prstGeom prst="flowChartExtract">
                <a:avLst/>
              </a:prstGeom>
              <a:ln>
                <a:solidFill>
                  <a:schemeClr val="tx1"/>
                </a:solidFill>
              </a:ln>
              <a:effectLst>
                <a:outerShdw blurRad="50800" dist="38100" dir="2700000" algn="tl" rotWithShape="0">
                  <a:prstClr val="black">
                    <a:alpha val="40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5" name="Straight Connector 14"/>
            <p:cNvCxnSpPr/>
            <p:nvPr/>
          </p:nvCxnSpPr>
          <p:spPr>
            <a:xfrm flipV="1">
              <a:off x="1219200" y="4572000"/>
              <a:ext cx="0" cy="304800"/>
            </a:xfrm>
            <a:prstGeom prst="line">
              <a:avLst/>
            </a:prstGeom>
            <a:ln w="5715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flipV="1">
              <a:off x="1219200" y="3429000"/>
              <a:ext cx="0" cy="304800"/>
            </a:xfrm>
            <a:prstGeom prst="line">
              <a:avLst/>
            </a:prstGeom>
            <a:ln w="5715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7" name="Straight Connector 16"/>
            <p:cNvCxnSpPr>
              <a:stCxn id="8" idx="5"/>
            </p:cNvCxnSpPr>
            <p:nvPr/>
          </p:nvCxnSpPr>
          <p:spPr>
            <a:xfrm flipV="1">
              <a:off x="588266" y="4191000"/>
              <a:ext cx="326134" cy="132081"/>
            </a:xfrm>
            <a:prstGeom prst="line">
              <a:avLst/>
            </a:prstGeom>
            <a:ln w="5715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0" name="Straight Connector 19"/>
            <p:cNvCxnSpPr>
              <a:endCxn id="8" idx="1"/>
            </p:cNvCxnSpPr>
            <p:nvPr/>
          </p:nvCxnSpPr>
          <p:spPr>
            <a:xfrm>
              <a:off x="1524000" y="4191000"/>
              <a:ext cx="380999" cy="132081"/>
            </a:xfrm>
            <a:prstGeom prst="line">
              <a:avLst/>
            </a:prstGeom>
            <a:ln w="5715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4" name="Straight Connector 23"/>
            <p:cNvCxnSpPr>
              <a:endCxn id="8" idx="2"/>
            </p:cNvCxnSpPr>
            <p:nvPr/>
          </p:nvCxnSpPr>
          <p:spPr>
            <a:xfrm flipV="1">
              <a:off x="1447800" y="3427146"/>
              <a:ext cx="205726" cy="230454"/>
            </a:xfrm>
            <a:prstGeom prst="line">
              <a:avLst/>
            </a:prstGeom>
            <a:ln w="5715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grpSp>
      <p:sp>
        <p:nvSpPr>
          <p:cNvPr id="18" name="Rectangle 17"/>
          <p:cNvSpPr/>
          <p:nvPr/>
        </p:nvSpPr>
        <p:spPr>
          <a:xfrm>
            <a:off x="711200" y="3200400"/>
            <a:ext cx="812800" cy="609600"/>
          </a:xfrm>
          <a:prstGeom prst="rect">
            <a:avLst/>
          </a:prstGeom>
          <a:solidFill>
            <a:srgbClr val="0070C0"/>
          </a:solidFill>
          <a:ln w="76200">
            <a:solidFill>
              <a:schemeClr val="tx1"/>
            </a:solidFill>
          </a:ln>
          <a:effectLst>
            <a:outerShdw blurRad="50800" dist="38100" dir="2700000" algn="tl"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R</a:t>
            </a:r>
          </a:p>
        </p:txBody>
      </p:sp>
      <p:sp>
        <p:nvSpPr>
          <p:cNvPr id="19" name="Rectangle 18"/>
          <p:cNvSpPr/>
          <p:nvPr/>
        </p:nvSpPr>
        <p:spPr>
          <a:xfrm>
            <a:off x="1727200" y="3200400"/>
            <a:ext cx="812800" cy="609600"/>
          </a:xfrm>
          <a:prstGeom prst="rect">
            <a:avLst/>
          </a:prstGeom>
          <a:solidFill>
            <a:srgbClr val="0070C0"/>
          </a:solidFill>
          <a:ln w="76200">
            <a:solidFill>
              <a:schemeClr val="tx1"/>
            </a:solidFill>
          </a:ln>
          <a:effectLst>
            <a:outerShdw blurRad="50800" dist="38100" dir="2700000" algn="tl"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G</a:t>
            </a:r>
          </a:p>
        </p:txBody>
      </p:sp>
      <p:sp>
        <p:nvSpPr>
          <p:cNvPr id="21" name="Rectangle 20"/>
          <p:cNvSpPr/>
          <p:nvPr/>
        </p:nvSpPr>
        <p:spPr>
          <a:xfrm>
            <a:off x="711200" y="3962400"/>
            <a:ext cx="812800" cy="609600"/>
          </a:xfrm>
          <a:prstGeom prst="rect">
            <a:avLst/>
          </a:prstGeom>
          <a:solidFill>
            <a:srgbClr val="0070C0"/>
          </a:solidFill>
          <a:ln w="76200">
            <a:solidFill>
              <a:schemeClr val="tx1"/>
            </a:solidFill>
          </a:ln>
          <a:effectLst>
            <a:outerShdw blurRad="50800" dist="38100" dir="2700000" algn="tl"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L</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946400" y="274638"/>
            <a:ext cx="8636000" cy="1143000"/>
          </a:xfrm>
        </p:spPr>
        <p:txBody>
          <a:bodyPr/>
          <a:lstStyle/>
          <a:p>
            <a:r>
              <a:rPr lang="en-US" dirty="0"/>
              <a:t>THE PURPLE MASK</a:t>
            </a:r>
          </a:p>
        </p:txBody>
      </p:sp>
      <p:sp>
        <p:nvSpPr>
          <p:cNvPr id="5" name="Content Placeholder 4"/>
          <p:cNvSpPr>
            <a:spLocks noGrp="1"/>
          </p:cNvSpPr>
          <p:nvPr>
            <p:ph idx="1"/>
          </p:nvPr>
        </p:nvSpPr>
        <p:spPr>
          <a:xfrm>
            <a:off x="2946400" y="1600201"/>
            <a:ext cx="8636000" cy="4525963"/>
          </a:xfrm>
        </p:spPr>
        <p:txBody>
          <a:bodyPr/>
          <a:lstStyle/>
          <a:p>
            <a:r>
              <a:rPr lang="en-US" b="1" dirty="0"/>
              <a:t>ABILITIES</a:t>
            </a:r>
            <a:r>
              <a:rPr lang="en-US" dirty="0"/>
              <a:t>: Creativity and Innovation.</a:t>
            </a:r>
          </a:p>
          <a:p>
            <a:endParaRPr lang="en-US" dirty="0"/>
          </a:p>
          <a:p>
            <a:r>
              <a:rPr lang="en-US" b="1" dirty="0"/>
              <a:t>SKILLS</a:t>
            </a:r>
            <a:r>
              <a:rPr lang="en-US" dirty="0"/>
              <a:t>: Professional knowledge of creative ideas development and innovative practices.</a:t>
            </a:r>
          </a:p>
          <a:p>
            <a:endParaRPr lang="en-US" dirty="0"/>
          </a:p>
          <a:p>
            <a:r>
              <a:rPr lang="en-US" b="1" dirty="0"/>
              <a:t>PERSONALITY</a:t>
            </a:r>
            <a:r>
              <a:rPr lang="en-US" dirty="0"/>
              <a:t>: The Shaman</a:t>
            </a:r>
          </a:p>
          <a:p>
            <a:endParaRPr lang="en-US" dirty="0"/>
          </a:p>
          <a:p>
            <a:r>
              <a:rPr lang="en-US" dirty="0"/>
              <a:t>10+ Experience with the skill set</a:t>
            </a:r>
          </a:p>
          <a:p>
            <a:endParaRPr lang="en-US" dirty="0"/>
          </a:p>
        </p:txBody>
      </p:sp>
      <p:grpSp>
        <p:nvGrpSpPr>
          <p:cNvPr id="2" name="Group 30"/>
          <p:cNvGrpSpPr/>
          <p:nvPr/>
        </p:nvGrpSpPr>
        <p:grpSpPr>
          <a:xfrm>
            <a:off x="850603" y="131133"/>
            <a:ext cx="1755647" cy="2877879"/>
            <a:chOff x="588265" y="2743200"/>
            <a:chExt cx="1316735" cy="2362200"/>
          </a:xfrm>
        </p:grpSpPr>
        <p:grpSp>
          <p:nvGrpSpPr>
            <p:cNvPr id="3" name="Group 13"/>
            <p:cNvGrpSpPr/>
            <p:nvPr/>
          </p:nvGrpSpPr>
          <p:grpSpPr>
            <a:xfrm>
              <a:off x="588265" y="2743200"/>
              <a:ext cx="1316735" cy="2362200"/>
              <a:chOff x="588265" y="2514600"/>
              <a:chExt cx="1316735" cy="2362200"/>
            </a:xfrm>
          </p:grpSpPr>
          <p:grpSp>
            <p:nvGrpSpPr>
              <p:cNvPr id="6" name="Group 5"/>
              <p:cNvGrpSpPr/>
              <p:nvPr/>
            </p:nvGrpSpPr>
            <p:grpSpPr>
              <a:xfrm>
                <a:off x="588265" y="3427141"/>
                <a:ext cx="1316735" cy="1449659"/>
                <a:chOff x="664463" y="3427141"/>
                <a:chExt cx="1316735" cy="1449659"/>
              </a:xfrm>
            </p:grpSpPr>
            <p:sp>
              <p:nvSpPr>
                <p:cNvPr id="8" name="Regular Pentagon 7"/>
                <p:cNvSpPr/>
                <p:nvPr/>
              </p:nvSpPr>
              <p:spPr>
                <a:xfrm rot="10800000">
                  <a:off x="664463" y="3427141"/>
                  <a:ext cx="1316735" cy="1449659"/>
                </a:xfrm>
                <a:prstGeom prst="pentagon">
                  <a:avLst/>
                </a:prstGeom>
                <a:solidFill>
                  <a:srgbClr val="7030A0"/>
                </a:solidFill>
                <a:ln>
                  <a:solidFill>
                    <a:schemeClr val="tx1"/>
                  </a:solidFill>
                </a:ln>
                <a:effectLst>
                  <a:outerShdw blurRad="107950" dist="12700" dir="5400000" algn="ctr">
                    <a:srgbClr val="000000"/>
                  </a:outerShdw>
                </a:effectLst>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lowchart: Terminator 8"/>
                <p:cNvSpPr/>
                <p:nvPr/>
              </p:nvSpPr>
              <p:spPr>
                <a:xfrm>
                  <a:off x="990600" y="4267200"/>
                  <a:ext cx="685800" cy="228600"/>
                </a:xfrm>
                <a:prstGeom prst="flowChartTerminator">
                  <a:avLst/>
                </a:prstGeom>
                <a:solidFill>
                  <a:schemeClr val="bg1"/>
                </a:solidFill>
                <a:ln>
                  <a:solidFill>
                    <a:schemeClr val="tx1"/>
                  </a:solid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entagon 9"/>
                <p:cNvSpPr/>
                <p:nvPr/>
              </p:nvSpPr>
              <p:spPr>
                <a:xfrm>
                  <a:off x="990600" y="3733800"/>
                  <a:ext cx="304800" cy="228600"/>
                </a:xfrm>
                <a:prstGeom prst="homePlate">
                  <a:avLst/>
                </a:prstGeom>
                <a:solidFill>
                  <a:schemeClr val="bg1"/>
                </a:solidFill>
                <a:ln>
                  <a:solidFill>
                    <a:schemeClr val="tx1"/>
                  </a:solid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entagon 10"/>
                <p:cNvSpPr/>
                <p:nvPr/>
              </p:nvSpPr>
              <p:spPr>
                <a:xfrm rot="10800000">
                  <a:off x="1371600" y="3733800"/>
                  <a:ext cx="304800" cy="228600"/>
                </a:xfrm>
                <a:prstGeom prst="homePlate">
                  <a:avLst/>
                </a:prstGeom>
                <a:solidFill>
                  <a:schemeClr val="bg1"/>
                </a:solidFill>
                <a:ln>
                  <a:solidFill>
                    <a:schemeClr val="tx1"/>
                  </a:solid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Pentagon 11"/>
                <p:cNvSpPr/>
                <p:nvPr/>
              </p:nvSpPr>
              <p:spPr>
                <a:xfrm rot="16200000">
                  <a:off x="1181100" y="3924300"/>
                  <a:ext cx="304800" cy="228600"/>
                </a:xfrm>
                <a:prstGeom prst="homePlate">
                  <a:avLst/>
                </a:prstGeom>
                <a:solidFill>
                  <a:schemeClr val="bg1"/>
                </a:solidFill>
                <a:ln>
                  <a:solidFill>
                    <a:schemeClr val="tx1"/>
                  </a:solid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Multiply 12"/>
              <p:cNvSpPr/>
              <p:nvPr/>
            </p:nvSpPr>
            <p:spPr>
              <a:xfrm>
                <a:off x="762000" y="2514600"/>
                <a:ext cx="990600" cy="914400"/>
              </a:xfrm>
              <a:prstGeom prst="mathMultiply">
                <a:avLst/>
              </a:prstGeom>
              <a:solidFill>
                <a:srgbClr val="7030A0"/>
              </a:solidFill>
              <a:ln>
                <a:solidFill>
                  <a:schemeClr val="tx1"/>
                </a:solid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5" name="Straight Connector 14"/>
            <p:cNvCxnSpPr/>
            <p:nvPr/>
          </p:nvCxnSpPr>
          <p:spPr>
            <a:xfrm flipV="1">
              <a:off x="1219200" y="4800600"/>
              <a:ext cx="0" cy="304800"/>
            </a:xfrm>
            <a:prstGeom prst="line">
              <a:avLst/>
            </a:prstGeom>
            <a:ln w="5715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flipV="1">
              <a:off x="1219200" y="3657600"/>
              <a:ext cx="0" cy="304800"/>
            </a:xfrm>
            <a:prstGeom prst="line">
              <a:avLst/>
            </a:prstGeom>
            <a:ln w="5715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7" name="Straight Connector 16"/>
            <p:cNvCxnSpPr>
              <a:stCxn id="8" idx="5"/>
            </p:cNvCxnSpPr>
            <p:nvPr/>
          </p:nvCxnSpPr>
          <p:spPr>
            <a:xfrm flipV="1">
              <a:off x="588266" y="4419600"/>
              <a:ext cx="326134" cy="132081"/>
            </a:xfrm>
            <a:prstGeom prst="line">
              <a:avLst/>
            </a:prstGeom>
            <a:ln w="5715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0" name="Straight Connector 19"/>
            <p:cNvCxnSpPr>
              <a:endCxn id="8" idx="1"/>
            </p:cNvCxnSpPr>
            <p:nvPr/>
          </p:nvCxnSpPr>
          <p:spPr>
            <a:xfrm>
              <a:off x="1524000" y="4419600"/>
              <a:ext cx="380999" cy="132081"/>
            </a:xfrm>
            <a:prstGeom prst="line">
              <a:avLst/>
            </a:prstGeom>
            <a:ln w="5715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4" name="Straight Connector 23"/>
            <p:cNvCxnSpPr>
              <a:endCxn id="8" idx="4"/>
            </p:cNvCxnSpPr>
            <p:nvPr/>
          </p:nvCxnSpPr>
          <p:spPr>
            <a:xfrm flipH="1" flipV="1">
              <a:off x="839739" y="3655746"/>
              <a:ext cx="150861" cy="230454"/>
            </a:xfrm>
            <a:prstGeom prst="line">
              <a:avLst/>
            </a:prstGeom>
            <a:ln w="5715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7" name="Straight Connector 26"/>
            <p:cNvCxnSpPr>
              <a:endCxn id="8" idx="2"/>
            </p:cNvCxnSpPr>
            <p:nvPr/>
          </p:nvCxnSpPr>
          <p:spPr>
            <a:xfrm flipV="1">
              <a:off x="1524000" y="3655746"/>
              <a:ext cx="129526" cy="230454"/>
            </a:xfrm>
            <a:prstGeom prst="line">
              <a:avLst/>
            </a:prstGeom>
            <a:ln w="5715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grpSp>
      <p:sp>
        <p:nvSpPr>
          <p:cNvPr id="19" name="Rectangle 18"/>
          <p:cNvSpPr/>
          <p:nvPr/>
        </p:nvSpPr>
        <p:spPr>
          <a:xfrm>
            <a:off x="1320800" y="3200400"/>
            <a:ext cx="812800" cy="609600"/>
          </a:xfrm>
          <a:prstGeom prst="rect">
            <a:avLst/>
          </a:prstGeom>
          <a:solidFill>
            <a:srgbClr val="7030A0"/>
          </a:solidFill>
          <a:ln w="76200">
            <a:solidFill>
              <a:schemeClr val="tx1"/>
            </a:solidFill>
          </a:ln>
          <a:effectLst>
            <a:outerShdw blurRad="50800" dist="38100" dir="2700000" algn="tl"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1986</TotalTime>
  <Words>4376</Words>
  <Application>Microsoft Office PowerPoint</Application>
  <PresentationFormat>Widescreen</PresentationFormat>
  <Paragraphs>1032</Paragraphs>
  <Slides>54</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54</vt:i4>
      </vt:variant>
    </vt:vector>
  </HeadingPairs>
  <TitlesOfParts>
    <vt:vector size="62" baseType="lpstr">
      <vt:lpstr>Aharoni</vt:lpstr>
      <vt:lpstr>AR BONNIE</vt:lpstr>
      <vt:lpstr>Arial</vt:lpstr>
      <vt:lpstr>Bauhaus 93</vt:lpstr>
      <vt:lpstr>Berlin Sans FB Demi</vt:lpstr>
      <vt:lpstr>Calibri</vt:lpstr>
      <vt:lpstr>Calibri Light</vt:lpstr>
      <vt:lpstr>Office Theme</vt:lpstr>
      <vt:lpstr>PowerPoint Presentation</vt:lpstr>
      <vt:lpstr>PowerPoint Presentation</vt:lpstr>
      <vt:lpstr>PowerPoint Presentation</vt:lpstr>
      <vt:lpstr>BUSINESS NARRATIVE PITCH SHEET</vt:lpstr>
      <vt:lpstr>BUSINESS NARRATIVE &amp; SCORE SHEET…SAMPLE</vt:lpstr>
      <vt:lpstr>BUSINESS NARRATIVE &amp; SCORE SHEET…SAMPLE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RELATIONAL CARDS: SKILL SETS</vt:lpstr>
      <vt:lpstr>PowerPoint Presentation</vt:lpstr>
      <vt:lpstr>PowerPoint Presentation</vt:lpstr>
      <vt:lpstr>PowerPoint Presentation</vt:lpstr>
      <vt:lpstr>PowerPoint Presentation</vt:lpstr>
      <vt:lpstr>PEOPLE CARDS: SKILL SETS</vt:lpstr>
      <vt:lpstr>PowerPoint Presentation</vt:lpstr>
      <vt:lpstr>PowerPoint Presentation</vt:lpstr>
      <vt:lpstr>PowerPoint Presentation</vt:lpstr>
      <vt:lpstr>PowerPoint Presentation</vt:lpstr>
      <vt:lpstr>PowerPoint Presentation</vt:lpstr>
      <vt:lpstr>GIVE CARDS: SKILL SETS</vt:lpstr>
      <vt:lpstr>PowerPoint Presentation</vt:lpstr>
      <vt:lpstr>PowerPoint Presentation</vt:lpstr>
      <vt:lpstr>PowerPoint Presentation</vt:lpstr>
      <vt:lpstr>GET CARDS: SKILL SETS</vt:lpstr>
      <vt:lpstr>THE INNOVATION CARD</vt:lpstr>
      <vt:lpstr>PowerPoint Presentation</vt:lpstr>
      <vt:lpstr>PowerPoint Presentation</vt:lpstr>
      <vt:lpstr>INNOVATION CARDS: SKILL SETS</vt:lpstr>
      <vt:lpstr>JUNGLENOMICS SKILLMi MASKS</vt:lpstr>
      <vt:lpstr>PowerPoint Presentation</vt:lpstr>
      <vt:lpstr>THE WHITE MASK</vt:lpstr>
      <vt:lpstr>THE GOLDEN MASK </vt:lpstr>
      <vt:lpstr>THE GRAY MASK</vt:lpstr>
      <vt:lpstr>THE GREEN MASK</vt:lpstr>
      <vt:lpstr>THE BLUE MASK</vt:lpstr>
      <vt:lpstr>THE PURPLE MASK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Oluseye Amusa</dc:creator>
  <cp:lastModifiedBy>Shey Amusa</cp:lastModifiedBy>
  <cp:revision>34</cp:revision>
  <dcterms:created xsi:type="dcterms:W3CDTF">2021-05-25T03:30:00Z</dcterms:created>
  <dcterms:modified xsi:type="dcterms:W3CDTF">2026-05-05T00:47:38Z</dcterms:modified>
</cp:coreProperties>
</file>